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869680" y="-1554480"/>
            <a:ext cx="4937760" cy="4937760"/>
          </a:xfrm>
          <a:prstGeom prst="ellipse">
            <a:avLst/>
          </a:prstGeom>
          <a:solidFill>
            <a:srgbClr val="2B3A78"/>
          </a:solidFill>
          <a:ln/>
        </p:spPr>
      </p:sp>
      <p:sp>
        <p:nvSpPr>
          <p:cNvPr id="3" name="Shape 1"/>
          <p:cNvSpPr/>
          <p:nvPr/>
        </p:nvSpPr>
        <p:spPr>
          <a:xfrm>
            <a:off x="10515600" y="3566160"/>
            <a:ext cx="3291840" cy="3291840"/>
          </a:xfrm>
          <a:prstGeom prst="ellipse">
            <a:avLst/>
          </a:prstGeom>
          <a:solidFill>
            <a:srgbClr val="27346E"/>
          </a:solidFill>
          <a:ln/>
        </p:spPr>
      </p:sp>
      <p:sp>
        <p:nvSpPr>
          <p:cNvPr id="4" name="Shape 2"/>
          <p:cNvSpPr/>
          <p:nvPr/>
        </p:nvSpPr>
        <p:spPr>
          <a:xfrm>
            <a:off x="9921240" y="1965960"/>
            <a:ext cx="914400" cy="914400"/>
          </a:xfrm>
          <a:prstGeom prst="ellipse">
            <a:avLst/>
          </a:prstGeom>
          <a:solidFill>
            <a:srgbClr val="F96167"/>
          </a:solidFill>
          <a:ln/>
        </p:spPr>
      </p:sp>
      <p:sp>
        <p:nvSpPr>
          <p:cNvPr id="5" name="Text 3"/>
          <p:cNvSpPr txBox="1"/>
          <p:nvPr/>
        </p:nvSpPr>
        <p:spPr>
          <a:xfrm>
            <a:off x="548640" y="1417320"/>
            <a:ext cx="5943600" cy="384048"/>
          </a:xfrm>
          <a:prstGeom prst="rect">
            <a:avLst/>
          </a:prstGeom>
          <a:noFill/>
          <a:ln/>
        </p:spPr>
        <p:txBody>
          <a:bodyPr wrap="square" lIns="0" tIns="0" rIns="0" bIns="0" rtlCol="0" anchor="ctr"/>
          <a:lstStyle/>
          <a:p>
            <a:pPr indent="0" marL="0">
              <a:buNone/>
            </a:pPr>
            <a:r>
              <a:rPr lang="en-US" sz="1600" b="1" spc="400" kern="0" dirty="0">
                <a:solidFill>
                  <a:srgbClr val="CADCFC"/>
                </a:solidFill>
                <a:latin typeface="Yu Gothic" pitchFamily="34" charset="0"/>
                <a:ea typeface="Yu Gothic" pitchFamily="34" charset="-122"/>
                <a:cs typeface="Yu Gothic" pitchFamily="34" charset="-120"/>
              </a:rPr>
              <a:t>ご協賛のご提案</a:t>
            </a:r>
            <a:endParaRPr lang="en-US" sz="1600" dirty="0"/>
          </a:p>
        </p:txBody>
      </p:sp>
      <p:sp>
        <p:nvSpPr>
          <p:cNvPr id="6" name="Text 4"/>
          <p:cNvSpPr txBox="1"/>
          <p:nvPr/>
        </p:nvSpPr>
        <p:spPr>
          <a:xfrm>
            <a:off x="548640" y="1828800"/>
            <a:ext cx="8778240" cy="2011680"/>
          </a:xfrm>
          <a:prstGeom prst="rect">
            <a:avLst/>
          </a:prstGeom>
          <a:noFill/>
          <a:ln/>
        </p:spPr>
        <p:txBody>
          <a:bodyPr wrap="square" lIns="0" tIns="0" rIns="0" bIns="0" rtlCol="0" anchor="ctr"/>
          <a:lstStyle/>
          <a:p>
            <a:pPr indent="0" marL="0">
              <a:lnSpc>
                <a:spcPts val="6200"/>
              </a:lnSpc>
              <a:buNone/>
            </a:pPr>
            <a:r>
              <a:rPr lang="en-US" sz="4700" b="1" dirty="0">
                <a:solidFill>
                  <a:srgbClr val="FFFFFF"/>
                </a:solidFill>
                <a:latin typeface="Yu Gothic" pitchFamily="34" charset="0"/>
                <a:ea typeface="Yu Gothic" pitchFamily="34" charset="-122"/>
                <a:cs typeface="Yu Gothic" pitchFamily="34" charset="-120"/>
              </a:rPr>
              <a:t>The Peace Front</a:t>
            </a:r>
            <a:endParaRPr lang="en-US" sz="4700" dirty="0"/>
          </a:p>
          <a:p>
            <a:pPr indent="0" marL="0">
              <a:lnSpc>
                <a:spcPts val="6200"/>
              </a:lnSpc>
              <a:buNone/>
            </a:pPr>
            <a:r>
              <a:rPr lang="en-US" sz="4700" b="1" dirty="0">
                <a:solidFill>
                  <a:srgbClr val="FFFFFF"/>
                </a:solidFill>
                <a:latin typeface="Yu Gothic" pitchFamily="34" charset="0"/>
                <a:ea typeface="Yu Gothic" pitchFamily="34" charset="-122"/>
                <a:cs typeface="Yu Gothic" pitchFamily="34" charset="-120"/>
              </a:rPr>
              <a:t>学生団体活動報告会</a:t>
            </a:r>
            <a:endParaRPr lang="en-US" sz="4700" dirty="0"/>
          </a:p>
        </p:txBody>
      </p:sp>
      <p:sp>
        <p:nvSpPr>
          <p:cNvPr id="7" name="Text 5"/>
          <p:cNvSpPr txBox="1"/>
          <p:nvPr/>
        </p:nvSpPr>
        <p:spPr>
          <a:xfrm>
            <a:off x="548640" y="4069080"/>
            <a:ext cx="10058400" cy="365760"/>
          </a:xfrm>
          <a:prstGeom prst="rect">
            <a:avLst/>
          </a:prstGeom>
          <a:noFill/>
          <a:ln/>
        </p:spPr>
        <p:txBody>
          <a:bodyPr wrap="square" lIns="0" tIns="0" rIns="0" bIns="0" rtlCol="0" anchor="ctr"/>
          <a:lstStyle/>
          <a:p>
            <a:pPr indent="0" marL="0">
              <a:buNone/>
            </a:pPr>
            <a:r>
              <a:rPr lang="en-US" sz="1450" dirty="0">
                <a:solidFill>
                  <a:srgbClr val="CADCFC"/>
                </a:solidFill>
                <a:latin typeface="Yu Gothic" pitchFamily="34" charset="0"/>
                <a:ea typeface="Yu Gothic" pitchFamily="34" charset="-122"/>
                <a:cs typeface="Yu Gothic" pitchFamily="34" charset="-120"/>
              </a:rPr>
              <a:t>2026年10月4日（日）13:00〜19:30　Uvance Innovation Stadio（川崎駅 徒歩5分）</a:t>
            </a:r>
            <a:endParaRPr lang="en-US" sz="1450" dirty="0"/>
          </a:p>
        </p:txBody>
      </p:sp>
      <p:sp>
        <p:nvSpPr>
          <p:cNvPr id="8" name="Shape 6"/>
          <p:cNvSpPr/>
          <p:nvPr/>
        </p:nvSpPr>
        <p:spPr>
          <a:xfrm>
            <a:off x="548640" y="4892040"/>
            <a:ext cx="4023360" cy="0"/>
          </a:xfrm>
          <a:prstGeom prst="line">
            <a:avLst/>
          </a:prstGeom>
          <a:noFill/>
          <a:ln w="12700">
            <a:solidFill>
              <a:srgbClr val="3C4A8F"/>
            </a:solidFill>
            <a:prstDash val="solid"/>
          </a:ln>
        </p:spPr>
      </p:sp>
      <p:sp>
        <p:nvSpPr>
          <p:cNvPr id="9" name="Text 7"/>
          <p:cNvSpPr txBox="1"/>
          <p:nvPr/>
        </p:nvSpPr>
        <p:spPr>
          <a:xfrm>
            <a:off x="548640" y="5120640"/>
            <a:ext cx="6400800" cy="457200"/>
          </a:xfrm>
          <a:prstGeom prst="rect">
            <a:avLst/>
          </a:prstGeom>
          <a:noFill/>
          <a:ln/>
        </p:spPr>
        <p:txBody>
          <a:bodyPr wrap="square" lIns="0" tIns="0" rIns="0" bIns="0" rtlCol="0" anchor="ctr"/>
          <a:lstStyle/>
          <a:p>
            <a:pPr indent="0" marL="0">
              <a:buNone/>
            </a:pPr>
            <a:r>
              <a:rPr lang="en-US" sz="1900" b="1" dirty="0">
                <a:solidFill>
                  <a:srgbClr val="FFFFFF"/>
                </a:solidFill>
                <a:latin typeface="Yu Gothic" pitchFamily="34" charset="0"/>
                <a:ea typeface="Yu Gothic" pitchFamily="34" charset="-122"/>
                <a:cs typeface="Yu Gothic" pitchFamily="34" charset="-120"/>
              </a:rPr>
              <a:t>認定NPO法人Learning for All 御中</a:t>
            </a:r>
            <a:endParaRPr lang="en-US" sz="1900" dirty="0"/>
          </a:p>
        </p:txBody>
      </p:sp>
      <p:sp>
        <p:nvSpPr>
          <p:cNvPr id="10" name="Text 8"/>
          <p:cNvSpPr txBox="1"/>
          <p:nvPr/>
        </p:nvSpPr>
        <p:spPr>
          <a:xfrm>
            <a:off x="548640" y="5989320"/>
            <a:ext cx="6400800" cy="320040"/>
          </a:xfrm>
          <a:prstGeom prst="rect">
            <a:avLst/>
          </a:prstGeom>
          <a:noFill/>
          <a:ln/>
        </p:spPr>
        <p:txBody>
          <a:bodyPr wrap="square" lIns="0" tIns="0" rIns="0" bIns="0" rtlCol="0" anchor="ctr"/>
          <a:lstStyle/>
          <a:p>
            <a:pPr indent="0" marL="0">
              <a:buNone/>
            </a:pPr>
            <a:r>
              <a:rPr lang="en-US" sz="1200" dirty="0">
                <a:solidFill>
                  <a:srgbClr val="8FA3D9"/>
                </a:solidFill>
                <a:latin typeface="Yu Gothic" pitchFamily="34" charset="0"/>
                <a:ea typeface="Yu Gothic" pitchFamily="34" charset="-122"/>
                <a:cs typeface="Yu Gothic" pitchFamily="34" charset="-120"/>
              </a:rPr>
              <a:t>NPO法人 The Peace Front　｜　2026年9月</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566928"/>
          </a:xfrm>
          <a:prstGeom prst="rect">
            <a:avLst/>
          </a:prstGeom>
          <a:noFill/>
          <a:ln/>
        </p:spPr>
        <p:txBody>
          <a:bodyPr wrap="square" lIns="0" tIns="0" rIns="0" bIns="0" rtlCol="0" anchor="ctr"/>
          <a:lstStyle/>
          <a:p>
            <a:pPr indent="0" marL="0">
              <a:buNone/>
            </a:pPr>
            <a:r>
              <a:rPr lang="en-US" sz="2700" b="1" dirty="0">
                <a:solidFill>
                  <a:srgbClr val="1E2761"/>
                </a:solidFill>
                <a:latin typeface="Yu Gothic" pitchFamily="34" charset="0"/>
                <a:ea typeface="Yu Gothic" pitchFamily="34" charset="-122"/>
                <a:cs typeface="Yu Gothic" pitchFamily="34" charset="-120"/>
              </a:rPr>
              <a:t>1. イベント概要</a:t>
            </a:r>
            <a:endParaRPr lang="en-US" sz="2700" dirty="0"/>
          </a:p>
        </p:txBody>
      </p:sp>
      <p:sp>
        <p:nvSpPr>
          <p:cNvPr id="3" name="Shape 1"/>
          <p:cNvSpPr/>
          <p:nvPr/>
        </p:nvSpPr>
        <p:spPr>
          <a:xfrm>
            <a:off x="548640" y="1417320"/>
            <a:ext cx="1508760" cy="457200"/>
          </a:xfrm>
          <a:prstGeom prst="roundRect">
            <a:avLst>
              <a:gd name="adj" fmla="val 12000"/>
            </a:avLst>
          </a:prstGeom>
          <a:solidFill>
            <a:srgbClr val="EEF3FC"/>
          </a:solidFill>
          <a:ln/>
        </p:spPr>
      </p:sp>
      <p:sp>
        <p:nvSpPr>
          <p:cNvPr id="4" name="Text 2"/>
          <p:cNvSpPr txBox="1"/>
          <p:nvPr/>
        </p:nvSpPr>
        <p:spPr>
          <a:xfrm>
            <a:off x="548640" y="1417320"/>
            <a:ext cx="1508760" cy="457200"/>
          </a:xfrm>
          <a:prstGeom prst="rect">
            <a:avLst/>
          </a:prstGeom>
          <a:noFill/>
          <a:ln/>
        </p:spPr>
        <p:txBody>
          <a:bodyPr wrap="square" lIns="0" tIns="0" rIns="0" bIns="0" rtlCol="0" anchor="ctr"/>
          <a:lstStyle/>
          <a:p>
            <a:pPr algn="ctr" indent="0" marL="0">
              <a:buNone/>
            </a:pPr>
            <a:r>
              <a:rPr lang="en-US" sz="1250" b="1" dirty="0">
                <a:solidFill>
                  <a:srgbClr val="1E2761"/>
                </a:solidFill>
                <a:latin typeface="Yu Gothic" pitchFamily="34" charset="0"/>
                <a:ea typeface="Yu Gothic" pitchFamily="34" charset="-122"/>
                <a:cs typeface="Yu Gothic" pitchFamily="34" charset="-120"/>
              </a:rPr>
              <a:t>日時</a:t>
            </a:r>
            <a:endParaRPr lang="en-US" sz="1250" dirty="0"/>
          </a:p>
        </p:txBody>
      </p:sp>
      <p:sp>
        <p:nvSpPr>
          <p:cNvPr id="5" name="Text 3"/>
          <p:cNvSpPr txBox="1"/>
          <p:nvPr/>
        </p:nvSpPr>
        <p:spPr>
          <a:xfrm>
            <a:off x="2331720" y="1362456"/>
            <a:ext cx="6172200" cy="713232"/>
          </a:xfrm>
          <a:prstGeom prst="rect">
            <a:avLst/>
          </a:prstGeom>
          <a:noFill/>
          <a:ln/>
        </p:spPr>
        <p:txBody>
          <a:bodyPr wrap="square" lIns="0" tIns="0" rIns="0" bIns="0" rtlCol="0" anchor="t"/>
          <a:lstStyle/>
          <a:p>
            <a:pPr indent="0" marL="0">
              <a:lnSpc>
                <a:spcPts val="2000"/>
              </a:lnSpc>
              <a:buNone/>
            </a:pPr>
            <a:r>
              <a:rPr lang="en-US" sz="1350" dirty="0">
                <a:solidFill>
                  <a:srgbClr val="1A1C22"/>
                </a:solidFill>
                <a:latin typeface="Yu Gothic" pitchFamily="34" charset="0"/>
                <a:ea typeface="Yu Gothic" pitchFamily="34" charset="-122"/>
                <a:cs typeface="Yu Gothic" pitchFamily="34" charset="-120"/>
              </a:rPr>
              <a:t>2026年10月4日（日）13:00〜19:30</a:t>
            </a:r>
            <a:endParaRPr lang="en-US" sz="1350" dirty="0"/>
          </a:p>
        </p:txBody>
      </p:sp>
      <p:sp>
        <p:nvSpPr>
          <p:cNvPr id="6" name="Shape 4"/>
          <p:cNvSpPr/>
          <p:nvPr/>
        </p:nvSpPr>
        <p:spPr>
          <a:xfrm>
            <a:off x="548640" y="2258568"/>
            <a:ext cx="1508760" cy="457200"/>
          </a:xfrm>
          <a:prstGeom prst="roundRect">
            <a:avLst>
              <a:gd name="adj" fmla="val 12000"/>
            </a:avLst>
          </a:prstGeom>
          <a:solidFill>
            <a:srgbClr val="EEF3FC"/>
          </a:solidFill>
          <a:ln/>
        </p:spPr>
      </p:sp>
      <p:sp>
        <p:nvSpPr>
          <p:cNvPr id="7" name="Text 5"/>
          <p:cNvSpPr txBox="1"/>
          <p:nvPr/>
        </p:nvSpPr>
        <p:spPr>
          <a:xfrm>
            <a:off x="548640" y="2258568"/>
            <a:ext cx="1508760" cy="457200"/>
          </a:xfrm>
          <a:prstGeom prst="rect">
            <a:avLst/>
          </a:prstGeom>
          <a:noFill/>
          <a:ln/>
        </p:spPr>
        <p:txBody>
          <a:bodyPr wrap="square" lIns="0" tIns="0" rIns="0" bIns="0" rtlCol="0" anchor="ctr"/>
          <a:lstStyle/>
          <a:p>
            <a:pPr algn="ctr" indent="0" marL="0">
              <a:buNone/>
            </a:pPr>
            <a:r>
              <a:rPr lang="en-US" sz="1250" b="1" dirty="0">
                <a:solidFill>
                  <a:srgbClr val="1E2761"/>
                </a:solidFill>
                <a:latin typeface="Yu Gothic" pitchFamily="34" charset="0"/>
                <a:ea typeface="Yu Gothic" pitchFamily="34" charset="-122"/>
                <a:cs typeface="Yu Gothic" pitchFamily="34" charset="-120"/>
              </a:rPr>
              <a:t>会場</a:t>
            </a:r>
            <a:endParaRPr lang="en-US" sz="1250" dirty="0"/>
          </a:p>
        </p:txBody>
      </p:sp>
      <p:sp>
        <p:nvSpPr>
          <p:cNvPr id="8" name="Text 6"/>
          <p:cNvSpPr txBox="1"/>
          <p:nvPr/>
        </p:nvSpPr>
        <p:spPr>
          <a:xfrm>
            <a:off x="2331720" y="2203704"/>
            <a:ext cx="6172200" cy="713232"/>
          </a:xfrm>
          <a:prstGeom prst="rect">
            <a:avLst/>
          </a:prstGeom>
          <a:noFill/>
          <a:ln/>
        </p:spPr>
        <p:txBody>
          <a:bodyPr wrap="square" lIns="0" tIns="0" rIns="0" bIns="0" rtlCol="0" anchor="t"/>
          <a:lstStyle/>
          <a:p>
            <a:pPr indent="0" marL="0">
              <a:lnSpc>
                <a:spcPts val="2000"/>
              </a:lnSpc>
              <a:buNone/>
            </a:pPr>
            <a:r>
              <a:rPr lang="en-US" sz="1350" dirty="0">
                <a:solidFill>
                  <a:srgbClr val="1A1C22"/>
                </a:solidFill>
                <a:latin typeface="Yu Gothic" pitchFamily="34" charset="0"/>
                <a:ea typeface="Yu Gothic" pitchFamily="34" charset="-122"/>
                <a:cs typeface="Yu Gothic" pitchFamily="34" charset="-120"/>
              </a:rPr>
              <a:t>Uvance Innovation Stadio（JR川崎タワー26階・川崎駅 徒歩5分）</a:t>
            </a:r>
            <a:endParaRPr lang="en-US" sz="1350" dirty="0"/>
          </a:p>
        </p:txBody>
      </p:sp>
      <p:sp>
        <p:nvSpPr>
          <p:cNvPr id="9" name="Shape 7"/>
          <p:cNvSpPr/>
          <p:nvPr/>
        </p:nvSpPr>
        <p:spPr>
          <a:xfrm>
            <a:off x="548640" y="3099816"/>
            <a:ext cx="1508760" cy="457200"/>
          </a:xfrm>
          <a:prstGeom prst="roundRect">
            <a:avLst>
              <a:gd name="adj" fmla="val 12000"/>
            </a:avLst>
          </a:prstGeom>
          <a:solidFill>
            <a:srgbClr val="EEF3FC"/>
          </a:solidFill>
          <a:ln/>
        </p:spPr>
      </p:sp>
      <p:sp>
        <p:nvSpPr>
          <p:cNvPr id="10" name="Text 8"/>
          <p:cNvSpPr txBox="1"/>
          <p:nvPr/>
        </p:nvSpPr>
        <p:spPr>
          <a:xfrm>
            <a:off x="548640" y="3099816"/>
            <a:ext cx="1508760" cy="457200"/>
          </a:xfrm>
          <a:prstGeom prst="rect">
            <a:avLst/>
          </a:prstGeom>
          <a:noFill/>
          <a:ln/>
        </p:spPr>
        <p:txBody>
          <a:bodyPr wrap="square" lIns="0" tIns="0" rIns="0" bIns="0" rtlCol="0" anchor="ctr"/>
          <a:lstStyle/>
          <a:p>
            <a:pPr algn="ctr" indent="0" marL="0">
              <a:buNone/>
            </a:pPr>
            <a:r>
              <a:rPr lang="en-US" sz="1250" b="1" dirty="0">
                <a:solidFill>
                  <a:srgbClr val="1E2761"/>
                </a:solidFill>
                <a:latin typeface="Yu Gothic" pitchFamily="34" charset="0"/>
                <a:ea typeface="Yu Gothic" pitchFamily="34" charset="-122"/>
                <a:cs typeface="Yu Gothic" pitchFamily="34" charset="-120"/>
              </a:rPr>
              <a:t>参加者</a:t>
            </a:r>
            <a:endParaRPr lang="en-US" sz="1250" dirty="0"/>
          </a:p>
        </p:txBody>
      </p:sp>
      <p:sp>
        <p:nvSpPr>
          <p:cNvPr id="11" name="Text 9"/>
          <p:cNvSpPr txBox="1"/>
          <p:nvPr/>
        </p:nvSpPr>
        <p:spPr>
          <a:xfrm>
            <a:off x="2331720" y="3044952"/>
            <a:ext cx="6172200" cy="932688"/>
          </a:xfrm>
          <a:prstGeom prst="rect">
            <a:avLst/>
          </a:prstGeom>
          <a:noFill/>
          <a:ln/>
        </p:spPr>
        <p:txBody>
          <a:bodyPr wrap="square" lIns="0" tIns="0" rIns="0" bIns="0" rtlCol="0" anchor="t"/>
          <a:lstStyle/>
          <a:p>
            <a:pPr indent="0" marL="0">
              <a:lnSpc>
                <a:spcPts val="2000"/>
              </a:lnSpc>
              <a:buNone/>
            </a:pPr>
            <a:r>
              <a:rPr lang="en-US" sz="1350" dirty="0">
                <a:solidFill>
                  <a:srgbClr val="1A1C22"/>
                </a:solidFill>
                <a:latin typeface="Yu Gothic" pitchFamily="34" charset="0"/>
                <a:ea typeface="Yu Gothic" pitchFamily="34" charset="-122"/>
                <a:cs typeface="Yu Gothic" pitchFamily="34" charset="-120"/>
              </a:rPr>
              <a:t>社会課題解決に取り組む学生団体 10団体前後（学生60名程度）</a:t>
            </a:r>
            <a:endParaRPr lang="en-US" sz="1350" dirty="0"/>
          </a:p>
          <a:p>
            <a:pPr indent="0" marL="0">
              <a:lnSpc>
                <a:spcPts val="2000"/>
              </a:lnSpc>
              <a:buNone/>
            </a:pPr>
            <a:r>
              <a:rPr lang="en-US" sz="1350" dirty="0">
                <a:solidFill>
                  <a:srgbClr val="1A1C22"/>
                </a:solidFill>
                <a:latin typeface="Yu Gothic" pitchFamily="34" charset="0"/>
                <a:ea typeface="Yu Gothic" pitchFamily="34" charset="-122"/>
                <a:cs typeface="Yu Gothic" pitchFamily="34" charset="-120"/>
              </a:rPr>
              <a:t>協力企業 数社</a:t>
            </a:r>
            <a:endParaRPr lang="en-US" sz="1350" dirty="0"/>
          </a:p>
        </p:txBody>
      </p:sp>
      <p:sp>
        <p:nvSpPr>
          <p:cNvPr id="12" name="Shape 10"/>
          <p:cNvSpPr/>
          <p:nvPr/>
        </p:nvSpPr>
        <p:spPr>
          <a:xfrm>
            <a:off x="548640" y="4160520"/>
            <a:ext cx="1508760" cy="457200"/>
          </a:xfrm>
          <a:prstGeom prst="roundRect">
            <a:avLst>
              <a:gd name="adj" fmla="val 12000"/>
            </a:avLst>
          </a:prstGeom>
          <a:solidFill>
            <a:srgbClr val="EEF3FC"/>
          </a:solidFill>
          <a:ln/>
        </p:spPr>
      </p:sp>
      <p:sp>
        <p:nvSpPr>
          <p:cNvPr id="13" name="Text 11"/>
          <p:cNvSpPr txBox="1"/>
          <p:nvPr/>
        </p:nvSpPr>
        <p:spPr>
          <a:xfrm>
            <a:off x="548640" y="4160520"/>
            <a:ext cx="1508760" cy="457200"/>
          </a:xfrm>
          <a:prstGeom prst="rect">
            <a:avLst/>
          </a:prstGeom>
          <a:noFill/>
          <a:ln/>
        </p:spPr>
        <p:txBody>
          <a:bodyPr wrap="square" lIns="0" tIns="0" rIns="0" bIns="0" rtlCol="0" anchor="ctr"/>
          <a:lstStyle/>
          <a:p>
            <a:pPr algn="ctr" indent="0" marL="0">
              <a:buNone/>
            </a:pPr>
            <a:r>
              <a:rPr lang="en-US" sz="1250" b="1" dirty="0">
                <a:solidFill>
                  <a:srgbClr val="1E2761"/>
                </a:solidFill>
                <a:latin typeface="Yu Gothic" pitchFamily="34" charset="0"/>
                <a:ea typeface="Yu Gothic" pitchFamily="34" charset="-122"/>
                <a:cs typeface="Yu Gothic" pitchFamily="34" charset="-120"/>
              </a:rPr>
              <a:t>登壇ゲスト</a:t>
            </a:r>
            <a:endParaRPr lang="en-US" sz="1250" dirty="0"/>
          </a:p>
        </p:txBody>
      </p:sp>
      <p:sp>
        <p:nvSpPr>
          <p:cNvPr id="14" name="Text 12"/>
          <p:cNvSpPr txBox="1"/>
          <p:nvPr/>
        </p:nvSpPr>
        <p:spPr>
          <a:xfrm>
            <a:off x="2331720" y="4105656"/>
            <a:ext cx="6172200" cy="932688"/>
          </a:xfrm>
          <a:prstGeom prst="rect">
            <a:avLst/>
          </a:prstGeom>
          <a:noFill/>
          <a:ln/>
        </p:spPr>
        <p:txBody>
          <a:bodyPr wrap="square" lIns="0" tIns="0" rIns="0" bIns="0" rtlCol="0" anchor="t"/>
          <a:lstStyle/>
          <a:p>
            <a:pPr indent="0" marL="0">
              <a:lnSpc>
                <a:spcPts val="2000"/>
              </a:lnSpc>
              <a:buNone/>
            </a:pPr>
            <a:r>
              <a:rPr lang="en-US" sz="1350" dirty="0">
                <a:solidFill>
                  <a:srgbClr val="1A1C22"/>
                </a:solidFill>
                <a:latin typeface="Yu Gothic" pitchFamily="34" charset="0"/>
                <a:ea typeface="Yu Gothic" pitchFamily="34" charset="-122"/>
                <a:cs typeface="Yu Gothic" pitchFamily="34" charset="-120"/>
              </a:rPr>
              <a:t>株式会社ボーダレス・ジャパン 副代表様／JICA 人事ご担当者様</a:t>
            </a:r>
            <a:endParaRPr lang="en-US" sz="1350" dirty="0"/>
          </a:p>
          <a:p>
            <a:pPr indent="0" marL="0">
              <a:lnSpc>
                <a:spcPts val="2000"/>
              </a:lnSpc>
              <a:buNone/>
            </a:pPr>
            <a:r>
              <a:rPr lang="en-US" sz="1350" dirty="0">
                <a:solidFill>
                  <a:srgbClr val="1A1C22"/>
                </a:solidFill>
                <a:latin typeface="Yu Gothic" pitchFamily="34" charset="0"/>
                <a:ea typeface="Yu Gothic" pitchFamily="34" charset="-122"/>
                <a:cs typeface="Yu Gothic" pitchFamily="34" charset="-120"/>
              </a:rPr>
              <a:t>認定NPO法人テラ・ルネッサンス 理事様</a:t>
            </a:r>
            <a:endParaRPr lang="en-US" sz="1350" dirty="0"/>
          </a:p>
        </p:txBody>
      </p:sp>
      <p:sp>
        <p:nvSpPr>
          <p:cNvPr id="15" name="Shape 13"/>
          <p:cNvSpPr/>
          <p:nvPr/>
        </p:nvSpPr>
        <p:spPr>
          <a:xfrm>
            <a:off x="548640" y="5221224"/>
            <a:ext cx="1508760" cy="457200"/>
          </a:xfrm>
          <a:prstGeom prst="roundRect">
            <a:avLst>
              <a:gd name="adj" fmla="val 12000"/>
            </a:avLst>
          </a:prstGeom>
          <a:solidFill>
            <a:srgbClr val="EEF3FC"/>
          </a:solidFill>
          <a:ln/>
        </p:spPr>
      </p:sp>
      <p:sp>
        <p:nvSpPr>
          <p:cNvPr id="16" name="Text 14"/>
          <p:cNvSpPr txBox="1"/>
          <p:nvPr/>
        </p:nvSpPr>
        <p:spPr>
          <a:xfrm>
            <a:off x="548640" y="5221224"/>
            <a:ext cx="1508760" cy="457200"/>
          </a:xfrm>
          <a:prstGeom prst="rect">
            <a:avLst/>
          </a:prstGeom>
          <a:noFill/>
          <a:ln/>
        </p:spPr>
        <p:txBody>
          <a:bodyPr wrap="square" lIns="0" tIns="0" rIns="0" bIns="0" rtlCol="0" anchor="ctr"/>
          <a:lstStyle/>
          <a:p>
            <a:pPr algn="ctr" indent="0" marL="0">
              <a:buNone/>
            </a:pPr>
            <a:r>
              <a:rPr lang="en-US" sz="1250" b="1" dirty="0">
                <a:solidFill>
                  <a:srgbClr val="1E2761"/>
                </a:solidFill>
                <a:latin typeface="Yu Gothic" pitchFamily="34" charset="0"/>
                <a:ea typeface="Yu Gothic" pitchFamily="34" charset="-122"/>
                <a:cs typeface="Yu Gothic" pitchFamily="34" charset="-120"/>
              </a:rPr>
              <a:t>主催</a:t>
            </a:r>
            <a:endParaRPr lang="en-US" sz="1250" dirty="0"/>
          </a:p>
        </p:txBody>
      </p:sp>
      <p:sp>
        <p:nvSpPr>
          <p:cNvPr id="17" name="Text 15"/>
          <p:cNvSpPr txBox="1"/>
          <p:nvPr/>
        </p:nvSpPr>
        <p:spPr>
          <a:xfrm>
            <a:off x="2331720" y="5166360"/>
            <a:ext cx="6172200" cy="713232"/>
          </a:xfrm>
          <a:prstGeom prst="rect">
            <a:avLst/>
          </a:prstGeom>
          <a:noFill/>
          <a:ln/>
        </p:spPr>
        <p:txBody>
          <a:bodyPr wrap="square" lIns="0" tIns="0" rIns="0" bIns="0" rtlCol="0" anchor="t"/>
          <a:lstStyle/>
          <a:p>
            <a:pPr indent="0" marL="0">
              <a:lnSpc>
                <a:spcPts val="2000"/>
              </a:lnSpc>
              <a:buNone/>
            </a:pPr>
            <a:r>
              <a:rPr lang="en-US" sz="1350" dirty="0">
                <a:solidFill>
                  <a:srgbClr val="1A1C22"/>
                </a:solidFill>
                <a:latin typeface="Yu Gothic" pitchFamily="34" charset="0"/>
                <a:ea typeface="Yu Gothic" pitchFamily="34" charset="-122"/>
                <a:cs typeface="Yu Gothic" pitchFamily="34" charset="-120"/>
              </a:rPr>
              <a:t>NPO法人 The Peace Front</a:t>
            </a:r>
            <a:endParaRPr lang="en-US" sz="1350" dirty="0"/>
          </a:p>
        </p:txBody>
      </p:sp>
      <p:sp>
        <p:nvSpPr>
          <p:cNvPr id="18" name="Shape 16"/>
          <p:cNvSpPr/>
          <p:nvPr/>
        </p:nvSpPr>
        <p:spPr>
          <a:xfrm>
            <a:off x="8549640" y="1417320"/>
            <a:ext cx="3090672" cy="1389888"/>
          </a:xfrm>
          <a:prstGeom prst="roundRect">
            <a:avLst>
              <a:gd name="adj" fmla="val 5921"/>
            </a:avLst>
          </a:prstGeom>
          <a:solidFill>
            <a:srgbClr val="1E2761"/>
          </a:solidFill>
          <a:ln/>
        </p:spPr>
      </p:sp>
      <p:sp>
        <p:nvSpPr>
          <p:cNvPr id="19" name="Text 17"/>
          <p:cNvSpPr txBox="1"/>
          <p:nvPr/>
        </p:nvSpPr>
        <p:spPr>
          <a:xfrm>
            <a:off x="8549640" y="1563624"/>
            <a:ext cx="3090672" cy="685800"/>
          </a:xfrm>
          <a:prstGeom prst="rect">
            <a:avLst/>
          </a:prstGeom>
          <a:noFill/>
          <a:ln/>
        </p:spPr>
        <p:txBody>
          <a:bodyPr wrap="square" lIns="0" tIns="0" rIns="0" bIns="0" rtlCol="0" anchor="ctr"/>
          <a:lstStyle/>
          <a:p>
            <a:pPr algn="ctr" indent="0" marL="0">
              <a:buNone/>
            </a:pPr>
            <a:r>
              <a:rPr lang="en-US" sz="3000" b="1" dirty="0">
                <a:solidFill>
                  <a:srgbClr val="FFFFFF"/>
                </a:solidFill>
                <a:latin typeface="Yu Gothic" pitchFamily="34" charset="0"/>
                <a:ea typeface="Yu Gothic" pitchFamily="34" charset="-122"/>
                <a:cs typeface="Yu Gothic" pitchFamily="34" charset="-120"/>
              </a:rPr>
              <a:t>60名程度</a:t>
            </a:r>
            <a:endParaRPr lang="en-US" sz="3000" dirty="0"/>
          </a:p>
        </p:txBody>
      </p:sp>
      <p:sp>
        <p:nvSpPr>
          <p:cNvPr id="20" name="Text 18"/>
          <p:cNvSpPr txBox="1"/>
          <p:nvPr/>
        </p:nvSpPr>
        <p:spPr>
          <a:xfrm>
            <a:off x="8641080" y="2286000"/>
            <a:ext cx="2907792" cy="365760"/>
          </a:xfrm>
          <a:prstGeom prst="rect">
            <a:avLst/>
          </a:prstGeom>
          <a:noFill/>
          <a:ln/>
        </p:spPr>
        <p:txBody>
          <a:bodyPr wrap="square" lIns="0" tIns="0" rIns="0" bIns="0" rtlCol="0" anchor="ctr"/>
          <a:lstStyle/>
          <a:p>
            <a:pPr algn="ctr" indent="0" marL="0">
              <a:buNone/>
            </a:pPr>
            <a:r>
              <a:rPr lang="en-US" sz="1100" dirty="0">
                <a:solidFill>
                  <a:srgbClr val="CADCFC"/>
                </a:solidFill>
                <a:latin typeface="Yu Gothic" pitchFamily="34" charset="0"/>
                <a:ea typeface="Yu Gothic" pitchFamily="34" charset="-122"/>
                <a:cs typeface="Yu Gothic" pitchFamily="34" charset="-120"/>
              </a:rPr>
              <a:t>社会課題に取り組む学生が参加</a:t>
            </a:r>
            <a:endParaRPr lang="en-US" sz="1100" dirty="0"/>
          </a:p>
        </p:txBody>
      </p:sp>
      <p:sp>
        <p:nvSpPr>
          <p:cNvPr id="21" name="Shape 19"/>
          <p:cNvSpPr/>
          <p:nvPr/>
        </p:nvSpPr>
        <p:spPr>
          <a:xfrm>
            <a:off x="8549640" y="2990088"/>
            <a:ext cx="3090672" cy="1389888"/>
          </a:xfrm>
          <a:prstGeom prst="roundRect">
            <a:avLst>
              <a:gd name="adj" fmla="val 5921"/>
            </a:avLst>
          </a:prstGeom>
          <a:solidFill>
            <a:srgbClr val="1E2761"/>
          </a:solidFill>
          <a:ln/>
        </p:spPr>
      </p:sp>
      <p:sp>
        <p:nvSpPr>
          <p:cNvPr id="22" name="Text 20"/>
          <p:cNvSpPr txBox="1"/>
          <p:nvPr/>
        </p:nvSpPr>
        <p:spPr>
          <a:xfrm>
            <a:off x="8549640" y="3136392"/>
            <a:ext cx="3090672" cy="685800"/>
          </a:xfrm>
          <a:prstGeom prst="rect">
            <a:avLst/>
          </a:prstGeom>
          <a:noFill/>
          <a:ln/>
        </p:spPr>
        <p:txBody>
          <a:bodyPr wrap="square" lIns="0" tIns="0" rIns="0" bIns="0" rtlCol="0" anchor="ctr"/>
          <a:lstStyle/>
          <a:p>
            <a:pPr algn="ctr" indent="0" marL="0">
              <a:buNone/>
            </a:pPr>
            <a:r>
              <a:rPr lang="en-US" sz="3000" b="1" dirty="0">
                <a:solidFill>
                  <a:srgbClr val="FFFFFF"/>
                </a:solidFill>
                <a:latin typeface="Yu Gothic" pitchFamily="34" charset="0"/>
                <a:ea typeface="Yu Gothic" pitchFamily="34" charset="-122"/>
                <a:cs typeface="Yu Gothic" pitchFamily="34" charset="-120"/>
              </a:rPr>
              <a:t>10団体</a:t>
            </a:r>
            <a:endParaRPr lang="en-US" sz="3000" dirty="0"/>
          </a:p>
        </p:txBody>
      </p:sp>
      <p:sp>
        <p:nvSpPr>
          <p:cNvPr id="23" name="Text 21"/>
          <p:cNvSpPr txBox="1"/>
          <p:nvPr/>
        </p:nvSpPr>
        <p:spPr>
          <a:xfrm>
            <a:off x="8641080" y="3858768"/>
            <a:ext cx="2907792" cy="365760"/>
          </a:xfrm>
          <a:prstGeom prst="rect">
            <a:avLst/>
          </a:prstGeom>
          <a:noFill/>
          <a:ln/>
        </p:spPr>
        <p:txBody>
          <a:bodyPr wrap="square" lIns="0" tIns="0" rIns="0" bIns="0" rtlCol="0" anchor="ctr"/>
          <a:lstStyle/>
          <a:p>
            <a:pPr algn="ctr" indent="0" marL="0">
              <a:buNone/>
            </a:pPr>
            <a:r>
              <a:rPr lang="en-US" sz="1100" dirty="0">
                <a:solidFill>
                  <a:srgbClr val="CADCFC"/>
                </a:solidFill>
                <a:latin typeface="Yu Gothic" pitchFamily="34" charset="0"/>
                <a:ea typeface="Yu Gothic" pitchFamily="34" charset="-122"/>
                <a:cs typeface="Yu Gothic" pitchFamily="34" charset="-120"/>
              </a:rPr>
              <a:t>半年間の活動成果をピッチ</a:t>
            </a:r>
            <a:endParaRPr lang="en-US" sz="1100" dirty="0"/>
          </a:p>
        </p:txBody>
      </p:sp>
      <p:sp>
        <p:nvSpPr>
          <p:cNvPr id="24" name="Shape 22"/>
          <p:cNvSpPr/>
          <p:nvPr/>
        </p:nvSpPr>
        <p:spPr>
          <a:xfrm>
            <a:off x="8549640" y="4562856"/>
            <a:ext cx="3090672" cy="1389888"/>
          </a:xfrm>
          <a:prstGeom prst="roundRect">
            <a:avLst>
              <a:gd name="adj" fmla="val 5921"/>
            </a:avLst>
          </a:prstGeom>
          <a:solidFill>
            <a:srgbClr val="1E2761"/>
          </a:solidFill>
          <a:ln/>
        </p:spPr>
      </p:sp>
      <p:sp>
        <p:nvSpPr>
          <p:cNvPr id="25" name="Text 23"/>
          <p:cNvSpPr txBox="1"/>
          <p:nvPr/>
        </p:nvSpPr>
        <p:spPr>
          <a:xfrm>
            <a:off x="8549640" y="4709160"/>
            <a:ext cx="3090672" cy="685800"/>
          </a:xfrm>
          <a:prstGeom prst="rect">
            <a:avLst/>
          </a:prstGeom>
          <a:noFill/>
          <a:ln/>
        </p:spPr>
        <p:txBody>
          <a:bodyPr wrap="square" lIns="0" tIns="0" rIns="0" bIns="0" rtlCol="0" anchor="ctr"/>
          <a:lstStyle/>
          <a:p>
            <a:pPr algn="ctr" indent="0" marL="0">
              <a:buNone/>
            </a:pPr>
            <a:r>
              <a:rPr lang="en-US" sz="3000" b="1" dirty="0">
                <a:solidFill>
                  <a:srgbClr val="FFFFFF"/>
                </a:solidFill>
                <a:latin typeface="Yu Gothic" pitchFamily="34" charset="0"/>
                <a:ea typeface="Yu Gothic" pitchFamily="34" charset="-122"/>
                <a:cs typeface="Yu Gothic" pitchFamily="34" charset="-120"/>
              </a:rPr>
              <a:t>登壇3名</a:t>
            </a:r>
            <a:endParaRPr lang="en-US" sz="3000" dirty="0"/>
          </a:p>
        </p:txBody>
      </p:sp>
      <p:sp>
        <p:nvSpPr>
          <p:cNvPr id="26" name="Text 24"/>
          <p:cNvSpPr txBox="1"/>
          <p:nvPr/>
        </p:nvSpPr>
        <p:spPr>
          <a:xfrm>
            <a:off x="8641080" y="5431536"/>
            <a:ext cx="2907792" cy="365760"/>
          </a:xfrm>
          <a:prstGeom prst="rect">
            <a:avLst/>
          </a:prstGeom>
          <a:noFill/>
          <a:ln/>
        </p:spPr>
        <p:txBody>
          <a:bodyPr wrap="square" lIns="0" tIns="0" rIns="0" bIns="0" rtlCol="0" anchor="ctr"/>
          <a:lstStyle/>
          <a:p>
            <a:pPr algn="ctr" indent="0" marL="0">
              <a:buNone/>
            </a:pPr>
            <a:r>
              <a:rPr lang="en-US" sz="1100" dirty="0">
                <a:solidFill>
                  <a:srgbClr val="CADCFC"/>
                </a:solidFill>
                <a:latin typeface="Yu Gothic" pitchFamily="34" charset="0"/>
                <a:ea typeface="Yu Gothic" pitchFamily="34" charset="-122"/>
                <a:cs typeface="Yu Gothic" pitchFamily="34" charset="-120"/>
              </a:rPr>
              <a:t>社会起業家・国際協力の実践者</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566928"/>
          </a:xfrm>
          <a:prstGeom prst="rect">
            <a:avLst/>
          </a:prstGeom>
          <a:noFill/>
          <a:ln/>
        </p:spPr>
        <p:txBody>
          <a:bodyPr wrap="square" lIns="0" tIns="0" rIns="0" bIns="0" rtlCol="0" anchor="ctr"/>
          <a:lstStyle/>
          <a:p>
            <a:pPr indent="0" marL="0">
              <a:buNone/>
            </a:pPr>
            <a:r>
              <a:rPr lang="en-US" sz="2700" b="1" dirty="0">
                <a:solidFill>
                  <a:srgbClr val="1E2761"/>
                </a:solidFill>
                <a:latin typeface="Yu Gothic" pitchFamily="34" charset="0"/>
                <a:ea typeface="Yu Gothic" pitchFamily="34" charset="-122"/>
                <a:cs typeface="Yu Gothic" pitchFamily="34" charset="-120"/>
              </a:rPr>
              <a:t>2. 企画の趣旨・目的</a:t>
            </a:r>
            <a:endParaRPr lang="en-US" sz="2700" dirty="0"/>
          </a:p>
        </p:txBody>
      </p:sp>
      <p:sp>
        <p:nvSpPr>
          <p:cNvPr id="3" name="Shape 1"/>
          <p:cNvSpPr/>
          <p:nvPr/>
        </p:nvSpPr>
        <p:spPr>
          <a:xfrm>
            <a:off x="548640" y="1737360"/>
            <a:ext cx="3453384" cy="3291840"/>
          </a:xfrm>
          <a:prstGeom prst="roundRect">
            <a:avLst>
              <a:gd name="adj" fmla="val 2778"/>
            </a:avLst>
          </a:prstGeom>
          <a:solidFill>
            <a:srgbClr val="EEF3FC"/>
          </a:solidFill>
          <a:ln/>
        </p:spPr>
      </p:sp>
      <p:sp>
        <p:nvSpPr>
          <p:cNvPr id="4" name="Shape 2"/>
          <p:cNvSpPr/>
          <p:nvPr/>
        </p:nvSpPr>
        <p:spPr>
          <a:xfrm>
            <a:off x="868680" y="2103120"/>
            <a:ext cx="475488" cy="475488"/>
          </a:xfrm>
          <a:prstGeom prst="ellipse">
            <a:avLst/>
          </a:prstGeom>
          <a:solidFill>
            <a:srgbClr val="1E2761"/>
          </a:solidFill>
          <a:ln/>
        </p:spPr>
      </p:sp>
      <p:sp>
        <p:nvSpPr>
          <p:cNvPr id="5" name="Text 3"/>
          <p:cNvSpPr txBox="1"/>
          <p:nvPr/>
        </p:nvSpPr>
        <p:spPr>
          <a:xfrm>
            <a:off x="868680" y="2089404"/>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1</a:t>
            </a:r>
            <a:endParaRPr lang="en-US" sz="1800" dirty="0"/>
          </a:p>
        </p:txBody>
      </p:sp>
      <p:sp>
        <p:nvSpPr>
          <p:cNvPr id="6" name="Text 4"/>
          <p:cNvSpPr txBox="1"/>
          <p:nvPr/>
        </p:nvSpPr>
        <p:spPr>
          <a:xfrm>
            <a:off x="868680" y="2788920"/>
            <a:ext cx="2813304" cy="457200"/>
          </a:xfrm>
          <a:prstGeom prst="rect">
            <a:avLst/>
          </a:prstGeom>
          <a:noFill/>
          <a:ln/>
        </p:spPr>
        <p:txBody>
          <a:bodyPr wrap="square" lIns="0" tIns="0" rIns="0" bIns="0" rtlCol="0" anchor="ctr"/>
          <a:lstStyle/>
          <a:p>
            <a:pPr indent="0" marL="0">
              <a:buNone/>
            </a:pPr>
            <a:r>
              <a:rPr lang="en-US" sz="1700" b="1" dirty="0">
                <a:solidFill>
                  <a:srgbClr val="1E2761"/>
                </a:solidFill>
                <a:latin typeface="Yu Gothic" pitchFamily="34" charset="0"/>
                <a:ea typeface="Yu Gothic" pitchFamily="34" charset="-122"/>
                <a:cs typeface="Yu Gothic" pitchFamily="34" charset="-120"/>
              </a:rPr>
              <a:t>学生と大人を直接つなぐ</a:t>
            </a:r>
            <a:endParaRPr lang="en-US" sz="1700" dirty="0"/>
          </a:p>
        </p:txBody>
      </p:sp>
      <p:sp>
        <p:nvSpPr>
          <p:cNvPr id="7" name="Text 5"/>
          <p:cNvSpPr txBox="1"/>
          <p:nvPr/>
        </p:nvSpPr>
        <p:spPr>
          <a:xfrm>
            <a:off x="868680" y="3291840"/>
            <a:ext cx="2813304" cy="1554480"/>
          </a:xfrm>
          <a:prstGeom prst="rect">
            <a:avLst/>
          </a:prstGeom>
          <a:noFill/>
          <a:ln/>
        </p:spPr>
        <p:txBody>
          <a:bodyPr wrap="square" lIns="0" tIns="0" rIns="0" bIns="0" rtlCol="0" anchor="ctr"/>
          <a:lstStyle/>
          <a:p>
            <a:pPr indent="0" marL="0">
              <a:lnSpc>
                <a:spcPts val="1900"/>
              </a:lnSpc>
              <a:buNone/>
            </a:pPr>
            <a:r>
              <a:rPr lang="en-US" sz="1250" dirty="0">
                <a:solidFill>
                  <a:srgbClr val="1A1C22"/>
                </a:solidFill>
                <a:latin typeface="Yu Gothic" pitchFamily="34" charset="0"/>
                <a:ea typeface="Yu Gothic" pitchFamily="34" charset="-122"/>
                <a:cs typeface="Yu Gothic" pitchFamily="34" charset="-120"/>
              </a:rPr>
              <a:t>学生団体だけで完結させず、社会課題解決の最前線に立つ大人と学生を直接つなぎ、学生の視座を一段引き上げる場にします。</a:t>
            </a:r>
            <a:endParaRPr lang="en-US" sz="1250" dirty="0"/>
          </a:p>
        </p:txBody>
      </p:sp>
      <p:sp>
        <p:nvSpPr>
          <p:cNvPr id="8" name="Shape 6"/>
          <p:cNvSpPr/>
          <p:nvPr/>
        </p:nvSpPr>
        <p:spPr>
          <a:xfrm>
            <a:off x="4367784" y="1737360"/>
            <a:ext cx="3453384" cy="3291840"/>
          </a:xfrm>
          <a:prstGeom prst="roundRect">
            <a:avLst>
              <a:gd name="adj" fmla="val 2778"/>
            </a:avLst>
          </a:prstGeom>
          <a:solidFill>
            <a:srgbClr val="EEF3FC"/>
          </a:solidFill>
          <a:ln/>
        </p:spPr>
      </p:sp>
      <p:sp>
        <p:nvSpPr>
          <p:cNvPr id="9" name="Shape 7"/>
          <p:cNvSpPr/>
          <p:nvPr/>
        </p:nvSpPr>
        <p:spPr>
          <a:xfrm>
            <a:off x="4687824" y="2103120"/>
            <a:ext cx="475488" cy="475488"/>
          </a:xfrm>
          <a:prstGeom prst="ellipse">
            <a:avLst/>
          </a:prstGeom>
          <a:solidFill>
            <a:srgbClr val="1E2761"/>
          </a:solidFill>
          <a:ln/>
        </p:spPr>
      </p:sp>
      <p:sp>
        <p:nvSpPr>
          <p:cNvPr id="10" name="Text 8"/>
          <p:cNvSpPr txBox="1"/>
          <p:nvPr/>
        </p:nvSpPr>
        <p:spPr>
          <a:xfrm>
            <a:off x="4687824" y="2089404"/>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2</a:t>
            </a:r>
            <a:endParaRPr lang="en-US" sz="1800" dirty="0"/>
          </a:p>
        </p:txBody>
      </p:sp>
      <p:sp>
        <p:nvSpPr>
          <p:cNvPr id="11" name="Text 9"/>
          <p:cNvSpPr txBox="1"/>
          <p:nvPr/>
        </p:nvSpPr>
        <p:spPr>
          <a:xfrm>
            <a:off x="4687824" y="2788920"/>
            <a:ext cx="2813304" cy="457200"/>
          </a:xfrm>
          <a:prstGeom prst="rect">
            <a:avLst/>
          </a:prstGeom>
          <a:noFill/>
          <a:ln/>
        </p:spPr>
        <p:txBody>
          <a:bodyPr wrap="square" lIns="0" tIns="0" rIns="0" bIns="0" rtlCol="0" anchor="ctr"/>
          <a:lstStyle/>
          <a:p>
            <a:pPr indent="0" marL="0">
              <a:buNone/>
            </a:pPr>
            <a:r>
              <a:rPr lang="en-US" sz="1700" b="1" dirty="0">
                <a:solidFill>
                  <a:srgbClr val="1E2761"/>
                </a:solidFill>
                <a:latin typeface="Yu Gothic" pitchFamily="34" charset="0"/>
                <a:ea typeface="Yu Gothic" pitchFamily="34" charset="-122"/>
                <a:cs typeface="Yu Gothic" pitchFamily="34" charset="-120"/>
              </a:rPr>
              <a:t>本気のフィードバック</a:t>
            </a:r>
            <a:endParaRPr lang="en-US" sz="1700" dirty="0"/>
          </a:p>
        </p:txBody>
      </p:sp>
      <p:sp>
        <p:nvSpPr>
          <p:cNvPr id="12" name="Text 10"/>
          <p:cNvSpPr txBox="1"/>
          <p:nvPr/>
        </p:nvSpPr>
        <p:spPr>
          <a:xfrm>
            <a:off x="4687824" y="3291840"/>
            <a:ext cx="2813304" cy="1554480"/>
          </a:xfrm>
          <a:prstGeom prst="rect">
            <a:avLst/>
          </a:prstGeom>
          <a:noFill/>
          <a:ln/>
        </p:spPr>
        <p:txBody>
          <a:bodyPr wrap="square" lIns="0" tIns="0" rIns="0" bIns="0" rtlCol="0" anchor="ctr"/>
          <a:lstStyle/>
          <a:p>
            <a:pPr indent="0" marL="0">
              <a:lnSpc>
                <a:spcPts val="1900"/>
              </a:lnSpc>
              <a:buNone/>
            </a:pPr>
            <a:r>
              <a:rPr lang="en-US" sz="1250" dirty="0">
                <a:solidFill>
                  <a:srgbClr val="1A1C22"/>
                </a:solidFill>
                <a:latin typeface="Yu Gothic" pitchFamily="34" charset="0"/>
                <a:ea typeface="Yu Gothic" pitchFamily="34" charset="-122"/>
                <a:cs typeface="Yu Gothic" pitchFamily="34" charset="-120"/>
              </a:rPr>
              <a:t>半年間の活動を、本気で社会と向き合ってきた大人に評価・フィードバックしてもらう機会をつくります。</a:t>
            </a:r>
            <a:endParaRPr lang="en-US" sz="1250" dirty="0"/>
          </a:p>
        </p:txBody>
      </p:sp>
      <p:sp>
        <p:nvSpPr>
          <p:cNvPr id="13" name="Shape 11"/>
          <p:cNvSpPr/>
          <p:nvPr/>
        </p:nvSpPr>
        <p:spPr>
          <a:xfrm>
            <a:off x="8186928" y="1737360"/>
            <a:ext cx="3453384" cy="3291840"/>
          </a:xfrm>
          <a:prstGeom prst="roundRect">
            <a:avLst>
              <a:gd name="adj" fmla="val 2778"/>
            </a:avLst>
          </a:prstGeom>
          <a:solidFill>
            <a:srgbClr val="EEF3FC"/>
          </a:solidFill>
          <a:ln/>
        </p:spPr>
      </p:sp>
      <p:sp>
        <p:nvSpPr>
          <p:cNvPr id="14" name="Shape 12"/>
          <p:cNvSpPr/>
          <p:nvPr/>
        </p:nvSpPr>
        <p:spPr>
          <a:xfrm>
            <a:off x="8506968" y="2103120"/>
            <a:ext cx="475488" cy="475488"/>
          </a:xfrm>
          <a:prstGeom prst="ellipse">
            <a:avLst/>
          </a:prstGeom>
          <a:solidFill>
            <a:srgbClr val="1E2761"/>
          </a:solidFill>
          <a:ln/>
        </p:spPr>
      </p:sp>
      <p:sp>
        <p:nvSpPr>
          <p:cNvPr id="15" name="Text 13"/>
          <p:cNvSpPr txBox="1"/>
          <p:nvPr/>
        </p:nvSpPr>
        <p:spPr>
          <a:xfrm>
            <a:off x="8506968" y="2089404"/>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Yu Gothic" pitchFamily="34" charset="0"/>
                <a:ea typeface="Yu Gothic" pitchFamily="34" charset="-122"/>
                <a:cs typeface="Yu Gothic" pitchFamily="34" charset="-120"/>
              </a:rPr>
              <a:t>3</a:t>
            </a:r>
            <a:endParaRPr lang="en-US" sz="1800" dirty="0"/>
          </a:p>
        </p:txBody>
      </p:sp>
      <p:sp>
        <p:nvSpPr>
          <p:cNvPr id="16" name="Text 14"/>
          <p:cNvSpPr txBox="1"/>
          <p:nvPr/>
        </p:nvSpPr>
        <p:spPr>
          <a:xfrm>
            <a:off x="8506968" y="2788920"/>
            <a:ext cx="2813304" cy="457200"/>
          </a:xfrm>
          <a:prstGeom prst="rect">
            <a:avLst/>
          </a:prstGeom>
          <a:noFill/>
          <a:ln/>
        </p:spPr>
        <p:txBody>
          <a:bodyPr wrap="square" lIns="0" tIns="0" rIns="0" bIns="0" rtlCol="0" anchor="ctr"/>
          <a:lstStyle/>
          <a:p>
            <a:pPr indent="0" marL="0">
              <a:buNone/>
            </a:pPr>
            <a:r>
              <a:rPr lang="en-US" sz="1700" b="1" dirty="0">
                <a:solidFill>
                  <a:srgbClr val="1E2761"/>
                </a:solidFill>
                <a:latin typeface="Yu Gothic" pitchFamily="34" charset="0"/>
                <a:ea typeface="Yu Gothic" pitchFamily="34" charset="-122"/>
                <a:cs typeface="Yu Gothic" pitchFamily="34" charset="-120"/>
              </a:rPr>
              <a:t>挑戦を支える資金に</a:t>
            </a:r>
            <a:endParaRPr lang="en-US" sz="1700" dirty="0"/>
          </a:p>
        </p:txBody>
      </p:sp>
      <p:sp>
        <p:nvSpPr>
          <p:cNvPr id="17" name="Text 15"/>
          <p:cNvSpPr txBox="1"/>
          <p:nvPr/>
        </p:nvSpPr>
        <p:spPr>
          <a:xfrm>
            <a:off x="8506968" y="3291840"/>
            <a:ext cx="2813304" cy="1554480"/>
          </a:xfrm>
          <a:prstGeom prst="rect">
            <a:avLst/>
          </a:prstGeom>
          <a:noFill/>
          <a:ln/>
        </p:spPr>
        <p:txBody>
          <a:bodyPr wrap="square" lIns="0" tIns="0" rIns="0" bIns="0" rtlCol="0" anchor="ctr"/>
          <a:lstStyle/>
          <a:p>
            <a:pPr indent="0" marL="0">
              <a:lnSpc>
                <a:spcPts val="1900"/>
              </a:lnSpc>
              <a:buNone/>
            </a:pPr>
            <a:r>
              <a:rPr lang="en-US" sz="1250" dirty="0">
                <a:solidFill>
                  <a:srgbClr val="1A1C22"/>
                </a:solidFill>
                <a:latin typeface="Yu Gothic" pitchFamily="34" charset="0"/>
                <a:ea typeface="Yu Gothic" pitchFamily="34" charset="-122"/>
                <a:cs typeface="Yu Gothic" pitchFamily="34" charset="-120"/>
              </a:rPr>
              <a:t>協賛企業からのご協賛を各学生団体の活動資金として還元し、想いある挑戦が資金面で途切れない基盤をつくります。</a:t>
            </a:r>
            <a:endParaRPr lang="en-US" sz="1250" dirty="0"/>
          </a:p>
        </p:txBody>
      </p:sp>
      <p:sp>
        <p:nvSpPr>
          <p:cNvPr id="18" name="Text 16"/>
          <p:cNvSpPr txBox="1"/>
          <p:nvPr/>
        </p:nvSpPr>
        <p:spPr>
          <a:xfrm>
            <a:off x="548640" y="5440680"/>
            <a:ext cx="11091672" cy="365760"/>
          </a:xfrm>
          <a:prstGeom prst="rect">
            <a:avLst/>
          </a:prstGeom>
          <a:noFill/>
          <a:ln/>
        </p:spPr>
        <p:txBody>
          <a:bodyPr wrap="square" lIns="0" tIns="0" rIns="0" bIns="0" rtlCol="0" anchor="ctr"/>
          <a:lstStyle/>
          <a:p>
            <a:pPr indent="0" marL="0">
              <a:buNone/>
            </a:pPr>
            <a:r>
              <a:rPr lang="en-US" sz="1250" i="1" dirty="0">
                <a:solidFill>
                  <a:srgbClr val="6B7280"/>
                </a:solidFill>
                <a:latin typeface="Yu Gothic" pitchFamily="34" charset="0"/>
                <a:ea typeface="Yu Gothic" pitchFamily="34" charset="-122"/>
                <a:cs typeface="Yu Gothic" pitchFamily="34" charset="-120"/>
              </a:rPr>
              <a:t>協賛企業・登壇ゲスト・学生団体の三者が、当日のプログラム全体を通じて交わる設計です。</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566928"/>
          </a:xfrm>
          <a:prstGeom prst="rect">
            <a:avLst/>
          </a:prstGeom>
          <a:noFill/>
          <a:ln/>
        </p:spPr>
        <p:txBody>
          <a:bodyPr wrap="square" lIns="0" tIns="0" rIns="0" bIns="0" rtlCol="0" anchor="ctr"/>
          <a:lstStyle/>
          <a:p>
            <a:pPr indent="0" marL="0">
              <a:buNone/>
            </a:pPr>
            <a:r>
              <a:rPr lang="en-US" sz="2700" b="1" dirty="0">
                <a:solidFill>
                  <a:srgbClr val="1E2761"/>
                </a:solidFill>
                <a:latin typeface="Yu Gothic" pitchFamily="34" charset="0"/>
                <a:ea typeface="Yu Gothic" pitchFamily="34" charset="-122"/>
                <a:cs typeface="Yu Gothic" pitchFamily="34" charset="-120"/>
              </a:rPr>
              <a:t>3. Learning for All様にぜひご参加いただきたい理由</a:t>
            </a:r>
            <a:endParaRPr lang="en-US" sz="2700" dirty="0"/>
          </a:p>
        </p:txBody>
      </p:sp>
      <p:sp>
        <p:nvSpPr>
          <p:cNvPr id="3" name="Shape 1"/>
          <p:cNvSpPr/>
          <p:nvPr/>
        </p:nvSpPr>
        <p:spPr>
          <a:xfrm>
            <a:off x="548640" y="1517904"/>
            <a:ext cx="420624" cy="420624"/>
          </a:xfrm>
          <a:prstGeom prst="ellipse">
            <a:avLst/>
          </a:prstGeom>
          <a:solidFill>
            <a:srgbClr val="1E2761"/>
          </a:solidFill>
          <a:ln/>
        </p:spPr>
      </p:sp>
      <p:sp>
        <p:nvSpPr>
          <p:cNvPr id="4" name="Text 2"/>
          <p:cNvSpPr txBox="1"/>
          <p:nvPr/>
        </p:nvSpPr>
        <p:spPr>
          <a:xfrm>
            <a:off x="548640" y="150418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Yu Gothic" pitchFamily="34" charset="0"/>
                <a:ea typeface="Yu Gothic" pitchFamily="34" charset="-122"/>
                <a:cs typeface="Yu Gothic" pitchFamily="34" charset="-120"/>
              </a:rPr>
              <a:t>1</a:t>
            </a:r>
            <a:endParaRPr lang="en-US" sz="1500" dirty="0"/>
          </a:p>
        </p:txBody>
      </p:sp>
      <p:sp>
        <p:nvSpPr>
          <p:cNvPr id="5" name="Text 3"/>
          <p:cNvSpPr txBox="1"/>
          <p:nvPr/>
        </p:nvSpPr>
        <p:spPr>
          <a:xfrm>
            <a:off x="1234440" y="1481328"/>
            <a:ext cx="10405872" cy="384048"/>
          </a:xfrm>
          <a:prstGeom prst="rect">
            <a:avLst/>
          </a:prstGeom>
          <a:noFill/>
          <a:ln/>
        </p:spPr>
        <p:txBody>
          <a:bodyPr wrap="square" lIns="0" tIns="0" rIns="0" bIns="0" rtlCol="0" anchor="ctr"/>
          <a:lstStyle/>
          <a:p>
            <a:pPr indent="0" marL="0">
              <a:buNone/>
            </a:pPr>
            <a:r>
              <a:rPr lang="en-US" sz="1550" b="1" dirty="0">
                <a:solidFill>
                  <a:srgbClr val="1E2761"/>
                </a:solidFill>
                <a:latin typeface="Yu Gothic" pitchFamily="34" charset="0"/>
                <a:ea typeface="Yu Gothic" pitchFamily="34" charset="-122"/>
                <a:cs typeface="Yu Gothic" pitchFamily="34" charset="-120"/>
              </a:rPr>
              <a:t>「子どもの貧困に、本質的解決を。」との重なり</a:t>
            </a:r>
            <a:endParaRPr lang="en-US" sz="1550" dirty="0"/>
          </a:p>
        </p:txBody>
      </p:sp>
      <p:sp>
        <p:nvSpPr>
          <p:cNvPr id="6" name="Text 4"/>
          <p:cNvSpPr txBox="1"/>
          <p:nvPr/>
        </p:nvSpPr>
        <p:spPr>
          <a:xfrm>
            <a:off x="1234440" y="1883664"/>
            <a:ext cx="10222992" cy="685800"/>
          </a:xfrm>
          <a:prstGeom prst="rect">
            <a:avLst/>
          </a:prstGeom>
          <a:noFill/>
          <a:ln/>
        </p:spPr>
        <p:txBody>
          <a:bodyPr wrap="square" lIns="0" tIns="0" rIns="0" bIns="0" rtlCol="0" anchor="ctr"/>
          <a:lstStyle/>
          <a:p>
            <a:pPr indent="0" marL="0">
              <a:lnSpc>
                <a:spcPts val="1800"/>
              </a:lnSpc>
              <a:buNone/>
            </a:pPr>
            <a:r>
              <a:rPr lang="en-US" sz="1200" dirty="0">
                <a:solidFill>
                  <a:srgbClr val="1A1C22"/>
                </a:solidFill>
                <a:latin typeface="Yu Gothic" pitchFamily="34" charset="0"/>
                <a:ea typeface="Yu Gothic" pitchFamily="34" charset="-122"/>
                <a:cs typeface="Yu Gothic" pitchFamily="34" charset="-120"/>
              </a:rPr>
              <a:t>貴法人が掲げる理念と、学習支援・居場所づくりの活動は、本報告会が目指す「社会課題の解決に挑む次世代リーダーの育成」と深く重なります。学生とともに現場をつくってこられた貴法人にこそ、学生たちの挑戦を見届けていただきたいと考えています。</a:t>
            </a:r>
            <a:endParaRPr lang="en-US" sz="1200" dirty="0"/>
          </a:p>
        </p:txBody>
      </p:sp>
      <p:sp>
        <p:nvSpPr>
          <p:cNvPr id="7" name="Shape 5"/>
          <p:cNvSpPr/>
          <p:nvPr/>
        </p:nvSpPr>
        <p:spPr>
          <a:xfrm>
            <a:off x="548640" y="2816352"/>
            <a:ext cx="420624" cy="420624"/>
          </a:xfrm>
          <a:prstGeom prst="ellipse">
            <a:avLst/>
          </a:prstGeom>
          <a:solidFill>
            <a:srgbClr val="1E2761"/>
          </a:solidFill>
          <a:ln/>
        </p:spPr>
      </p:sp>
      <p:sp>
        <p:nvSpPr>
          <p:cNvPr id="8" name="Text 6"/>
          <p:cNvSpPr txBox="1"/>
          <p:nvPr/>
        </p:nvSpPr>
        <p:spPr>
          <a:xfrm>
            <a:off x="548640" y="280263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Yu Gothic" pitchFamily="34" charset="0"/>
                <a:ea typeface="Yu Gothic" pitchFamily="34" charset="-122"/>
                <a:cs typeface="Yu Gothic" pitchFamily="34" charset="-120"/>
              </a:rPr>
              <a:t>2</a:t>
            </a:r>
            <a:endParaRPr lang="en-US" sz="1500" dirty="0"/>
          </a:p>
        </p:txBody>
      </p:sp>
      <p:sp>
        <p:nvSpPr>
          <p:cNvPr id="9" name="Text 7"/>
          <p:cNvSpPr txBox="1"/>
          <p:nvPr/>
        </p:nvSpPr>
        <p:spPr>
          <a:xfrm>
            <a:off x="1234440" y="2779776"/>
            <a:ext cx="10405872" cy="384048"/>
          </a:xfrm>
          <a:prstGeom prst="rect">
            <a:avLst/>
          </a:prstGeom>
          <a:noFill/>
          <a:ln/>
        </p:spPr>
        <p:txBody>
          <a:bodyPr wrap="square" lIns="0" tIns="0" rIns="0" bIns="0" rtlCol="0" anchor="ctr"/>
          <a:lstStyle/>
          <a:p>
            <a:pPr indent="0" marL="0">
              <a:buNone/>
            </a:pPr>
            <a:r>
              <a:rPr lang="en-US" sz="1550" b="1" dirty="0">
                <a:solidFill>
                  <a:srgbClr val="1E2761"/>
                </a:solidFill>
                <a:latin typeface="Yu Gothic" pitchFamily="34" charset="0"/>
                <a:ea typeface="Yu Gothic" pitchFamily="34" charset="-122"/>
                <a:cs typeface="Yu Gothic" pitchFamily="34" charset="-120"/>
              </a:rPr>
              <a:t>学生団体の活動テーマとの親和性</a:t>
            </a:r>
            <a:endParaRPr lang="en-US" sz="1550" dirty="0"/>
          </a:p>
        </p:txBody>
      </p:sp>
      <p:sp>
        <p:nvSpPr>
          <p:cNvPr id="10" name="Text 8"/>
          <p:cNvSpPr txBox="1"/>
          <p:nvPr/>
        </p:nvSpPr>
        <p:spPr>
          <a:xfrm>
            <a:off x="1234440" y="3182112"/>
            <a:ext cx="10222992" cy="685800"/>
          </a:xfrm>
          <a:prstGeom prst="rect">
            <a:avLst/>
          </a:prstGeom>
          <a:noFill/>
          <a:ln/>
        </p:spPr>
        <p:txBody>
          <a:bodyPr wrap="square" lIns="0" tIns="0" rIns="0" bIns="0" rtlCol="0" anchor="ctr"/>
          <a:lstStyle/>
          <a:p>
            <a:pPr indent="0" marL="0">
              <a:lnSpc>
                <a:spcPts val="1800"/>
              </a:lnSpc>
              <a:buNone/>
            </a:pPr>
            <a:r>
              <a:rPr lang="en-US" sz="1200" dirty="0">
                <a:solidFill>
                  <a:srgbClr val="1A1C22"/>
                </a:solidFill>
                <a:latin typeface="Yu Gothic" pitchFamily="34" charset="0"/>
                <a:ea typeface="Yu Gothic" pitchFamily="34" charset="-122"/>
                <a:cs typeface="Yu Gothic" pitchFamily="34" charset="-120"/>
              </a:rPr>
              <a:t>参加団体の活動領域は、教育・貧困・こども支援など、貴法人の事業・価値観と親和性の高いテーマが中心です。子ども食堂や炊き出しによる貧困支援に取り組む団体も参加します。</a:t>
            </a:r>
            <a:endParaRPr lang="en-US" sz="1200" dirty="0"/>
          </a:p>
        </p:txBody>
      </p:sp>
      <p:sp>
        <p:nvSpPr>
          <p:cNvPr id="11" name="Shape 9"/>
          <p:cNvSpPr/>
          <p:nvPr/>
        </p:nvSpPr>
        <p:spPr>
          <a:xfrm>
            <a:off x="548640" y="4114800"/>
            <a:ext cx="420624" cy="420624"/>
          </a:xfrm>
          <a:prstGeom prst="ellipse">
            <a:avLst/>
          </a:prstGeom>
          <a:solidFill>
            <a:srgbClr val="1E2761"/>
          </a:solidFill>
          <a:ln/>
        </p:spPr>
      </p:sp>
      <p:sp>
        <p:nvSpPr>
          <p:cNvPr id="12" name="Text 10"/>
          <p:cNvSpPr txBox="1"/>
          <p:nvPr/>
        </p:nvSpPr>
        <p:spPr>
          <a:xfrm>
            <a:off x="548640" y="410108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Yu Gothic" pitchFamily="34" charset="0"/>
                <a:ea typeface="Yu Gothic" pitchFamily="34" charset="-122"/>
                <a:cs typeface="Yu Gothic" pitchFamily="34" charset="-120"/>
              </a:rPr>
              <a:t>3</a:t>
            </a:r>
            <a:endParaRPr lang="en-US" sz="1500" dirty="0"/>
          </a:p>
        </p:txBody>
      </p:sp>
      <p:sp>
        <p:nvSpPr>
          <p:cNvPr id="13" name="Text 11"/>
          <p:cNvSpPr txBox="1"/>
          <p:nvPr/>
        </p:nvSpPr>
        <p:spPr>
          <a:xfrm>
            <a:off x="1234440" y="4078224"/>
            <a:ext cx="10405872" cy="384048"/>
          </a:xfrm>
          <a:prstGeom prst="rect">
            <a:avLst/>
          </a:prstGeom>
          <a:noFill/>
          <a:ln/>
        </p:spPr>
        <p:txBody>
          <a:bodyPr wrap="square" lIns="0" tIns="0" rIns="0" bIns="0" rtlCol="0" anchor="ctr"/>
          <a:lstStyle/>
          <a:p>
            <a:pPr indent="0" marL="0">
              <a:buNone/>
            </a:pPr>
            <a:r>
              <a:rPr lang="en-US" sz="1550" b="1" dirty="0">
                <a:solidFill>
                  <a:srgbClr val="1E2761"/>
                </a:solidFill>
                <a:latin typeface="Yu Gothic" pitchFamily="34" charset="0"/>
                <a:ea typeface="Yu Gothic" pitchFamily="34" charset="-122"/>
                <a:cs typeface="Yu Gothic" pitchFamily="34" charset="-120"/>
              </a:rPr>
              <a:t>半年間「行動した若者」との接点</a:t>
            </a:r>
            <a:endParaRPr lang="en-US" sz="1550" dirty="0"/>
          </a:p>
        </p:txBody>
      </p:sp>
      <p:sp>
        <p:nvSpPr>
          <p:cNvPr id="14" name="Text 12"/>
          <p:cNvSpPr txBox="1"/>
          <p:nvPr/>
        </p:nvSpPr>
        <p:spPr>
          <a:xfrm>
            <a:off x="1234440" y="4480560"/>
            <a:ext cx="10222992" cy="685800"/>
          </a:xfrm>
          <a:prstGeom prst="rect">
            <a:avLst/>
          </a:prstGeom>
          <a:noFill/>
          <a:ln/>
        </p:spPr>
        <p:txBody>
          <a:bodyPr wrap="square" lIns="0" tIns="0" rIns="0" bIns="0" rtlCol="0" anchor="ctr"/>
          <a:lstStyle/>
          <a:p>
            <a:pPr indent="0" marL="0">
              <a:lnSpc>
                <a:spcPts val="1800"/>
              </a:lnSpc>
              <a:buNone/>
            </a:pPr>
            <a:r>
              <a:rPr lang="en-US" sz="1200" dirty="0">
                <a:solidFill>
                  <a:srgbClr val="1A1C22"/>
                </a:solidFill>
                <a:latin typeface="Yu Gothic" pitchFamily="34" charset="0"/>
                <a:ea typeface="Yu Gothic" pitchFamily="34" charset="-122"/>
                <a:cs typeface="Yu Gothic" pitchFamily="34" charset="-120"/>
              </a:rPr>
              <a:t>学生は半年間の活動を経てピッチに臨みます。社会課題解決と事業の両立を志す、貴法人の理念と重なる母集団です。</a:t>
            </a:r>
            <a:endParaRPr lang="en-US" sz="1200" dirty="0"/>
          </a:p>
        </p:txBody>
      </p:sp>
      <p:sp>
        <p:nvSpPr>
          <p:cNvPr id="15" name="Shape 13"/>
          <p:cNvSpPr/>
          <p:nvPr/>
        </p:nvSpPr>
        <p:spPr>
          <a:xfrm>
            <a:off x="548640" y="5413248"/>
            <a:ext cx="420624" cy="420624"/>
          </a:xfrm>
          <a:prstGeom prst="ellipse">
            <a:avLst/>
          </a:prstGeom>
          <a:solidFill>
            <a:srgbClr val="F96167"/>
          </a:solidFill>
          <a:ln/>
        </p:spPr>
      </p:sp>
      <p:sp>
        <p:nvSpPr>
          <p:cNvPr id="16" name="Text 14"/>
          <p:cNvSpPr txBox="1"/>
          <p:nvPr/>
        </p:nvSpPr>
        <p:spPr>
          <a:xfrm>
            <a:off x="548640" y="539953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Yu Gothic" pitchFamily="34" charset="0"/>
                <a:ea typeface="Yu Gothic" pitchFamily="34" charset="-122"/>
                <a:cs typeface="Yu Gothic" pitchFamily="34" charset="-120"/>
              </a:rPr>
              <a:t>4</a:t>
            </a:r>
            <a:endParaRPr lang="en-US" sz="1500" dirty="0"/>
          </a:p>
        </p:txBody>
      </p:sp>
      <p:sp>
        <p:nvSpPr>
          <p:cNvPr id="17" name="Text 15"/>
          <p:cNvSpPr txBox="1"/>
          <p:nvPr/>
        </p:nvSpPr>
        <p:spPr>
          <a:xfrm>
            <a:off x="1234440" y="5376672"/>
            <a:ext cx="10405872" cy="384048"/>
          </a:xfrm>
          <a:prstGeom prst="rect">
            <a:avLst/>
          </a:prstGeom>
          <a:noFill/>
          <a:ln/>
        </p:spPr>
        <p:txBody>
          <a:bodyPr wrap="square" lIns="0" tIns="0" rIns="0" bIns="0" rtlCol="0" anchor="ctr"/>
          <a:lstStyle/>
          <a:p>
            <a:pPr indent="0" marL="0">
              <a:buNone/>
            </a:pPr>
            <a:r>
              <a:rPr lang="en-US" sz="1550" b="1" dirty="0">
                <a:solidFill>
                  <a:srgbClr val="1E2761"/>
                </a:solidFill>
                <a:latin typeface="Yu Gothic" pitchFamily="34" charset="0"/>
                <a:ea typeface="Yu Gothic" pitchFamily="34" charset="-122"/>
                <a:cs typeface="Yu Gothic" pitchFamily="34" charset="-120"/>
              </a:rPr>
              <a:t>学生にとって最も身近なロールモデル</a:t>
            </a:r>
            <a:endParaRPr lang="en-US" sz="1550" dirty="0"/>
          </a:p>
        </p:txBody>
      </p:sp>
      <p:sp>
        <p:nvSpPr>
          <p:cNvPr id="18" name="Text 16"/>
          <p:cNvSpPr txBox="1"/>
          <p:nvPr/>
        </p:nvSpPr>
        <p:spPr>
          <a:xfrm>
            <a:off x="1234440" y="5779008"/>
            <a:ext cx="10222992" cy="685800"/>
          </a:xfrm>
          <a:prstGeom prst="rect">
            <a:avLst/>
          </a:prstGeom>
          <a:noFill/>
          <a:ln/>
        </p:spPr>
        <p:txBody>
          <a:bodyPr wrap="square" lIns="0" tIns="0" rIns="0" bIns="0" rtlCol="0" anchor="ctr"/>
          <a:lstStyle/>
          <a:p>
            <a:pPr indent="0" marL="0">
              <a:lnSpc>
                <a:spcPts val="1800"/>
              </a:lnSpc>
              <a:buNone/>
            </a:pPr>
            <a:r>
              <a:rPr lang="en-US" sz="1200" dirty="0">
                <a:solidFill>
                  <a:srgbClr val="1A1C22"/>
                </a:solidFill>
                <a:latin typeface="Yu Gothic" pitchFamily="34" charset="0"/>
                <a:ea typeface="Yu Gothic" pitchFamily="34" charset="-122"/>
                <a:cs typeface="Yu Gothic" pitchFamily="34" charset="-120"/>
              </a:rPr>
              <a:t>学生の行動から始まり、NPOとして社会課題の本質的解決に挑み続けてこられた貴法人の歩みは、進路を考える学生にとって最も身近で刺激的なロールモデルです。この道を一人称で語れる存在は多くありません。</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566928"/>
          </a:xfrm>
          <a:prstGeom prst="rect">
            <a:avLst/>
          </a:prstGeom>
          <a:noFill/>
          <a:ln/>
        </p:spPr>
        <p:txBody>
          <a:bodyPr wrap="square" lIns="0" tIns="0" rIns="0" bIns="0" rtlCol="0" anchor="ctr"/>
          <a:lstStyle/>
          <a:p>
            <a:pPr indent="0" marL="0">
              <a:buNone/>
            </a:pPr>
            <a:r>
              <a:rPr lang="en-US" sz="2700" b="1" dirty="0">
                <a:solidFill>
                  <a:srgbClr val="1E2761"/>
                </a:solidFill>
                <a:latin typeface="Yu Gothic" pitchFamily="34" charset="0"/>
                <a:ea typeface="Yu Gothic" pitchFamily="34" charset="-122"/>
                <a:cs typeface="Yu Gothic" pitchFamily="34" charset="-120"/>
              </a:rPr>
              <a:t>4. ご協賛により貴法人が得られるもの</a:t>
            </a:r>
            <a:endParaRPr lang="en-US" sz="2700" dirty="0"/>
          </a:p>
        </p:txBody>
      </p:sp>
      <p:sp>
        <p:nvSpPr>
          <p:cNvPr id="3" name="Text 1"/>
          <p:cNvSpPr txBox="1"/>
          <p:nvPr/>
        </p:nvSpPr>
        <p:spPr>
          <a:xfrm>
            <a:off x="548640" y="932688"/>
            <a:ext cx="11091672" cy="310896"/>
          </a:xfrm>
          <a:prstGeom prst="rect">
            <a:avLst/>
          </a:prstGeom>
          <a:noFill/>
          <a:ln/>
        </p:spPr>
        <p:txBody>
          <a:bodyPr wrap="square" lIns="0" tIns="0" rIns="0" bIns="0" rtlCol="0" anchor="ctr"/>
          <a:lstStyle/>
          <a:p>
            <a:pPr indent="0" marL="0">
              <a:buNone/>
            </a:pPr>
            <a:r>
              <a:rPr lang="en-US" sz="1250" dirty="0">
                <a:solidFill>
                  <a:srgbClr val="6B7280"/>
                </a:solidFill>
                <a:latin typeface="Yu Gothic" pitchFamily="34" charset="0"/>
                <a:ea typeface="Yu Gothic" pitchFamily="34" charset="-122"/>
                <a:cs typeface="Yu Gothic" pitchFamily="34" charset="-120"/>
              </a:rPr>
              <a:t>ご協賛金に対して貴法人が得られるリターンを、目的別に整理しました。</a:t>
            </a:r>
            <a:endParaRPr lang="en-US" sz="1250" dirty="0"/>
          </a:p>
        </p:txBody>
      </p:sp>
      <p:sp>
        <p:nvSpPr>
          <p:cNvPr id="4" name="Shape 2"/>
          <p:cNvSpPr/>
          <p:nvPr/>
        </p:nvSpPr>
        <p:spPr>
          <a:xfrm>
            <a:off x="548640" y="1463040"/>
            <a:ext cx="3483864" cy="4343400"/>
          </a:xfrm>
          <a:prstGeom prst="roundRect">
            <a:avLst>
              <a:gd name="adj" fmla="val 2625"/>
            </a:avLst>
          </a:prstGeom>
          <a:solidFill>
            <a:srgbClr val="EEF3FC"/>
          </a:solidFill>
          <a:ln/>
        </p:spPr>
      </p:sp>
      <p:sp>
        <p:nvSpPr>
          <p:cNvPr id="5" name="Shape 3"/>
          <p:cNvSpPr/>
          <p:nvPr/>
        </p:nvSpPr>
        <p:spPr>
          <a:xfrm>
            <a:off x="548640" y="1463040"/>
            <a:ext cx="3483864" cy="566928"/>
          </a:xfrm>
          <a:prstGeom prst="roundRect">
            <a:avLst>
              <a:gd name="adj" fmla="val 16129"/>
            </a:avLst>
          </a:prstGeom>
          <a:solidFill>
            <a:srgbClr val="1E2761"/>
          </a:solidFill>
          <a:ln/>
        </p:spPr>
      </p:sp>
      <p:sp>
        <p:nvSpPr>
          <p:cNvPr id="6" name="Text 4"/>
          <p:cNvSpPr txBox="1"/>
          <p:nvPr/>
        </p:nvSpPr>
        <p:spPr>
          <a:xfrm>
            <a:off x="548640" y="1463040"/>
            <a:ext cx="3483864" cy="566928"/>
          </a:xfrm>
          <a:prstGeom prst="rect">
            <a:avLst/>
          </a:prstGeom>
          <a:noFill/>
          <a:ln/>
        </p:spPr>
        <p:txBody>
          <a:bodyPr wrap="square" lIns="0" tIns="0" rIns="0" bIns="0" rtlCol="0" anchor="ctr"/>
          <a:lstStyle/>
          <a:p>
            <a:pPr algn="ctr" indent="0" marL="0">
              <a:buNone/>
            </a:pPr>
            <a:r>
              <a:rPr lang="en-US" sz="1450" b="1" dirty="0">
                <a:solidFill>
                  <a:srgbClr val="FFFFFF"/>
                </a:solidFill>
                <a:latin typeface="Yu Gothic" pitchFamily="34" charset="0"/>
                <a:ea typeface="Yu Gothic" pitchFamily="34" charset="-122"/>
                <a:cs typeface="Yu Gothic" pitchFamily="34" charset="-120"/>
              </a:rPr>
              <a:t>採用・母集団形成</a:t>
            </a:r>
            <a:endParaRPr lang="en-US" sz="1450" dirty="0"/>
          </a:p>
        </p:txBody>
      </p:sp>
      <p:sp>
        <p:nvSpPr>
          <p:cNvPr id="7" name="Text 5"/>
          <p:cNvSpPr txBox="1"/>
          <p:nvPr/>
        </p:nvSpPr>
        <p:spPr>
          <a:xfrm>
            <a:off x="804672" y="2240280"/>
            <a:ext cx="2971800" cy="3383280"/>
          </a:xfrm>
          <a:prstGeom prst="rect">
            <a:avLst/>
          </a:prstGeom>
          <a:noFill/>
          <a:ln/>
        </p:spPr>
        <p:txBody>
          <a:bodyPr wrap="square" lIns="0" tIns="0" rIns="0" bIns="0" rtlCol="0" anchor="t"/>
          <a:lstStyle/>
          <a:p>
            <a:pPr marL="127000" indent="-127000">
              <a:lnSpc>
                <a:spcPts val="1650"/>
              </a:lnSpc>
              <a:spcAft>
                <a:spcPts val="800"/>
              </a:spcAft>
              <a:buSzPct val="100000"/>
              <a:buChar char="•"/>
            </a:pPr>
            <a:r>
              <a:rPr lang="en-US" sz="1150" dirty="0">
                <a:solidFill>
                  <a:srgbClr val="1A1C22"/>
                </a:solidFill>
                <a:latin typeface="Yu Gothic" pitchFamily="34" charset="0"/>
                <a:ea typeface="Yu Gothic" pitchFamily="34" charset="-122"/>
                <a:cs typeface="Yu Gothic" pitchFamily="34" charset="-120"/>
              </a:rPr>
              <a:t>社会課題に半年間本気で取り組んだ学生60名程度（東京大学・慶應義塾大学・早稲田大学・上智大学ほか）への認知</a:t>
            </a:r>
            <a:endParaRPr lang="en-US" sz="1150" dirty="0"/>
          </a:p>
          <a:p>
            <a:pPr marL="127000" indent="-127000">
              <a:lnSpc>
                <a:spcPts val="1650"/>
              </a:lnSpc>
              <a:spcAft>
                <a:spcPts val="800"/>
              </a:spcAft>
              <a:buSzPct val="100000"/>
              <a:buChar char="•"/>
            </a:pPr>
            <a:r>
              <a:rPr lang="en-US" sz="1150" dirty="0">
                <a:solidFill>
                  <a:srgbClr val="1A1C22"/>
                </a:solidFill>
                <a:latin typeface="Yu Gothic" pitchFamily="34" charset="0"/>
                <a:ea typeface="Yu Gothic" pitchFamily="34" charset="-122"/>
                <a:cs typeface="Yu Gothic" pitchFamily="34" charset="-120"/>
              </a:rPr>
              <a:t>座談会（5名程度×3枠）と懇親会で、15〜20名程度の学生と直接コミュニケーション</a:t>
            </a:r>
            <a:endParaRPr lang="en-US" sz="1150" dirty="0"/>
          </a:p>
          <a:p>
            <a:pPr marL="127000" indent="-127000">
              <a:lnSpc>
                <a:spcPts val="1650"/>
              </a:lnSpc>
              <a:spcAft>
                <a:spcPts val="800"/>
              </a:spcAft>
              <a:buSzPct val="100000"/>
              <a:buChar char="•"/>
            </a:pPr>
            <a:r>
              <a:rPr lang="en-US" sz="1150" dirty="0">
                <a:solidFill>
                  <a:srgbClr val="1A1C22"/>
                </a:solidFill>
                <a:latin typeface="Yu Gothic" pitchFamily="34" charset="0"/>
                <a:ea typeface="Yu Gothic" pitchFamily="34" charset="-122"/>
                <a:cs typeface="Yu Gothic" pitchFamily="34" charset="-120"/>
              </a:rPr>
              <a:t>懇親会でのインターン・採用のご案内と個別の対話</a:t>
            </a:r>
            <a:endParaRPr lang="en-US" sz="1150" dirty="0"/>
          </a:p>
          <a:p>
            <a:pPr marL="127000" indent="-127000">
              <a:lnSpc>
                <a:spcPts val="1650"/>
              </a:lnSpc>
              <a:spcAft>
                <a:spcPts val="800"/>
              </a:spcAft>
              <a:buSzPct val="100000"/>
              <a:buChar char="•"/>
            </a:pPr>
            <a:r>
              <a:rPr lang="en-US" sz="1150" dirty="0">
                <a:solidFill>
                  <a:srgbClr val="1A1C22"/>
                </a:solidFill>
                <a:latin typeface="Yu Gothic" pitchFamily="34" charset="0"/>
                <a:ea typeface="Yu Gothic" pitchFamily="34" charset="-122"/>
                <a:cs typeface="Yu Gothic" pitchFamily="34" charset="-120"/>
              </a:rPr>
              <a:t>イベント終了後もチラシ配布・メール送付で継続アプローチ</a:t>
            </a:r>
            <a:endParaRPr lang="en-US" sz="1150" dirty="0"/>
          </a:p>
        </p:txBody>
      </p:sp>
      <p:sp>
        <p:nvSpPr>
          <p:cNvPr id="8" name="Shape 6"/>
          <p:cNvSpPr/>
          <p:nvPr/>
        </p:nvSpPr>
        <p:spPr>
          <a:xfrm>
            <a:off x="4352544" y="1463040"/>
            <a:ext cx="3483864" cy="4343400"/>
          </a:xfrm>
          <a:prstGeom prst="roundRect">
            <a:avLst>
              <a:gd name="adj" fmla="val 2625"/>
            </a:avLst>
          </a:prstGeom>
          <a:solidFill>
            <a:srgbClr val="EEF3FC"/>
          </a:solidFill>
          <a:ln/>
        </p:spPr>
      </p:sp>
      <p:sp>
        <p:nvSpPr>
          <p:cNvPr id="9" name="Shape 7"/>
          <p:cNvSpPr/>
          <p:nvPr/>
        </p:nvSpPr>
        <p:spPr>
          <a:xfrm>
            <a:off x="4352544" y="1463040"/>
            <a:ext cx="3483864" cy="566928"/>
          </a:xfrm>
          <a:prstGeom prst="roundRect">
            <a:avLst>
              <a:gd name="adj" fmla="val 16129"/>
            </a:avLst>
          </a:prstGeom>
          <a:solidFill>
            <a:srgbClr val="1E2761"/>
          </a:solidFill>
          <a:ln/>
        </p:spPr>
      </p:sp>
      <p:sp>
        <p:nvSpPr>
          <p:cNvPr id="10" name="Text 8"/>
          <p:cNvSpPr txBox="1"/>
          <p:nvPr/>
        </p:nvSpPr>
        <p:spPr>
          <a:xfrm>
            <a:off x="4352544" y="1463040"/>
            <a:ext cx="3483864" cy="566928"/>
          </a:xfrm>
          <a:prstGeom prst="rect">
            <a:avLst/>
          </a:prstGeom>
          <a:noFill/>
          <a:ln/>
        </p:spPr>
        <p:txBody>
          <a:bodyPr wrap="square" lIns="0" tIns="0" rIns="0" bIns="0" rtlCol="0" anchor="ctr"/>
          <a:lstStyle/>
          <a:p>
            <a:pPr algn="ctr" indent="0" marL="0">
              <a:buNone/>
            </a:pPr>
            <a:r>
              <a:rPr lang="en-US" sz="1450" b="1" dirty="0">
                <a:solidFill>
                  <a:srgbClr val="FFFFFF"/>
                </a:solidFill>
                <a:latin typeface="Yu Gothic" pitchFamily="34" charset="0"/>
                <a:ea typeface="Yu Gothic" pitchFamily="34" charset="-122"/>
                <a:cs typeface="Yu Gothic" pitchFamily="34" charset="-120"/>
              </a:rPr>
              <a:t>認知・ブランディング</a:t>
            </a:r>
            <a:endParaRPr lang="en-US" sz="1450" dirty="0"/>
          </a:p>
        </p:txBody>
      </p:sp>
      <p:sp>
        <p:nvSpPr>
          <p:cNvPr id="11" name="Text 9"/>
          <p:cNvSpPr txBox="1"/>
          <p:nvPr/>
        </p:nvSpPr>
        <p:spPr>
          <a:xfrm>
            <a:off x="4608576" y="2240280"/>
            <a:ext cx="2971800" cy="3383280"/>
          </a:xfrm>
          <a:prstGeom prst="rect">
            <a:avLst/>
          </a:prstGeom>
          <a:noFill/>
          <a:ln/>
        </p:spPr>
        <p:txBody>
          <a:bodyPr wrap="square" lIns="0" tIns="0" rIns="0" bIns="0" rtlCol="0" anchor="t"/>
          <a:lstStyle/>
          <a:p>
            <a:pPr marL="127000" indent="-127000">
              <a:lnSpc>
                <a:spcPts val="1650"/>
              </a:lnSpc>
              <a:spcAft>
                <a:spcPts val="800"/>
              </a:spcAft>
              <a:buSzPct val="100000"/>
              <a:buChar char="•"/>
            </a:pPr>
            <a:r>
              <a:rPr lang="en-US" sz="1150" dirty="0">
                <a:solidFill>
                  <a:srgbClr val="1A1C22"/>
                </a:solidFill>
                <a:latin typeface="Yu Gothic" pitchFamily="34" charset="0"/>
                <a:ea typeface="Yu Gothic" pitchFamily="34" charset="-122"/>
                <a:cs typeface="Yu Gothic" pitchFamily="34" charset="-120"/>
              </a:rPr>
              <a:t>表彰・コメント・座談会を通じた、「学生の挑戦を応援する団体」としての強い印象づけ</a:t>
            </a:r>
            <a:endParaRPr lang="en-US" sz="1150" dirty="0"/>
          </a:p>
          <a:p>
            <a:pPr marL="127000" indent="-127000">
              <a:lnSpc>
                <a:spcPts val="1650"/>
              </a:lnSpc>
              <a:spcAft>
                <a:spcPts val="800"/>
              </a:spcAft>
              <a:buSzPct val="100000"/>
              <a:buChar char="•"/>
            </a:pPr>
            <a:r>
              <a:rPr lang="en-US" sz="1150" dirty="0">
                <a:solidFill>
                  <a:srgbClr val="1A1C22"/>
                </a:solidFill>
                <a:latin typeface="Yu Gothic" pitchFamily="34" charset="0"/>
                <a:ea typeface="Yu Gothic" pitchFamily="34" charset="-122"/>
                <a:cs typeface="Yu Gothic" pitchFamily="34" charset="-120"/>
              </a:rPr>
              <a:t>「◯◯企業賞」など企業名を冠した賞は、受賞団体の活動報告やSNS発信を通じて学生コミュニティに残ります</a:t>
            </a:r>
            <a:endParaRPr lang="en-US" sz="1150" dirty="0"/>
          </a:p>
        </p:txBody>
      </p:sp>
      <p:sp>
        <p:nvSpPr>
          <p:cNvPr id="12" name="Shape 10"/>
          <p:cNvSpPr/>
          <p:nvPr/>
        </p:nvSpPr>
        <p:spPr>
          <a:xfrm>
            <a:off x="8156448" y="1463040"/>
            <a:ext cx="3483864" cy="4343400"/>
          </a:xfrm>
          <a:prstGeom prst="roundRect">
            <a:avLst>
              <a:gd name="adj" fmla="val 2625"/>
            </a:avLst>
          </a:prstGeom>
          <a:solidFill>
            <a:srgbClr val="EEF3FC"/>
          </a:solidFill>
          <a:ln/>
        </p:spPr>
      </p:sp>
      <p:sp>
        <p:nvSpPr>
          <p:cNvPr id="13" name="Shape 11"/>
          <p:cNvSpPr/>
          <p:nvPr/>
        </p:nvSpPr>
        <p:spPr>
          <a:xfrm>
            <a:off x="8156448" y="1463040"/>
            <a:ext cx="3483864" cy="566928"/>
          </a:xfrm>
          <a:prstGeom prst="roundRect">
            <a:avLst>
              <a:gd name="adj" fmla="val 16129"/>
            </a:avLst>
          </a:prstGeom>
          <a:solidFill>
            <a:srgbClr val="1E2761"/>
          </a:solidFill>
          <a:ln/>
        </p:spPr>
      </p:sp>
      <p:sp>
        <p:nvSpPr>
          <p:cNvPr id="14" name="Text 12"/>
          <p:cNvSpPr txBox="1"/>
          <p:nvPr/>
        </p:nvSpPr>
        <p:spPr>
          <a:xfrm>
            <a:off x="8156448" y="1463040"/>
            <a:ext cx="3483864" cy="566928"/>
          </a:xfrm>
          <a:prstGeom prst="rect">
            <a:avLst/>
          </a:prstGeom>
          <a:noFill/>
          <a:ln/>
        </p:spPr>
        <p:txBody>
          <a:bodyPr wrap="square" lIns="0" tIns="0" rIns="0" bIns="0" rtlCol="0" anchor="ctr"/>
          <a:lstStyle/>
          <a:p>
            <a:pPr algn="ctr" indent="0" marL="0">
              <a:buNone/>
            </a:pPr>
            <a:r>
              <a:rPr lang="en-US" sz="1450" b="1" dirty="0">
                <a:solidFill>
                  <a:srgbClr val="FFFFFF"/>
                </a:solidFill>
                <a:latin typeface="Yu Gothic" pitchFamily="34" charset="0"/>
                <a:ea typeface="Yu Gothic" pitchFamily="34" charset="-122"/>
                <a:cs typeface="Yu Gothic" pitchFamily="34" charset="-120"/>
              </a:rPr>
              <a:t>次世代育成・社会貢献</a:t>
            </a:r>
            <a:endParaRPr lang="en-US" sz="1450" dirty="0"/>
          </a:p>
        </p:txBody>
      </p:sp>
      <p:sp>
        <p:nvSpPr>
          <p:cNvPr id="15" name="Text 13"/>
          <p:cNvSpPr txBox="1"/>
          <p:nvPr/>
        </p:nvSpPr>
        <p:spPr>
          <a:xfrm>
            <a:off x="8412480" y="2240280"/>
            <a:ext cx="2971800" cy="3383280"/>
          </a:xfrm>
          <a:prstGeom prst="rect">
            <a:avLst/>
          </a:prstGeom>
          <a:noFill/>
          <a:ln/>
        </p:spPr>
        <p:txBody>
          <a:bodyPr wrap="square" lIns="0" tIns="0" rIns="0" bIns="0" rtlCol="0" anchor="t"/>
          <a:lstStyle/>
          <a:p>
            <a:pPr marL="127000" indent="-127000">
              <a:lnSpc>
                <a:spcPts val="1650"/>
              </a:lnSpc>
              <a:spcAft>
                <a:spcPts val="800"/>
              </a:spcAft>
              <a:buSzPct val="100000"/>
              <a:buChar char="•"/>
            </a:pPr>
            <a:r>
              <a:rPr lang="en-US" sz="1150" dirty="0">
                <a:solidFill>
                  <a:srgbClr val="1A1C22"/>
                </a:solidFill>
                <a:latin typeface="Yu Gothic" pitchFamily="34" charset="0"/>
                <a:ea typeface="Yu Gothic" pitchFamily="34" charset="-122"/>
                <a:cs typeface="Yu Gothic" pitchFamily="34" charset="-120"/>
              </a:rPr>
              <a:t>ご協賛金は学生団体の活動資金として還元されます</a:t>
            </a:r>
            <a:endParaRPr lang="en-US" sz="1150" dirty="0"/>
          </a:p>
          <a:p>
            <a:pPr marL="127000" indent="-127000">
              <a:lnSpc>
                <a:spcPts val="1650"/>
              </a:lnSpc>
              <a:spcAft>
                <a:spcPts val="800"/>
              </a:spcAft>
              <a:buSzPct val="100000"/>
              <a:buChar char="•"/>
            </a:pPr>
            <a:r>
              <a:rPr lang="en-US" sz="1150" dirty="0">
                <a:solidFill>
                  <a:srgbClr val="1A1C22"/>
                </a:solidFill>
                <a:latin typeface="Yu Gothic" pitchFamily="34" charset="0"/>
                <a:ea typeface="Yu Gothic" pitchFamily="34" charset="-122"/>
                <a:cs typeface="Yu Gothic" pitchFamily="34" charset="-120"/>
              </a:rPr>
              <a:t>次世代リーダー育成への貢献として、社内外への発信にご活用いただけます</a:t>
            </a:r>
            <a:endParaRPr lang="en-US" sz="1150" dirty="0"/>
          </a:p>
        </p:txBody>
      </p:sp>
      <p:sp>
        <p:nvSpPr>
          <p:cNvPr id="16" name="Text 14"/>
          <p:cNvSpPr txBox="1"/>
          <p:nvPr/>
        </p:nvSpPr>
        <p:spPr>
          <a:xfrm>
            <a:off x="548640" y="6035040"/>
            <a:ext cx="11091672" cy="365760"/>
          </a:xfrm>
          <a:prstGeom prst="rect">
            <a:avLst/>
          </a:prstGeom>
          <a:noFill/>
          <a:ln/>
        </p:spPr>
        <p:txBody>
          <a:bodyPr wrap="square" lIns="0" tIns="0" rIns="0" bIns="0" rtlCol="0" anchor="ctr"/>
          <a:lstStyle/>
          <a:p>
            <a:pPr indent="0" marL="0">
              <a:buNone/>
            </a:pPr>
            <a:r>
              <a:rPr lang="en-US" sz="1100" dirty="0">
                <a:solidFill>
                  <a:srgbClr val="6B7280"/>
                </a:solidFill>
                <a:latin typeface="Yu Gothic" pitchFamily="34" charset="0"/>
                <a:ea typeface="Yu Gothic" pitchFamily="34" charset="-122"/>
                <a:cs typeface="Yu Gothic" pitchFamily="34" charset="-120"/>
              </a:rPr>
              <a:t>※大人数向けの合同説明会とは異なり、学生一人ひとりと深く対話できる設計です。接点の「数」だけでなく「濃さ」も重視しています。</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566928"/>
          </a:xfrm>
          <a:prstGeom prst="rect">
            <a:avLst/>
          </a:prstGeom>
          <a:noFill/>
          <a:ln/>
        </p:spPr>
        <p:txBody>
          <a:bodyPr wrap="square" lIns="0" tIns="0" rIns="0" bIns="0" rtlCol="0" anchor="ctr"/>
          <a:lstStyle/>
          <a:p>
            <a:pPr indent="0" marL="0">
              <a:buNone/>
            </a:pPr>
            <a:r>
              <a:rPr lang="en-US" sz="2700" b="1" dirty="0">
                <a:solidFill>
                  <a:srgbClr val="1E2761"/>
                </a:solidFill>
                <a:latin typeface="Yu Gothic" pitchFamily="34" charset="0"/>
                <a:ea typeface="Yu Gothic" pitchFamily="34" charset="-122"/>
                <a:cs typeface="Yu Gothic" pitchFamily="34" charset="-120"/>
              </a:rPr>
              <a:t>5. 当日の学生との接点</a:t>
            </a:r>
            <a:endParaRPr lang="en-US" sz="2700" dirty="0"/>
          </a:p>
        </p:txBody>
      </p:sp>
      <p:sp>
        <p:nvSpPr>
          <p:cNvPr id="3" name="Shape 1"/>
          <p:cNvSpPr/>
          <p:nvPr/>
        </p:nvSpPr>
        <p:spPr>
          <a:xfrm>
            <a:off x="548640" y="1463040"/>
            <a:ext cx="2834640" cy="1481328"/>
          </a:xfrm>
          <a:prstGeom prst="roundRect">
            <a:avLst>
              <a:gd name="adj" fmla="val 4938"/>
            </a:avLst>
          </a:prstGeom>
          <a:solidFill>
            <a:srgbClr val="1E2761"/>
          </a:solidFill>
          <a:ln/>
        </p:spPr>
      </p:sp>
      <p:sp>
        <p:nvSpPr>
          <p:cNvPr id="4" name="Text 2"/>
          <p:cNvSpPr txBox="1"/>
          <p:nvPr/>
        </p:nvSpPr>
        <p:spPr>
          <a:xfrm>
            <a:off x="777240" y="1463040"/>
            <a:ext cx="2468880" cy="1481328"/>
          </a:xfrm>
          <a:prstGeom prst="rect">
            <a:avLst/>
          </a:prstGeom>
          <a:noFill/>
          <a:ln/>
        </p:spPr>
        <p:txBody>
          <a:bodyPr wrap="square" lIns="0" tIns="0" rIns="0" bIns="0" rtlCol="0" anchor="ctr"/>
          <a:lstStyle/>
          <a:p>
            <a:pPr indent="0" marL="0">
              <a:lnSpc>
                <a:spcPts val="2100"/>
              </a:lnSpc>
              <a:buNone/>
            </a:pPr>
            <a:r>
              <a:rPr lang="en-US" sz="1500" b="1" dirty="0">
                <a:solidFill>
                  <a:srgbClr val="FFFFFF"/>
                </a:solidFill>
                <a:latin typeface="Yu Gothic" pitchFamily="34" charset="0"/>
                <a:ea typeface="Yu Gothic" pitchFamily="34" charset="-122"/>
                <a:cs typeface="Yu Gothic" pitchFamily="34" charset="-120"/>
              </a:rPr>
              <a:t>座談会（3枠・各30分）</a:t>
            </a:r>
            <a:endParaRPr lang="en-US" sz="1500" dirty="0"/>
          </a:p>
        </p:txBody>
      </p:sp>
      <p:sp>
        <p:nvSpPr>
          <p:cNvPr id="5" name="Text 3"/>
          <p:cNvSpPr txBox="1"/>
          <p:nvPr/>
        </p:nvSpPr>
        <p:spPr>
          <a:xfrm>
            <a:off x="3703320" y="1536192"/>
            <a:ext cx="7936992" cy="1481328"/>
          </a:xfrm>
          <a:prstGeom prst="rect">
            <a:avLst/>
          </a:prstGeom>
          <a:noFill/>
          <a:ln/>
        </p:spPr>
        <p:txBody>
          <a:bodyPr wrap="square" lIns="0" tIns="0" rIns="0" bIns="0" rtlCol="0" anchor="t"/>
          <a:lstStyle/>
          <a:p>
            <a:pPr marL="127000" indent="-127000">
              <a:lnSpc>
                <a:spcPts val="1750"/>
              </a:lnSpc>
              <a:spcAft>
                <a:spcPts val="600"/>
              </a:spcAft>
              <a:buSzPct val="100000"/>
              <a:buChar char="•"/>
            </a:pPr>
            <a:r>
              <a:rPr lang="en-US" sz="1200" dirty="0">
                <a:solidFill>
                  <a:srgbClr val="1A1C22"/>
                </a:solidFill>
                <a:latin typeface="Yu Gothic" pitchFamily="34" charset="0"/>
                <a:ea typeface="Yu Gothic" pitchFamily="34" charset="-122"/>
                <a:cs typeface="Yu Gothic" pitchFamily="34" charset="-120"/>
              </a:rPr>
              <a:t>テーマ別のテーブル制。学生が聞きたいテーブルを選んで着席（1テーブル学生5名程度）</a:t>
            </a:r>
            <a:endParaRPr lang="en-US" sz="1200" dirty="0"/>
          </a:p>
          <a:p>
            <a:pPr marL="127000" indent="-127000">
              <a:lnSpc>
                <a:spcPts val="1750"/>
              </a:lnSpc>
              <a:spcAft>
                <a:spcPts val="600"/>
              </a:spcAft>
              <a:buSzPct val="100000"/>
              <a:buChar char="•"/>
            </a:pPr>
            <a:r>
              <a:rPr lang="en-US" sz="1200" dirty="0">
                <a:solidFill>
                  <a:srgbClr val="1A1C22"/>
                </a:solidFill>
                <a:latin typeface="Yu Gothic" pitchFamily="34" charset="0"/>
                <a:ea typeface="Yu Gothic" pitchFamily="34" charset="-122"/>
                <a:cs typeface="Yu Gothic" pitchFamily="34" charset="-120"/>
              </a:rPr>
              <a:t>壇上からではなく、学生一人ひとりの想い・悩みに直接触れられる、最も距離の近い接点</a:t>
            </a:r>
            <a:endParaRPr lang="en-US" sz="1200" dirty="0"/>
          </a:p>
          <a:p>
            <a:pPr marL="127000" indent="-127000">
              <a:lnSpc>
                <a:spcPts val="1750"/>
              </a:lnSpc>
              <a:spcAft>
                <a:spcPts val="600"/>
              </a:spcAft>
              <a:buSzPct val="100000"/>
              <a:buChar char="•"/>
            </a:pPr>
            <a:r>
              <a:rPr lang="en-US" sz="1200" dirty="0">
                <a:solidFill>
                  <a:srgbClr val="1A1C22"/>
                </a:solidFill>
                <a:latin typeface="Yu Gothic" pitchFamily="34" charset="0"/>
                <a:ea typeface="Yu Gothic" pitchFamily="34" charset="-122"/>
                <a:cs typeface="Yu Gothic" pitchFamily="34" charset="-120"/>
              </a:rPr>
              <a:t>テーマは、ご協賛企業と登壇ゲストの顔ぶれを踏まえてイベント開催前に決定します</a:t>
            </a:r>
            <a:endParaRPr lang="en-US" sz="1200" dirty="0"/>
          </a:p>
        </p:txBody>
      </p:sp>
      <p:sp>
        <p:nvSpPr>
          <p:cNvPr id="6" name="Shape 4"/>
          <p:cNvSpPr/>
          <p:nvPr/>
        </p:nvSpPr>
        <p:spPr>
          <a:xfrm>
            <a:off x="548640" y="3236976"/>
            <a:ext cx="2834640" cy="1481328"/>
          </a:xfrm>
          <a:prstGeom prst="roundRect">
            <a:avLst>
              <a:gd name="adj" fmla="val 4938"/>
            </a:avLst>
          </a:prstGeom>
          <a:solidFill>
            <a:srgbClr val="1E2761"/>
          </a:solidFill>
          <a:ln/>
        </p:spPr>
      </p:sp>
      <p:sp>
        <p:nvSpPr>
          <p:cNvPr id="7" name="Text 5"/>
          <p:cNvSpPr txBox="1"/>
          <p:nvPr/>
        </p:nvSpPr>
        <p:spPr>
          <a:xfrm>
            <a:off x="777240" y="3236976"/>
            <a:ext cx="2468880" cy="1481328"/>
          </a:xfrm>
          <a:prstGeom prst="rect">
            <a:avLst/>
          </a:prstGeom>
          <a:noFill/>
          <a:ln/>
        </p:spPr>
        <p:txBody>
          <a:bodyPr wrap="square" lIns="0" tIns="0" rIns="0" bIns="0" rtlCol="0" anchor="ctr"/>
          <a:lstStyle/>
          <a:p>
            <a:pPr indent="0" marL="0">
              <a:lnSpc>
                <a:spcPts val="2100"/>
              </a:lnSpc>
              <a:buNone/>
            </a:pPr>
            <a:r>
              <a:rPr lang="en-US" sz="1500" b="1" dirty="0">
                <a:solidFill>
                  <a:srgbClr val="FFFFFF"/>
                </a:solidFill>
                <a:latin typeface="Yu Gothic" pitchFamily="34" charset="0"/>
                <a:ea typeface="Yu Gothic" pitchFamily="34" charset="-122"/>
                <a:cs typeface="Yu Gothic" pitchFamily="34" charset="-120"/>
              </a:rPr>
              <a:t>ピッチへのコメント・表彰</a:t>
            </a:r>
            <a:endParaRPr lang="en-US" sz="1500" dirty="0"/>
          </a:p>
        </p:txBody>
      </p:sp>
      <p:sp>
        <p:nvSpPr>
          <p:cNvPr id="8" name="Text 6"/>
          <p:cNvSpPr txBox="1"/>
          <p:nvPr/>
        </p:nvSpPr>
        <p:spPr>
          <a:xfrm>
            <a:off x="3703320" y="3310128"/>
            <a:ext cx="7936992" cy="1481328"/>
          </a:xfrm>
          <a:prstGeom prst="rect">
            <a:avLst/>
          </a:prstGeom>
          <a:noFill/>
          <a:ln/>
        </p:spPr>
        <p:txBody>
          <a:bodyPr wrap="square" lIns="0" tIns="0" rIns="0" bIns="0" rtlCol="0" anchor="t"/>
          <a:lstStyle/>
          <a:p>
            <a:pPr marL="127000" indent="-127000">
              <a:lnSpc>
                <a:spcPts val="1750"/>
              </a:lnSpc>
              <a:spcAft>
                <a:spcPts val="600"/>
              </a:spcAft>
              <a:buSzPct val="100000"/>
              <a:buChar char="•"/>
            </a:pPr>
            <a:r>
              <a:rPr lang="en-US" sz="1200" dirty="0">
                <a:solidFill>
                  <a:srgbClr val="1A1C22"/>
                </a:solidFill>
                <a:latin typeface="Yu Gothic" pitchFamily="34" charset="0"/>
                <a:ea typeface="Yu Gothic" pitchFamily="34" charset="-122"/>
                <a:cs typeface="Yu Gothic" pitchFamily="34" charset="-120"/>
              </a:rPr>
              <a:t>各学生団体が半年間の活動と次の半年の計画を発表（前半・後半の2部制）</a:t>
            </a:r>
            <a:endParaRPr lang="en-US" sz="1200" dirty="0"/>
          </a:p>
          <a:p>
            <a:pPr marL="127000" indent="-127000">
              <a:lnSpc>
                <a:spcPts val="1750"/>
              </a:lnSpc>
              <a:spcAft>
                <a:spcPts val="600"/>
              </a:spcAft>
              <a:buSzPct val="100000"/>
              <a:buChar char="•"/>
            </a:pPr>
            <a:r>
              <a:rPr lang="en-US" sz="1200" dirty="0">
                <a:solidFill>
                  <a:srgbClr val="1A1C22"/>
                </a:solidFill>
                <a:latin typeface="Yu Gothic" pitchFamily="34" charset="0"/>
                <a:ea typeface="Yu Gothic" pitchFamily="34" charset="-122"/>
                <a:cs typeface="Yu Gothic" pitchFamily="34" charset="-120"/>
              </a:rPr>
              <a:t>各部の総括コメントと、「◯◯企業賞」のような企業名を冠した賞での表彰（表彰スポンサー）</a:t>
            </a:r>
            <a:endParaRPr lang="en-US" sz="1200" dirty="0"/>
          </a:p>
          <a:p>
            <a:pPr marL="127000" indent="-127000">
              <a:lnSpc>
                <a:spcPts val="1750"/>
              </a:lnSpc>
              <a:spcAft>
                <a:spcPts val="600"/>
              </a:spcAft>
              <a:buSzPct val="100000"/>
              <a:buChar char="•"/>
            </a:pPr>
            <a:r>
              <a:rPr lang="en-US" sz="1200" dirty="0">
                <a:solidFill>
                  <a:srgbClr val="1A1C22"/>
                </a:solidFill>
                <a:latin typeface="Yu Gothic" pitchFamily="34" charset="0"/>
                <a:ea typeface="Yu Gothic" pitchFamily="34" charset="-122"/>
                <a:cs typeface="Yu Gothic" pitchFamily="34" charset="-120"/>
              </a:rPr>
              <a:t>学生にとって、企業からの評価・コメントは記憶に残る最大のフィードバックです</a:t>
            </a:r>
            <a:endParaRPr lang="en-US" sz="1200" dirty="0"/>
          </a:p>
        </p:txBody>
      </p:sp>
      <p:sp>
        <p:nvSpPr>
          <p:cNvPr id="9" name="Shape 7"/>
          <p:cNvSpPr/>
          <p:nvPr/>
        </p:nvSpPr>
        <p:spPr>
          <a:xfrm>
            <a:off x="548640" y="5010912"/>
            <a:ext cx="2834640" cy="1170432"/>
          </a:xfrm>
          <a:prstGeom prst="roundRect">
            <a:avLst>
              <a:gd name="adj" fmla="val 6250"/>
            </a:avLst>
          </a:prstGeom>
          <a:solidFill>
            <a:srgbClr val="1E2761"/>
          </a:solidFill>
          <a:ln/>
        </p:spPr>
      </p:sp>
      <p:sp>
        <p:nvSpPr>
          <p:cNvPr id="10" name="Text 8"/>
          <p:cNvSpPr txBox="1"/>
          <p:nvPr/>
        </p:nvSpPr>
        <p:spPr>
          <a:xfrm>
            <a:off x="777240" y="5010912"/>
            <a:ext cx="2468880" cy="1170432"/>
          </a:xfrm>
          <a:prstGeom prst="rect">
            <a:avLst/>
          </a:prstGeom>
          <a:noFill/>
          <a:ln/>
        </p:spPr>
        <p:txBody>
          <a:bodyPr wrap="square" lIns="0" tIns="0" rIns="0" bIns="0" rtlCol="0" anchor="ctr"/>
          <a:lstStyle/>
          <a:p>
            <a:pPr indent="0" marL="0">
              <a:lnSpc>
                <a:spcPts val="2100"/>
              </a:lnSpc>
              <a:buNone/>
            </a:pPr>
            <a:r>
              <a:rPr lang="en-US" sz="1500" b="1" dirty="0">
                <a:solidFill>
                  <a:srgbClr val="FFFFFF"/>
                </a:solidFill>
                <a:latin typeface="Yu Gothic" pitchFamily="34" charset="0"/>
                <a:ea typeface="Yu Gothic" pitchFamily="34" charset="-122"/>
                <a:cs typeface="Yu Gothic" pitchFamily="34" charset="-120"/>
              </a:rPr>
              <a:t>懇親会（50分）</a:t>
            </a:r>
            <a:endParaRPr lang="en-US" sz="1500" dirty="0"/>
          </a:p>
        </p:txBody>
      </p:sp>
      <p:sp>
        <p:nvSpPr>
          <p:cNvPr id="11" name="Text 9"/>
          <p:cNvSpPr txBox="1"/>
          <p:nvPr/>
        </p:nvSpPr>
        <p:spPr>
          <a:xfrm>
            <a:off x="3703320" y="5084064"/>
            <a:ext cx="7936992" cy="1170432"/>
          </a:xfrm>
          <a:prstGeom prst="rect">
            <a:avLst/>
          </a:prstGeom>
          <a:noFill/>
          <a:ln/>
        </p:spPr>
        <p:txBody>
          <a:bodyPr wrap="square" lIns="0" tIns="0" rIns="0" bIns="0" rtlCol="0" anchor="t"/>
          <a:lstStyle/>
          <a:p>
            <a:pPr marL="127000" indent="-127000">
              <a:lnSpc>
                <a:spcPts val="1750"/>
              </a:lnSpc>
              <a:spcAft>
                <a:spcPts val="600"/>
              </a:spcAft>
              <a:buSzPct val="100000"/>
              <a:buChar char="•"/>
            </a:pPr>
            <a:r>
              <a:rPr lang="en-US" sz="1200" dirty="0">
                <a:solidFill>
                  <a:srgbClr val="1A1C22"/>
                </a:solidFill>
                <a:latin typeface="Yu Gothic" pitchFamily="34" charset="0"/>
                <a:ea typeface="Yu Gothic" pitchFamily="34" charset="-122"/>
                <a:cs typeface="Yu Gothic" pitchFamily="34" charset="-120"/>
              </a:rPr>
              <a:t>インターン・採用のご案内の機会あり。興味を持った学生と直接お話しいただけます</a:t>
            </a:r>
            <a:endParaRPr lang="en-US" sz="1200" dirty="0"/>
          </a:p>
          <a:p>
            <a:pPr marL="127000" indent="-127000">
              <a:lnSpc>
                <a:spcPts val="1750"/>
              </a:lnSpc>
              <a:spcAft>
                <a:spcPts val="600"/>
              </a:spcAft>
              <a:buSzPct val="100000"/>
              <a:buChar char="•"/>
            </a:pPr>
            <a:r>
              <a:rPr lang="en-US" sz="1200" dirty="0">
                <a:solidFill>
                  <a:srgbClr val="1A1C22"/>
                </a:solidFill>
                <a:latin typeface="Yu Gothic" pitchFamily="34" charset="0"/>
                <a:ea typeface="Yu Gothic" pitchFamily="34" charset="-122"/>
                <a:cs typeface="Yu Gothic" pitchFamily="34" charset="-120"/>
              </a:rPr>
              <a:t>イベント終了後のチラシ配布・学生向けメール送付は、どのスポンサー枠でも可能です</a:t>
            </a:r>
            <a:endParaRPr lang="en-US" sz="1200" dirty="0"/>
          </a:p>
        </p:txBody>
      </p:sp>
      <p:sp>
        <p:nvSpPr>
          <p:cNvPr id="12" name="Text 10"/>
          <p:cNvSpPr txBox="1"/>
          <p:nvPr/>
        </p:nvSpPr>
        <p:spPr>
          <a:xfrm>
            <a:off x="548640" y="6172200"/>
            <a:ext cx="11091672" cy="320040"/>
          </a:xfrm>
          <a:prstGeom prst="rect">
            <a:avLst/>
          </a:prstGeom>
          <a:noFill/>
          <a:ln/>
        </p:spPr>
        <p:txBody>
          <a:bodyPr wrap="square" lIns="0" tIns="0" rIns="0" bIns="0" rtlCol="0" anchor="ctr"/>
          <a:lstStyle/>
          <a:p>
            <a:pPr indent="0" marL="0">
              <a:buNone/>
            </a:pPr>
            <a:r>
              <a:rPr lang="en-US" sz="1100" dirty="0">
                <a:solidFill>
                  <a:srgbClr val="6B7280"/>
                </a:solidFill>
                <a:latin typeface="Yu Gothic" pitchFamily="34" charset="0"/>
                <a:ea typeface="Yu Gothic" pitchFamily="34" charset="-122"/>
                <a:cs typeface="Yu Gothic" pitchFamily="34" charset="-120"/>
              </a:rPr>
              <a:t>※パネルディスカッションへのご登壇はございません（ご負担の少ない形でご参加いただけます）</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566928"/>
          </a:xfrm>
          <a:prstGeom prst="rect">
            <a:avLst/>
          </a:prstGeom>
          <a:noFill/>
          <a:ln/>
        </p:spPr>
        <p:txBody>
          <a:bodyPr wrap="square" lIns="0" tIns="0" rIns="0" bIns="0" rtlCol="0" anchor="ctr"/>
          <a:lstStyle/>
          <a:p>
            <a:pPr indent="0" marL="0">
              <a:buNone/>
            </a:pPr>
            <a:r>
              <a:rPr lang="en-US" sz="2700" b="1" dirty="0">
                <a:solidFill>
                  <a:srgbClr val="1E2761"/>
                </a:solidFill>
                <a:latin typeface="Yu Gothic" pitchFamily="34" charset="0"/>
                <a:ea typeface="Yu Gothic" pitchFamily="34" charset="-122"/>
                <a:cs typeface="Yu Gothic" pitchFamily="34" charset="-120"/>
              </a:rPr>
              <a:t>6. 当日スケジュール</a:t>
            </a:r>
            <a:endParaRPr lang="en-US" sz="2700" dirty="0"/>
          </a:p>
        </p:txBody>
      </p:sp>
      <p:sp>
        <p:nvSpPr>
          <p:cNvPr id="3" name="Text 1"/>
          <p:cNvSpPr txBox="1"/>
          <p:nvPr/>
        </p:nvSpPr>
        <p:spPr>
          <a:xfrm>
            <a:off x="548640" y="932688"/>
            <a:ext cx="11091672" cy="310896"/>
          </a:xfrm>
          <a:prstGeom prst="rect">
            <a:avLst/>
          </a:prstGeom>
          <a:noFill/>
          <a:ln/>
        </p:spPr>
        <p:txBody>
          <a:bodyPr wrap="square" lIns="0" tIns="0" rIns="0" bIns="0" rtlCol="0" anchor="ctr"/>
          <a:lstStyle/>
          <a:p>
            <a:pPr indent="0" marL="0">
              <a:buNone/>
            </a:pPr>
            <a:r>
              <a:rPr lang="en-US" sz="1250" dirty="0">
                <a:solidFill>
                  <a:srgbClr val="6B7280"/>
                </a:solidFill>
                <a:latin typeface="Yu Gothic" pitchFamily="34" charset="0"/>
                <a:ea typeface="Yu Gothic" pitchFamily="34" charset="-122"/>
                <a:cs typeface="Yu Gothic" pitchFamily="34" charset="-120"/>
              </a:rPr>
              <a:t>★＝スポンサー企業の接点となる時間帯（カッコ内は主な対象枠）</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389888"/>
          <a:ext cx="11091672" cy="914400"/>
        </p:xfrm>
        <a:graphic>
          <a:graphicData uri="http://schemas.openxmlformats.org/drawingml/2006/table">
            <a:tbl>
              <a:tblPr/>
              <a:tblGrid>
                <a:gridCol w="1920240"/>
                <a:gridCol w="9171432"/>
              </a:tblGrid>
              <a:tr h="306324">
                <a:tc>
                  <a:txBody>
                    <a:bodyPr/>
                    <a:lstStyle/>
                    <a:p>
                      <a:pPr algn="ctr" indent="0" marL="0">
                        <a:buNone/>
                      </a:pPr>
                      <a:r>
                        <a:rPr lang="en-US" sz="1050" dirty="0">
                          <a:solidFill>
                            <a:srgbClr val="1E2761"/>
                          </a:solidFill>
                          <a:latin typeface="Yu Gothic" pitchFamily="34" charset="0"/>
                          <a:ea typeface="Yu Gothic" pitchFamily="34" charset="-122"/>
                          <a:cs typeface="Yu Gothic" pitchFamily="34" charset="-120"/>
                        </a:rPr>
                        <a:t>12:00–13:00</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受付</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r>
              <a:tr h="306324">
                <a:tc>
                  <a:txBody>
                    <a:bodyPr/>
                    <a:lstStyle/>
                    <a:p>
                      <a:pPr algn="ctr" indent="0" marL="0">
                        <a:buNone/>
                      </a:pPr>
                      <a:r>
                        <a:rPr lang="en-US" sz="1050" dirty="0">
                          <a:solidFill>
                            <a:srgbClr val="1E2761"/>
                          </a:solidFill>
                          <a:latin typeface="Yu Gothic" pitchFamily="34" charset="0"/>
                          <a:ea typeface="Yu Gothic" pitchFamily="34" charset="-122"/>
                          <a:cs typeface="Yu Gothic" pitchFamily="34" charset="-120"/>
                        </a:rPr>
                        <a:t>13:00–13:15</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開会挨拶</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r>
              <a:tr h="306324">
                <a:tc>
                  <a:txBody>
                    <a:bodyPr/>
                    <a:lstStyle/>
                    <a:p>
                      <a:pPr algn="ctr" indent="0" marL="0">
                        <a:buNone/>
                      </a:pPr>
                      <a:r>
                        <a:rPr lang="en-US" sz="1050" dirty="0">
                          <a:solidFill>
                            <a:srgbClr val="1E2761"/>
                          </a:solidFill>
                          <a:latin typeface="Yu Gothic" pitchFamily="34" charset="0"/>
                          <a:ea typeface="Yu Gothic" pitchFamily="34" charset="-122"/>
                          <a:cs typeface="Yu Gothic" pitchFamily="34" charset="-120"/>
                        </a:rPr>
                        <a:t>13:15–13:30</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メインスポンサー紹介</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r>
              <a:tr h="306324">
                <a:tc>
                  <a:txBody>
                    <a:bodyPr/>
                    <a:lstStyle/>
                    <a:p>
                      <a:pPr algn="ctr" indent="0" marL="0">
                        <a:buNone/>
                      </a:pPr>
                      <a:r>
                        <a:rPr lang="en-US" sz="1050" dirty="0">
                          <a:solidFill>
                            <a:srgbClr val="1E2761"/>
                          </a:solidFill>
                          <a:latin typeface="Yu Gothic" pitchFamily="34" charset="0"/>
                          <a:ea typeface="Yu Gothic" pitchFamily="34" charset="-122"/>
                          <a:cs typeface="Yu Gothic" pitchFamily="34" charset="-120"/>
                        </a:rPr>
                        <a:t>13:30–14:10</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パネルディスカッション1（社会起業家セッション）</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r>
              <a:tr h="306324">
                <a:tc>
                  <a:txBody>
                    <a:bodyPr/>
                    <a:lstStyle/>
                    <a:p>
                      <a:pPr algn="ctr" indent="0" marL="0">
                        <a:buNone/>
                      </a:pPr>
                      <a:r>
                        <a:rPr lang="en-US" sz="1050" b="1" dirty="0">
                          <a:solidFill>
                            <a:srgbClr val="1E2761"/>
                          </a:solidFill>
                          <a:latin typeface="Yu Gothic" pitchFamily="34" charset="0"/>
                          <a:ea typeface="Yu Gothic" pitchFamily="34" charset="-122"/>
                          <a:cs typeface="Yu Gothic" pitchFamily="34" charset="-120"/>
                        </a:rPr>
                        <a:t>★14:10–14:20</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CADCFC"/>
                    </a:solidFill>
                  </a:tcPr>
                </a:tc>
                <a:tc>
                  <a:txBody>
                    <a:bodyPr/>
                    <a:lstStyle/>
                    <a:p>
                      <a:pPr indent="0" marL="0">
                        <a:buNone/>
                      </a:pPr>
                      <a:r>
                        <a:rPr lang="en-US" sz="1050" b="1" dirty="0">
                          <a:solidFill>
                            <a:srgbClr val="1E2761"/>
                          </a:solidFill>
                          <a:latin typeface="Yu Gothic" pitchFamily="34" charset="0"/>
                          <a:ea typeface="Yu Gothic" pitchFamily="34" charset="-122"/>
                          <a:cs typeface="Yu Gothic" pitchFamily="34" charset="-120"/>
                        </a:rPr>
                        <a:t>座談会スポンサーからひとこと　★企業紹介の機会（座談会スポンサー）</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CADCFC"/>
                    </a:solidFill>
                  </a:tcPr>
                </a:tc>
              </a:tr>
              <a:tr h="306324">
                <a:tc>
                  <a:txBody>
                    <a:bodyPr/>
                    <a:lstStyle/>
                    <a:p>
                      <a:pPr algn="ctr" indent="0" marL="0">
                        <a:buNone/>
                      </a:pPr>
                      <a:r>
                        <a:rPr lang="en-US" sz="1050" b="1" dirty="0">
                          <a:solidFill>
                            <a:srgbClr val="1E2761"/>
                          </a:solidFill>
                          <a:latin typeface="Yu Gothic" pitchFamily="34" charset="0"/>
                          <a:ea typeface="Yu Gothic" pitchFamily="34" charset="-122"/>
                          <a:cs typeface="Yu Gothic" pitchFamily="34" charset="-120"/>
                        </a:rPr>
                        <a:t>★14:20–14:50</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CADCFC"/>
                    </a:solidFill>
                  </a:tcPr>
                </a:tc>
                <a:tc>
                  <a:txBody>
                    <a:bodyPr/>
                    <a:lstStyle/>
                    <a:p>
                      <a:pPr indent="0" marL="0">
                        <a:buNone/>
                      </a:pPr>
                      <a:r>
                        <a:rPr lang="en-US" sz="1050" b="1" dirty="0">
                          <a:solidFill>
                            <a:srgbClr val="1E2761"/>
                          </a:solidFill>
                          <a:latin typeface="Yu Gothic" pitchFamily="34" charset="0"/>
                          <a:ea typeface="Yu Gothic" pitchFamily="34" charset="-122"/>
                          <a:cs typeface="Yu Gothic" pitchFamily="34" charset="-120"/>
                        </a:rPr>
                        <a:t>座談会1　★学生との対話・1回目（座談会スポンサー）</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CADCFC"/>
                    </a:solidFill>
                  </a:tcPr>
                </a:tc>
              </a:tr>
              <a:tr h="306324">
                <a:tc>
                  <a:txBody>
                    <a:bodyPr/>
                    <a:lstStyle/>
                    <a:p>
                      <a:pPr algn="ctr" indent="0" marL="0">
                        <a:buNone/>
                      </a:pPr>
                      <a:r>
                        <a:rPr lang="en-US" sz="1050" b="1" dirty="0">
                          <a:solidFill>
                            <a:srgbClr val="1E2761"/>
                          </a:solidFill>
                          <a:latin typeface="Yu Gothic" pitchFamily="34" charset="0"/>
                          <a:ea typeface="Yu Gothic" pitchFamily="34" charset="-122"/>
                          <a:cs typeface="Yu Gothic" pitchFamily="34" charset="-120"/>
                        </a:rPr>
                        <a:t>★14:50–15:30</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CADCFC"/>
                    </a:solidFill>
                  </a:tcPr>
                </a:tc>
                <a:tc>
                  <a:txBody>
                    <a:bodyPr/>
                    <a:lstStyle/>
                    <a:p>
                      <a:pPr indent="0" marL="0">
                        <a:buNone/>
                      </a:pPr>
                      <a:r>
                        <a:rPr lang="en-US" sz="1050" b="1" dirty="0">
                          <a:solidFill>
                            <a:srgbClr val="1E2761"/>
                          </a:solidFill>
                          <a:latin typeface="Yu Gothic" pitchFamily="34" charset="0"/>
                          <a:ea typeface="Yu Gothic" pitchFamily="34" charset="-122"/>
                          <a:cs typeface="Yu Gothic" pitchFamily="34" charset="-120"/>
                        </a:rPr>
                        <a:t>ピッチ1（5団体発表→総括）　★総括コメント（表彰スポンサー）</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CADCFC"/>
                    </a:solidFill>
                  </a:tcPr>
                </a:tc>
              </a:tr>
              <a:tr h="306324">
                <a:tc>
                  <a:txBody>
                    <a:bodyPr/>
                    <a:lstStyle/>
                    <a:p>
                      <a:pPr algn="ctr" indent="0" marL="0">
                        <a:buNone/>
                      </a:pPr>
                      <a:r>
                        <a:rPr lang="en-US" sz="1050" dirty="0">
                          <a:solidFill>
                            <a:srgbClr val="1E2761"/>
                          </a:solidFill>
                          <a:latin typeface="Yu Gothic" pitchFamily="34" charset="0"/>
                          <a:ea typeface="Yu Gothic" pitchFamily="34" charset="-122"/>
                          <a:cs typeface="Yu Gothic" pitchFamily="34" charset="-120"/>
                        </a:rPr>
                        <a:t>15:30–15:40</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休憩</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r>
              <a:tr h="306324">
                <a:tc>
                  <a:txBody>
                    <a:bodyPr/>
                    <a:lstStyle/>
                    <a:p>
                      <a:pPr algn="ctr" indent="0" marL="0">
                        <a:buNone/>
                      </a:pPr>
                      <a:r>
                        <a:rPr lang="en-US" sz="1050" b="1" dirty="0">
                          <a:solidFill>
                            <a:srgbClr val="1E2761"/>
                          </a:solidFill>
                          <a:latin typeface="Yu Gothic" pitchFamily="34" charset="0"/>
                          <a:ea typeface="Yu Gothic" pitchFamily="34" charset="-122"/>
                          <a:cs typeface="Yu Gothic" pitchFamily="34" charset="-120"/>
                        </a:rPr>
                        <a:t>★15:40–16:20</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CADCFC"/>
                    </a:solidFill>
                  </a:tcPr>
                </a:tc>
                <a:tc>
                  <a:txBody>
                    <a:bodyPr/>
                    <a:lstStyle/>
                    <a:p>
                      <a:pPr indent="0" marL="0">
                        <a:buNone/>
                      </a:pPr>
                      <a:r>
                        <a:rPr lang="en-US" sz="1050" b="1" dirty="0">
                          <a:solidFill>
                            <a:srgbClr val="1E2761"/>
                          </a:solidFill>
                          <a:latin typeface="Yu Gothic" pitchFamily="34" charset="0"/>
                          <a:ea typeface="Yu Gothic" pitchFamily="34" charset="-122"/>
                          <a:cs typeface="Yu Gothic" pitchFamily="34" charset="-120"/>
                        </a:rPr>
                        <a:t>ピッチ2（5団体発表→総括）　★総括コメント（表彰スポンサー）</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CADCFC"/>
                    </a:solidFill>
                  </a:tcPr>
                </a:tc>
              </a:tr>
              <a:tr h="306324">
                <a:tc>
                  <a:txBody>
                    <a:bodyPr/>
                    <a:lstStyle/>
                    <a:p>
                      <a:pPr algn="ctr" indent="0" marL="0">
                        <a:buNone/>
                      </a:pPr>
                      <a:r>
                        <a:rPr lang="en-US" sz="1050" dirty="0">
                          <a:solidFill>
                            <a:srgbClr val="1E2761"/>
                          </a:solidFill>
                          <a:latin typeface="Yu Gothic" pitchFamily="34" charset="0"/>
                          <a:ea typeface="Yu Gothic" pitchFamily="34" charset="-122"/>
                          <a:cs typeface="Yu Gothic" pitchFamily="34" charset="-120"/>
                        </a:rPr>
                        <a:t>16:20–16:30</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休憩</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r>
              <a:tr h="306324">
                <a:tc>
                  <a:txBody>
                    <a:bodyPr/>
                    <a:lstStyle/>
                    <a:p>
                      <a:pPr algn="ctr" indent="0" marL="0">
                        <a:buNone/>
                      </a:pPr>
                      <a:r>
                        <a:rPr lang="en-US" sz="1050" dirty="0">
                          <a:solidFill>
                            <a:srgbClr val="1E2761"/>
                          </a:solidFill>
                          <a:latin typeface="Yu Gothic" pitchFamily="34" charset="0"/>
                          <a:ea typeface="Yu Gothic" pitchFamily="34" charset="-122"/>
                          <a:cs typeface="Yu Gothic" pitchFamily="34" charset="-120"/>
                        </a:rPr>
                        <a:t>16:30–17:10</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パネルディスカッション2（若手・学生団体出身起業家などのセッション）</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r>
              <a:tr h="306324">
                <a:tc>
                  <a:txBody>
                    <a:bodyPr/>
                    <a:lstStyle/>
                    <a:p>
                      <a:pPr algn="ctr" indent="0" marL="0">
                        <a:buNone/>
                      </a:pPr>
                      <a:r>
                        <a:rPr lang="en-US" sz="1050" b="1" dirty="0">
                          <a:solidFill>
                            <a:srgbClr val="1E2761"/>
                          </a:solidFill>
                          <a:latin typeface="Yu Gothic" pitchFamily="34" charset="0"/>
                          <a:ea typeface="Yu Gothic" pitchFamily="34" charset="-122"/>
                          <a:cs typeface="Yu Gothic" pitchFamily="34" charset="-120"/>
                        </a:rPr>
                        <a:t>★17:10–17:40</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CADCFC"/>
                    </a:solidFill>
                  </a:tcPr>
                </a:tc>
                <a:tc>
                  <a:txBody>
                    <a:bodyPr/>
                    <a:lstStyle/>
                    <a:p>
                      <a:pPr indent="0" marL="0">
                        <a:buNone/>
                      </a:pPr>
                      <a:r>
                        <a:rPr lang="en-US" sz="1050" b="1" dirty="0">
                          <a:solidFill>
                            <a:srgbClr val="1E2761"/>
                          </a:solidFill>
                          <a:latin typeface="Yu Gothic" pitchFamily="34" charset="0"/>
                          <a:ea typeface="Yu Gothic" pitchFamily="34" charset="-122"/>
                          <a:cs typeface="Yu Gothic" pitchFamily="34" charset="-120"/>
                        </a:rPr>
                        <a:t>座談会2　★学生との対話・2回目（座談会スポンサー）</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CADCFC"/>
                    </a:solidFill>
                  </a:tcPr>
                </a:tc>
              </a:tr>
              <a:tr h="306324">
                <a:tc>
                  <a:txBody>
                    <a:bodyPr/>
                    <a:lstStyle/>
                    <a:p>
                      <a:pPr algn="ctr" indent="0" marL="0">
                        <a:buNone/>
                      </a:pPr>
                      <a:r>
                        <a:rPr lang="en-US" sz="1050" b="1" dirty="0">
                          <a:solidFill>
                            <a:srgbClr val="1E2761"/>
                          </a:solidFill>
                          <a:latin typeface="Yu Gothic" pitchFamily="34" charset="0"/>
                          <a:ea typeface="Yu Gothic" pitchFamily="34" charset="-122"/>
                          <a:cs typeface="Yu Gothic" pitchFamily="34" charset="-120"/>
                        </a:rPr>
                        <a:t>★17:40–17:55</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CADCFC"/>
                    </a:solidFill>
                  </a:tcPr>
                </a:tc>
                <a:tc>
                  <a:txBody>
                    <a:bodyPr/>
                    <a:lstStyle/>
                    <a:p>
                      <a:pPr indent="0" marL="0">
                        <a:buNone/>
                      </a:pPr>
                      <a:r>
                        <a:rPr lang="en-US" sz="1050" b="1" dirty="0">
                          <a:solidFill>
                            <a:srgbClr val="1E2761"/>
                          </a:solidFill>
                          <a:latin typeface="Yu Gothic" pitchFamily="34" charset="0"/>
                          <a:ea typeface="Yu Gothic" pitchFamily="34" charset="-122"/>
                          <a:cs typeface="Yu Gothic" pitchFamily="34" charset="-120"/>
                        </a:rPr>
                        <a:t>表彰式　★企業賞の表彰（表彰スポンサー）</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CADCFC"/>
                    </a:solidFill>
                  </a:tcPr>
                </a:tc>
              </a:tr>
              <a:tr h="306324">
                <a:tc>
                  <a:txBody>
                    <a:bodyPr/>
                    <a:lstStyle/>
                    <a:p>
                      <a:pPr algn="ctr" indent="0" marL="0">
                        <a:buNone/>
                      </a:pPr>
                      <a:r>
                        <a:rPr lang="en-US" sz="1050" b="1" dirty="0">
                          <a:solidFill>
                            <a:srgbClr val="1E2761"/>
                          </a:solidFill>
                          <a:latin typeface="Yu Gothic" pitchFamily="34" charset="0"/>
                          <a:ea typeface="Yu Gothic" pitchFamily="34" charset="-122"/>
                          <a:cs typeface="Yu Gothic" pitchFamily="34" charset="-120"/>
                        </a:rPr>
                        <a:t>★17:55–18:25</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CADCFC"/>
                    </a:solidFill>
                  </a:tcPr>
                </a:tc>
                <a:tc>
                  <a:txBody>
                    <a:bodyPr/>
                    <a:lstStyle/>
                    <a:p>
                      <a:pPr indent="0" marL="0">
                        <a:buNone/>
                      </a:pPr>
                      <a:r>
                        <a:rPr lang="en-US" sz="1050" b="1" dirty="0">
                          <a:solidFill>
                            <a:srgbClr val="1E2761"/>
                          </a:solidFill>
                          <a:latin typeface="Yu Gothic" pitchFamily="34" charset="0"/>
                          <a:ea typeface="Yu Gothic" pitchFamily="34" charset="-122"/>
                          <a:cs typeface="Yu Gothic" pitchFamily="34" charset="-120"/>
                        </a:rPr>
                        <a:t>座談会3　★学生との対話・3回目（座談会スポンサー）</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CADCFC"/>
                    </a:solidFill>
                  </a:tcPr>
                </a:tc>
              </a:tr>
              <a:tr h="306324">
                <a:tc>
                  <a:txBody>
                    <a:bodyPr/>
                    <a:lstStyle/>
                    <a:p>
                      <a:pPr algn="ctr" indent="0" marL="0">
                        <a:buNone/>
                      </a:pPr>
                      <a:r>
                        <a:rPr lang="en-US" sz="1050" dirty="0">
                          <a:solidFill>
                            <a:srgbClr val="1E2761"/>
                          </a:solidFill>
                          <a:latin typeface="Yu Gothic" pitchFamily="34" charset="0"/>
                          <a:ea typeface="Yu Gothic" pitchFamily="34" charset="-122"/>
                          <a:cs typeface="Yu Gothic" pitchFamily="34" charset="-120"/>
                        </a:rPr>
                        <a:t>18:25–18:40</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閉会挨拶</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r>
              <a:tr h="306324">
                <a:tc>
                  <a:txBody>
                    <a:bodyPr/>
                    <a:lstStyle/>
                    <a:p>
                      <a:pPr algn="ctr" indent="0" marL="0">
                        <a:buNone/>
                      </a:pPr>
                      <a:r>
                        <a:rPr lang="en-US" sz="1050" b="1" dirty="0">
                          <a:solidFill>
                            <a:srgbClr val="1E2761"/>
                          </a:solidFill>
                          <a:latin typeface="Yu Gothic" pitchFamily="34" charset="0"/>
                          <a:ea typeface="Yu Gothic" pitchFamily="34" charset="-122"/>
                          <a:cs typeface="Yu Gothic" pitchFamily="34" charset="-120"/>
                        </a:rPr>
                        <a:t>★18:40–19:30</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CADCFC"/>
                    </a:solidFill>
                  </a:tcPr>
                </a:tc>
                <a:tc>
                  <a:txBody>
                    <a:bodyPr/>
                    <a:lstStyle/>
                    <a:p>
                      <a:pPr indent="0" marL="0">
                        <a:buNone/>
                      </a:pPr>
                      <a:r>
                        <a:rPr lang="en-US" sz="1050" b="1" dirty="0">
                          <a:solidFill>
                            <a:srgbClr val="1E2761"/>
                          </a:solidFill>
                          <a:latin typeface="Yu Gothic" pitchFamily="34" charset="0"/>
                          <a:ea typeface="Yu Gothic" pitchFamily="34" charset="-122"/>
                          <a:cs typeface="Yu Gothic" pitchFamily="34" charset="-120"/>
                        </a:rPr>
                        <a:t>懇親会　★インターン・採用のご案内／学生との自由交流（各スポンサー）</a:t>
                      </a:r>
                      <a:endParaRPr lang="en-US" sz="1050" dirty="0">
                        <a:latin typeface="Yu Gothic" charset="0"/>
                        <a:ea typeface="Yu Gothic" charset="0"/>
                        <a:cs typeface="Yu Gothic" charset="0"/>
                      </a:endParaRPr>
                    </a:p>
                  </a:txBody>
                  <a:tcPr marL="73152" marR="73152" marT="27432" marB="27432"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CADCFC"/>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566928"/>
          </a:xfrm>
          <a:prstGeom prst="rect">
            <a:avLst/>
          </a:prstGeom>
          <a:noFill/>
          <a:ln/>
        </p:spPr>
        <p:txBody>
          <a:bodyPr wrap="square" lIns="0" tIns="0" rIns="0" bIns="0" rtlCol="0" anchor="ctr"/>
          <a:lstStyle/>
          <a:p>
            <a:pPr indent="0" marL="0">
              <a:buNone/>
            </a:pPr>
            <a:r>
              <a:rPr lang="en-US" sz="2700" b="1" dirty="0">
                <a:solidFill>
                  <a:srgbClr val="1E2761"/>
                </a:solidFill>
                <a:latin typeface="Yu Gothic" pitchFamily="34" charset="0"/>
                <a:ea typeface="Yu Gothic" pitchFamily="34" charset="-122"/>
                <a:cs typeface="Yu Gothic" pitchFamily="34" charset="-120"/>
              </a:rPr>
              <a:t>7. ご協賛メニュー（3つのスポンサー枠）</a:t>
            </a:r>
            <a:endParaRPr lang="en-US" sz="2700" dirty="0"/>
          </a:p>
        </p:txBody>
      </p:sp>
      <p:sp>
        <p:nvSpPr>
          <p:cNvPr id="3" name="Text 1"/>
          <p:cNvSpPr txBox="1"/>
          <p:nvPr/>
        </p:nvSpPr>
        <p:spPr>
          <a:xfrm>
            <a:off x="548640" y="932688"/>
            <a:ext cx="11091672" cy="310896"/>
          </a:xfrm>
          <a:prstGeom prst="rect">
            <a:avLst/>
          </a:prstGeom>
          <a:noFill/>
          <a:ln/>
        </p:spPr>
        <p:txBody>
          <a:bodyPr wrap="square" lIns="0" tIns="0" rIns="0" bIns="0" rtlCol="0" anchor="ctr"/>
          <a:lstStyle/>
          <a:p>
            <a:pPr indent="0" marL="0">
              <a:buNone/>
            </a:pPr>
            <a:r>
              <a:rPr lang="en-US" sz="1250" dirty="0">
                <a:solidFill>
                  <a:srgbClr val="6B7280"/>
                </a:solidFill>
                <a:latin typeface="Yu Gothic" pitchFamily="34" charset="0"/>
                <a:ea typeface="Yu Gothic" pitchFamily="34" charset="-122"/>
                <a:cs typeface="Yu Gothic" pitchFamily="34" charset="-120"/>
              </a:rPr>
              <a:t>それぞれ役割が異なりますので、貴法人のご関心に合わせてお選びいただけます。</a:t>
            </a:r>
            <a:endParaRPr lang="en-US" sz="1250" dirty="0"/>
          </a:p>
        </p:txBody>
      </p:sp>
      <p:sp>
        <p:nvSpPr>
          <p:cNvPr id="4" name="Shape 2"/>
          <p:cNvSpPr/>
          <p:nvPr/>
        </p:nvSpPr>
        <p:spPr>
          <a:xfrm>
            <a:off x="548640" y="1600200"/>
            <a:ext cx="3453384" cy="3794760"/>
          </a:xfrm>
          <a:prstGeom prst="roundRect">
            <a:avLst>
              <a:gd name="adj" fmla="val 2648"/>
            </a:avLst>
          </a:prstGeom>
          <a:solidFill>
            <a:srgbClr val="EEF3FC"/>
          </a:solidFill>
          <a:ln/>
        </p:spPr>
      </p:sp>
      <p:sp>
        <p:nvSpPr>
          <p:cNvPr id="5" name="Shape 3"/>
          <p:cNvSpPr/>
          <p:nvPr/>
        </p:nvSpPr>
        <p:spPr>
          <a:xfrm>
            <a:off x="548640" y="1600200"/>
            <a:ext cx="3453384" cy="603504"/>
          </a:xfrm>
          <a:prstGeom prst="roundRect">
            <a:avLst>
              <a:gd name="adj" fmla="val 15152"/>
            </a:avLst>
          </a:prstGeom>
          <a:solidFill>
            <a:srgbClr val="1E2761"/>
          </a:solidFill>
          <a:ln/>
        </p:spPr>
      </p:sp>
      <p:sp>
        <p:nvSpPr>
          <p:cNvPr id="6" name="Text 4"/>
          <p:cNvSpPr txBox="1"/>
          <p:nvPr/>
        </p:nvSpPr>
        <p:spPr>
          <a:xfrm>
            <a:off x="548640" y="1600200"/>
            <a:ext cx="3453384" cy="603504"/>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表彰スポンサー</a:t>
            </a:r>
            <a:endParaRPr lang="en-US" sz="1600" dirty="0"/>
          </a:p>
        </p:txBody>
      </p:sp>
      <p:sp>
        <p:nvSpPr>
          <p:cNvPr id="7" name="Text 5"/>
          <p:cNvSpPr txBox="1"/>
          <p:nvPr/>
        </p:nvSpPr>
        <p:spPr>
          <a:xfrm>
            <a:off x="548640" y="2395728"/>
            <a:ext cx="3453384" cy="365760"/>
          </a:xfrm>
          <a:prstGeom prst="rect">
            <a:avLst/>
          </a:prstGeom>
          <a:noFill/>
          <a:ln/>
        </p:spPr>
        <p:txBody>
          <a:bodyPr wrap="square" lIns="0" tIns="0" rIns="0" bIns="0" rtlCol="0" anchor="ctr"/>
          <a:lstStyle/>
          <a:p>
            <a:pPr algn="ctr" indent="0" marL="0">
              <a:buNone/>
            </a:pPr>
            <a:r>
              <a:rPr lang="en-US" sz="1300" strike="sngStrike" dirty="0">
                <a:solidFill>
                  <a:srgbClr val="6B7280"/>
                </a:solidFill>
                <a:latin typeface="Yu Gothic" pitchFamily="34" charset="0"/>
                <a:ea typeface="Yu Gothic" pitchFamily="34" charset="-122"/>
                <a:cs typeface="Yu Gothic" pitchFamily="34" charset="-120"/>
              </a:rPr>
              <a:t>通常 50万円  </a:t>
            </a:r>
            <a:pPr algn="ctr" indent="0" marL="0">
              <a:buNone/>
            </a:pPr>
            <a:r>
              <a:rPr lang="en-US" sz="1300" dirty="0">
                <a:solidFill>
                  <a:srgbClr val="6B7280"/>
                </a:solidFill>
                <a:latin typeface="Yu Gothic" pitchFamily="34" charset="0"/>
                <a:ea typeface="Yu Gothic" pitchFamily="34" charset="-122"/>
                <a:cs typeface="Yu Gothic" pitchFamily="34" charset="-120"/>
              </a:rPr>
              <a:t>→</a:t>
            </a:r>
            <a:endParaRPr lang="en-US" sz="1300" dirty="0"/>
          </a:p>
        </p:txBody>
      </p:sp>
      <p:sp>
        <p:nvSpPr>
          <p:cNvPr id="8" name="Text 6"/>
          <p:cNvSpPr txBox="1"/>
          <p:nvPr/>
        </p:nvSpPr>
        <p:spPr>
          <a:xfrm>
            <a:off x="548640" y="2743200"/>
            <a:ext cx="3453384" cy="594360"/>
          </a:xfrm>
          <a:prstGeom prst="rect">
            <a:avLst/>
          </a:prstGeom>
          <a:noFill/>
          <a:ln/>
        </p:spPr>
        <p:txBody>
          <a:bodyPr wrap="square" lIns="0" tIns="0" rIns="0" bIns="0" rtlCol="0" anchor="ctr"/>
          <a:lstStyle/>
          <a:p>
            <a:pPr algn="ctr" indent="0" marL="0">
              <a:buNone/>
            </a:pPr>
            <a:r>
              <a:rPr lang="en-US" sz="3300" b="1" dirty="0">
                <a:solidFill>
                  <a:srgbClr val="F96167"/>
                </a:solidFill>
                <a:latin typeface="Yu Gothic" pitchFamily="34" charset="0"/>
                <a:ea typeface="Yu Gothic" pitchFamily="34" charset="-122"/>
                <a:cs typeface="Yu Gothic" pitchFamily="34" charset="-120"/>
              </a:rPr>
              <a:t>35万円</a:t>
            </a:r>
            <a:pPr algn="ctr" indent="0" marL="0">
              <a:buNone/>
            </a:pPr>
            <a:r>
              <a:rPr lang="en-US" sz="1150" dirty="0">
                <a:solidFill>
                  <a:srgbClr val="6B7280"/>
                </a:solidFill>
                <a:latin typeface="Yu Gothic" pitchFamily="34" charset="0"/>
                <a:ea typeface="Yu Gothic" pitchFamily="34" charset="-122"/>
                <a:cs typeface="Yu Gothic" pitchFamily="34" charset="-120"/>
              </a:rPr>
              <a:t>（税込）</a:t>
            </a:r>
            <a:endParaRPr lang="en-US" sz="3300" dirty="0"/>
          </a:p>
        </p:txBody>
      </p:sp>
      <p:sp>
        <p:nvSpPr>
          <p:cNvPr id="9" name="Shape 7"/>
          <p:cNvSpPr/>
          <p:nvPr/>
        </p:nvSpPr>
        <p:spPr>
          <a:xfrm>
            <a:off x="1635252" y="3456432"/>
            <a:ext cx="1280160" cy="365760"/>
          </a:xfrm>
          <a:prstGeom prst="roundRect">
            <a:avLst>
              <a:gd name="adj" fmla="val 50000"/>
            </a:avLst>
          </a:prstGeom>
          <a:solidFill>
            <a:srgbClr val="FFFFFF"/>
          </a:solidFill>
          <a:ln w="12700">
            <a:solidFill>
              <a:srgbClr val="1E2761"/>
            </a:solidFill>
            <a:prstDash val="solid"/>
          </a:ln>
        </p:spPr>
      </p:sp>
      <p:sp>
        <p:nvSpPr>
          <p:cNvPr id="10" name="Text 8"/>
          <p:cNvSpPr txBox="1"/>
          <p:nvPr/>
        </p:nvSpPr>
        <p:spPr>
          <a:xfrm>
            <a:off x="1635252" y="3456432"/>
            <a:ext cx="1280160" cy="365760"/>
          </a:xfrm>
          <a:prstGeom prst="rect">
            <a:avLst/>
          </a:prstGeom>
          <a:noFill/>
          <a:ln/>
        </p:spPr>
        <p:txBody>
          <a:bodyPr wrap="square" lIns="0" tIns="0" rIns="0" bIns="0" rtlCol="0" anchor="ctr"/>
          <a:lstStyle/>
          <a:p>
            <a:pPr algn="ctr" indent="0" marL="0">
              <a:buNone/>
            </a:pPr>
            <a:r>
              <a:rPr lang="en-US" sz="1200" b="1" dirty="0">
                <a:solidFill>
                  <a:srgbClr val="1E2761"/>
                </a:solidFill>
                <a:latin typeface="Yu Gothic" pitchFamily="34" charset="0"/>
                <a:ea typeface="Yu Gothic" pitchFamily="34" charset="-122"/>
                <a:cs typeface="Yu Gothic" pitchFamily="34" charset="-120"/>
              </a:rPr>
              <a:t>上限3社</a:t>
            </a:r>
            <a:endParaRPr lang="en-US" sz="1200" dirty="0"/>
          </a:p>
        </p:txBody>
      </p:sp>
      <p:sp>
        <p:nvSpPr>
          <p:cNvPr id="11" name="Text 9"/>
          <p:cNvSpPr txBox="1"/>
          <p:nvPr/>
        </p:nvSpPr>
        <p:spPr>
          <a:xfrm>
            <a:off x="822960" y="3977640"/>
            <a:ext cx="2904744" cy="1280160"/>
          </a:xfrm>
          <a:prstGeom prst="rect">
            <a:avLst/>
          </a:prstGeom>
          <a:noFill/>
          <a:ln/>
        </p:spPr>
        <p:txBody>
          <a:bodyPr wrap="square" lIns="0" tIns="0" rIns="0" bIns="0" rtlCol="0" anchor="ctr"/>
          <a:lstStyle/>
          <a:p>
            <a:pPr indent="0" marL="0">
              <a:lnSpc>
                <a:spcPts val="1700"/>
              </a:lnSpc>
              <a:buNone/>
            </a:pPr>
            <a:r>
              <a:rPr lang="en-US" sz="1150" dirty="0">
                <a:solidFill>
                  <a:srgbClr val="1A1C22"/>
                </a:solidFill>
                <a:latin typeface="Yu Gothic" pitchFamily="34" charset="0"/>
                <a:ea typeface="Yu Gothic" pitchFamily="34" charset="-122"/>
                <a:cs typeface="Yu Gothic" pitchFamily="34" charset="-120"/>
              </a:rPr>
              <a:t>「◯◯企業賞」のような企業名を冠した賞で学生を表彰し、ピッチに総括コメントをいただく枠です。</a:t>
            </a:r>
            <a:endParaRPr lang="en-US" sz="1150" dirty="0"/>
          </a:p>
        </p:txBody>
      </p:sp>
      <p:sp>
        <p:nvSpPr>
          <p:cNvPr id="12" name="Shape 10"/>
          <p:cNvSpPr/>
          <p:nvPr/>
        </p:nvSpPr>
        <p:spPr>
          <a:xfrm>
            <a:off x="4367784" y="1600200"/>
            <a:ext cx="3453384" cy="3794760"/>
          </a:xfrm>
          <a:prstGeom prst="roundRect">
            <a:avLst>
              <a:gd name="adj" fmla="val 2648"/>
            </a:avLst>
          </a:prstGeom>
          <a:solidFill>
            <a:srgbClr val="EEF3FC"/>
          </a:solidFill>
          <a:ln/>
        </p:spPr>
      </p:sp>
      <p:sp>
        <p:nvSpPr>
          <p:cNvPr id="13" name="Shape 11"/>
          <p:cNvSpPr/>
          <p:nvPr/>
        </p:nvSpPr>
        <p:spPr>
          <a:xfrm>
            <a:off x="4367784" y="1600200"/>
            <a:ext cx="3453384" cy="603504"/>
          </a:xfrm>
          <a:prstGeom prst="roundRect">
            <a:avLst>
              <a:gd name="adj" fmla="val 15152"/>
            </a:avLst>
          </a:prstGeom>
          <a:solidFill>
            <a:srgbClr val="1E2761"/>
          </a:solidFill>
          <a:ln/>
        </p:spPr>
      </p:sp>
      <p:sp>
        <p:nvSpPr>
          <p:cNvPr id="14" name="Text 12"/>
          <p:cNvSpPr txBox="1"/>
          <p:nvPr/>
        </p:nvSpPr>
        <p:spPr>
          <a:xfrm>
            <a:off x="4367784" y="1600200"/>
            <a:ext cx="3453384" cy="603504"/>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座談会スポンサー</a:t>
            </a:r>
            <a:endParaRPr lang="en-US" sz="1600" dirty="0"/>
          </a:p>
        </p:txBody>
      </p:sp>
      <p:sp>
        <p:nvSpPr>
          <p:cNvPr id="15" name="Text 13"/>
          <p:cNvSpPr txBox="1"/>
          <p:nvPr/>
        </p:nvSpPr>
        <p:spPr>
          <a:xfrm>
            <a:off x="4367784" y="2395728"/>
            <a:ext cx="3453384" cy="365760"/>
          </a:xfrm>
          <a:prstGeom prst="rect">
            <a:avLst/>
          </a:prstGeom>
          <a:noFill/>
          <a:ln/>
        </p:spPr>
        <p:txBody>
          <a:bodyPr wrap="square" lIns="0" tIns="0" rIns="0" bIns="0" rtlCol="0" anchor="ctr"/>
          <a:lstStyle/>
          <a:p>
            <a:pPr algn="ctr" indent="0" marL="0">
              <a:buNone/>
            </a:pPr>
            <a:r>
              <a:rPr lang="en-US" sz="1300" strike="sngStrike" dirty="0">
                <a:solidFill>
                  <a:srgbClr val="6B7280"/>
                </a:solidFill>
                <a:latin typeface="Yu Gothic" pitchFamily="34" charset="0"/>
                <a:ea typeface="Yu Gothic" pitchFamily="34" charset="-122"/>
                <a:cs typeface="Yu Gothic" pitchFamily="34" charset="-120"/>
              </a:rPr>
              <a:t>通常 30万円  </a:t>
            </a:r>
            <a:pPr algn="ctr" indent="0" marL="0">
              <a:buNone/>
            </a:pPr>
            <a:r>
              <a:rPr lang="en-US" sz="1300" dirty="0">
                <a:solidFill>
                  <a:srgbClr val="6B7280"/>
                </a:solidFill>
                <a:latin typeface="Yu Gothic" pitchFamily="34" charset="0"/>
                <a:ea typeface="Yu Gothic" pitchFamily="34" charset="-122"/>
                <a:cs typeface="Yu Gothic" pitchFamily="34" charset="-120"/>
              </a:rPr>
              <a:t>→</a:t>
            </a:r>
            <a:endParaRPr lang="en-US" sz="1300" dirty="0"/>
          </a:p>
        </p:txBody>
      </p:sp>
      <p:sp>
        <p:nvSpPr>
          <p:cNvPr id="16" name="Text 14"/>
          <p:cNvSpPr txBox="1"/>
          <p:nvPr/>
        </p:nvSpPr>
        <p:spPr>
          <a:xfrm>
            <a:off x="4367784" y="2743200"/>
            <a:ext cx="3453384" cy="594360"/>
          </a:xfrm>
          <a:prstGeom prst="rect">
            <a:avLst/>
          </a:prstGeom>
          <a:noFill/>
          <a:ln/>
        </p:spPr>
        <p:txBody>
          <a:bodyPr wrap="square" lIns="0" tIns="0" rIns="0" bIns="0" rtlCol="0" anchor="ctr"/>
          <a:lstStyle/>
          <a:p>
            <a:pPr algn="ctr" indent="0" marL="0">
              <a:buNone/>
            </a:pPr>
            <a:r>
              <a:rPr lang="en-US" sz="3300" b="1" dirty="0">
                <a:solidFill>
                  <a:srgbClr val="F96167"/>
                </a:solidFill>
                <a:latin typeface="Yu Gothic" pitchFamily="34" charset="0"/>
                <a:ea typeface="Yu Gothic" pitchFamily="34" charset="-122"/>
                <a:cs typeface="Yu Gothic" pitchFamily="34" charset="-120"/>
              </a:rPr>
              <a:t>15万円</a:t>
            </a:r>
            <a:pPr algn="ctr" indent="0" marL="0">
              <a:buNone/>
            </a:pPr>
            <a:r>
              <a:rPr lang="en-US" sz="1150" dirty="0">
                <a:solidFill>
                  <a:srgbClr val="6B7280"/>
                </a:solidFill>
                <a:latin typeface="Yu Gothic" pitchFamily="34" charset="0"/>
                <a:ea typeface="Yu Gothic" pitchFamily="34" charset="-122"/>
                <a:cs typeface="Yu Gothic" pitchFamily="34" charset="-120"/>
              </a:rPr>
              <a:t>（税込）</a:t>
            </a:r>
            <a:endParaRPr lang="en-US" sz="3300" dirty="0"/>
          </a:p>
        </p:txBody>
      </p:sp>
      <p:sp>
        <p:nvSpPr>
          <p:cNvPr id="17" name="Shape 15"/>
          <p:cNvSpPr/>
          <p:nvPr/>
        </p:nvSpPr>
        <p:spPr>
          <a:xfrm>
            <a:off x="5454396" y="3456432"/>
            <a:ext cx="1280160" cy="365760"/>
          </a:xfrm>
          <a:prstGeom prst="roundRect">
            <a:avLst>
              <a:gd name="adj" fmla="val 50000"/>
            </a:avLst>
          </a:prstGeom>
          <a:solidFill>
            <a:srgbClr val="FFFFFF"/>
          </a:solidFill>
          <a:ln w="12700">
            <a:solidFill>
              <a:srgbClr val="1E2761"/>
            </a:solidFill>
            <a:prstDash val="solid"/>
          </a:ln>
        </p:spPr>
      </p:sp>
      <p:sp>
        <p:nvSpPr>
          <p:cNvPr id="18" name="Text 16"/>
          <p:cNvSpPr txBox="1"/>
          <p:nvPr/>
        </p:nvSpPr>
        <p:spPr>
          <a:xfrm>
            <a:off x="5454396" y="3456432"/>
            <a:ext cx="1280160" cy="365760"/>
          </a:xfrm>
          <a:prstGeom prst="rect">
            <a:avLst/>
          </a:prstGeom>
          <a:noFill/>
          <a:ln/>
        </p:spPr>
        <p:txBody>
          <a:bodyPr wrap="square" lIns="0" tIns="0" rIns="0" bIns="0" rtlCol="0" anchor="ctr"/>
          <a:lstStyle/>
          <a:p>
            <a:pPr algn="ctr" indent="0" marL="0">
              <a:buNone/>
            </a:pPr>
            <a:r>
              <a:rPr lang="en-US" sz="1200" b="1" dirty="0">
                <a:solidFill>
                  <a:srgbClr val="1E2761"/>
                </a:solidFill>
                <a:latin typeface="Yu Gothic" pitchFamily="34" charset="0"/>
                <a:ea typeface="Yu Gothic" pitchFamily="34" charset="-122"/>
                <a:cs typeface="Yu Gothic" pitchFamily="34" charset="-120"/>
              </a:rPr>
              <a:t>上限10社</a:t>
            </a:r>
            <a:endParaRPr lang="en-US" sz="1200" dirty="0"/>
          </a:p>
        </p:txBody>
      </p:sp>
      <p:sp>
        <p:nvSpPr>
          <p:cNvPr id="19" name="Text 17"/>
          <p:cNvSpPr txBox="1"/>
          <p:nvPr/>
        </p:nvSpPr>
        <p:spPr>
          <a:xfrm>
            <a:off x="4642104" y="3977640"/>
            <a:ext cx="2904744" cy="1280160"/>
          </a:xfrm>
          <a:prstGeom prst="rect">
            <a:avLst/>
          </a:prstGeom>
          <a:noFill/>
          <a:ln/>
        </p:spPr>
        <p:txBody>
          <a:bodyPr wrap="square" lIns="0" tIns="0" rIns="0" bIns="0" rtlCol="0" anchor="ctr"/>
          <a:lstStyle/>
          <a:p>
            <a:pPr indent="0" marL="0">
              <a:lnSpc>
                <a:spcPts val="1700"/>
              </a:lnSpc>
              <a:buNone/>
            </a:pPr>
            <a:r>
              <a:rPr lang="en-US" sz="1150" dirty="0">
                <a:solidFill>
                  <a:srgbClr val="1A1C22"/>
                </a:solidFill>
                <a:latin typeface="Yu Gothic" pitchFamily="34" charset="0"/>
                <a:ea typeface="Yu Gothic" pitchFamily="34" charset="-122"/>
                <a:cs typeface="Yu Gothic" pitchFamily="34" charset="-120"/>
              </a:rPr>
              <a:t>企業紹介（5分）のほか、座談会テーブルホストとして学生とじっくり対話いただく枠です。</a:t>
            </a:r>
            <a:endParaRPr lang="en-US" sz="1150" dirty="0"/>
          </a:p>
        </p:txBody>
      </p:sp>
      <p:sp>
        <p:nvSpPr>
          <p:cNvPr id="20" name="Shape 18"/>
          <p:cNvSpPr/>
          <p:nvPr/>
        </p:nvSpPr>
        <p:spPr>
          <a:xfrm>
            <a:off x="8186928" y="1600200"/>
            <a:ext cx="3453384" cy="3794760"/>
          </a:xfrm>
          <a:prstGeom prst="roundRect">
            <a:avLst>
              <a:gd name="adj" fmla="val 2648"/>
            </a:avLst>
          </a:prstGeom>
          <a:solidFill>
            <a:srgbClr val="EEF3FC"/>
          </a:solidFill>
          <a:ln/>
        </p:spPr>
      </p:sp>
      <p:sp>
        <p:nvSpPr>
          <p:cNvPr id="21" name="Shape 19"/>
          <p:cNvSpPr/>
          <p:nvPr/>
        </p:nvSpPr>
        <p:spPr>
          <a:xfrm>
            <a:off x="8186928" y="1600200"/>
            <a:ext cx="3453384" cy="603504"/>
          </a:xfrm>
          <a:prstGeom prst="roundRect">
            <a:avLst>
              <a:gd name="adj" fmla="val 15152"/>
            </a:avLst>
          </a:prstGeom>
          <a:solidFill>
            <a:srgbClr val="1E2761"/>
          </a:solidFill>
          <a:ln/>
        </p:spPr>
      </p:sp>
      <p:sp>
        <p:nvSpPr>
          <p:cNvPr id="22" name="Text 20"/>
          <p:cNvSpPr txBox="1"/>
          <p:nvPr/>
        </p:nvSpPr>
        <p:spPr>
          <a:xfrm>
            <a:off x="8186928" y="1600200"/>
            <a:ext cx="3453384" cy="603504"/>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告知スポンサー</a:t>
            </a:r>
            <a:endParaRPr lang="en-US" sz="1600" dirty="0"/>
          </a:p>
        </p:txBody>
      </p:sp>
      <p:sp>
        <p:nvSpPr>
          <p:cNvPr id="23" name="Text 21"/>
          <p:cNvSpPr txBox="1"/>
          <p:nvPr/>
        </p:nvSpPr>
        <p:spPr>
          <a:xfrm>
            <a:off x="8186928" y="2395728"/>
            <a:ext cx="3453384" cy="365760"/>
          </a:xfrm>
          <a:prstGeom prst="rect">
            <a:avLst/>
          </a:prstGeom>
          <a:noFill/>
          <a:ln/>
        </p:spPr>
        <p:txBody>
          <a:bodyPr wrap="square" lIns="0" tIns="0" rIns="0" bIns="0" rtlCol="0" anchor="ctr"/>
          <a:lstStyle/>
          <a:p>
            <a:pPr algn="ctr" indent="0" marL="0">
              <a:buNone/>
            </a:pPr>
            <a:r>
              <a:rPr lang="en-US" sz="1300" strike="sngStrike" dirty="0">
                <a:solidFill>
                  <a:srgbClr val="6B7280"/>
                </a:solidFill>
                <a:latin typeface="Yu Gothic" pitchFamily="34" charset="0"/>
                <a:ea typeface="Yu Gothic" pitchFamily="34" charset="-122"/>
                <a:cs typeface="Yu Gothic" pitchFamily="34" charset="-120"/>
              </a:rPr>
              <a:t>通常 12万円  </a:t>
            </a:r>
            <a:pPr algn="ctr" indent="0" marL="0">
              <a:buNone/>
            </a:pPr>
            <a:r>
              <a:rPr lang="en-US" sz="1300" dirty="0">
                <a:solidFill>
                  <a:srgbClr val="6B7280"/>
                </a:solidFill>
                <a:latin typeface="Yu Gothic" pitchFamily="34" charset="0"/>
                <a:ea typeface="Yu Gothic" pitchFamily="34" charset="-122"/>
                <a:cs typeface="Yu Gothic" pitchFamily="34" charset="-120"/>
              </a:rPr>
              <a:t>→</a:t>
            </a:r>
            <a:endParaRPr lang="en-US" sz="1300" dirty="0"/>
          </a:p>
        </p:txBody>
      </p:sp>
      <p:sp>
        <p:nvSpPr>
          <p:cNvPr id="24" name="Text 22"/>
          <p:cNvSpPr txBox="1"/>
          <p:nvPr/>
        </p:nvSpPr>
        <p:spPr>
          <a:xfrm>
            <a:off x="8186928" y="2743200"/>
            <a:ext cx="3453384" cy="594360"/>
          </a:xfrm>
          <a:prstGeom prst="rect">
            <a:avLst/>
          </a:prstGeom>
          <a:noFill/>
          <a:ln/>
        </p:spPr>
        <p:txBody>
          <a:bodyPr wrap="square" lIns="0" tIns="0" rIns="0" bIns="0" rtlCol="0" anchor="ctr"/>
          <a:lstStyle/>
          <a:p>
            <a:pPr algn="ctr" indent="0" marL="0">
              <a:buNone/>
            </a:pPr>
            <a:r>
              <a:rPr lang="en-US" sz="3300" b="1" dirty="0">
                <a:solidFill>
                  <a:srgbClr val="F96167"/>
                </a:solidFill>
                <a:latin typeface="Yu Gothic" pitchFamily="34" charset="0"/>
                <a:ea typeface="Yu Gothic" pitchFamily="34" charset="-122"/>
                <a:cs typeface="Yu Gothic" pitchFamily="34" charset="-120"/>
              </a:rPr>
              <a:t>7万円</a:t>
            </a:r>
            <a:pPr algn="ctr" indent="0" marL="0">
              <a:buNone/>
            </a:pPr>
            <a:r>
              <a:rPr lang="en-US" sz="1150" dirty="0">
                <a:solidFill>
                  <a:srgbClr val="6B7280"/>
                </a:solidFill>
                <a:latin typeface="Yu Gothic" pitchFamily="34" charset="0"/>
                <a:ea typeface="Yu Gothic" pitchFamily="34" charset="-122"/>
                <a:cs typeface="Yu Gothic" pitchFamily="34" charset="-120"/>
              </a:rPr>
              <a:t>（税込）</a:t>
            </a:r>
            <a:endParaRPr lang="en-US" sz="3300" dirty="0"/>
          </a:p>
        </p:txBody>
      </p:sp>
      <p:sp>
        <p:nvSpPr>
          <p:cNvPr id="25" name="Shape 23"/>
          <p:cNvSpPr/>
          <p:nvPr/>
        </p:nvSpPr>
        <p:spPr>
          <a:xfrm>
            <a:off x="9273540" y="3456432"/>
            <a:ext cx="1280160" cy="365760"/>
          </a:xfrm>
          <a:prstGeom prst="roundRect">
            <a:avLst>
              <a:gd name="adj" fmla="val 50000"/>
            </a:avLst>
          </a:prstGeom>
          <a:solidFill>
            <a:srgbClr val="FFFFFF"/>
          </a:solidFill>
          <a:ln w="12700">
            <a:solidFill>
              <a:srgbClr val="1E2761"/>
            </a:solidFill>
            <a:prstDash val="solid"/>
          </a:ln>
        </p:spPr>
      </p:sp>
      <p:sp>
        <p:nvSpPr>
          <p:cNvPr id="26" name="Text 24"/>
          <p:cNvSpPr txBox="1"/>
          <p:nvPr/>
        </p:nvSpPr>
        <p:spPr>
          <a:xfrm>
            <a:off x="9273540" y="3456432"/>
            <a:ext cx="1280160" cy="365760"/>
          </a:xfrm>
          <a:prstGeom prst="rect">
            <a:avLst/>
          </a:prstGeom>
          <a:noFill/>
          <a:ln/>
        </p:spPr>
        <p:txBody>
          <a:bodyPr wrap="square" lIns="0" tIns="0" rIns="0" bIns="0" rtlCol="0" anchor="ctr"/>
          <a:lstStyle/>
          <a:p>
            <a:pPr algn="ctr" indent="0" marL="0">
              <a:buNone/>
            </a:pPr>
            <a:r>
              <a:rPr lang="en-US" sz="1200" b="1" dirty="0">
                <a:solidFill>
                  <a:srgbClr val="1E2761"/>
                </a:solidFill>
                <a:latin typeface="Yu Gothic" pitchFamily="34" charset="0"/>
                <a:ea typeface="Yu Gothic" pitchFamily="34" charset="-122"/>
                <a:cs typeface="Yu Gothic" pitchFamily="34" charset="-120"/>
              </a:rPr>
              <a:t>上限5社</a:t>
            </a:r>
            <a:endParaRPr lang="en-US" sz="1200" dirty="0"/>
          </a:p>
        </p:txBody>
      </p:sp>
      <p:sp>
        <p:nvSpPr>
          <p:cNvPr id="27" name="Text 25"/>
          <p:cNvSpPr txBox="1"/>
          <p:nvPr/>
        </p:nvSpPr>
        <p:spPr>
          <a:xfrm>
            <a:off x="8461248" y="3977640"/>
            <a:ext cx="2904744" cy="1280160"/>
          </a:xfrm>
          <a:prstGeom prst="rect">
            <a:avLst/>
          </a:prstGeom>
          <a:noFill/>
          <a:ln/>
        </p:spPr>
        <p:txBody>
          <a:bodyPr wrap="square" lIns="0" tIns="0" rIns="0" bIns="0" rtlCol="0" anchor="ctr"/>
          <a:lstStyle/>
          <a:p>
            <a:pPr indent="0" marL="0">
              <a:lnSpc>
                <a:spcPts val="1700"/>
              </a:lnSpc>
              <a:buNone/>
            </a:pPr>
            <a:r>
              <a:rPr lang="en-US" sz="1150" dirty="0">
                <a:solidFill>
                  <a:srgbClr val="1A1C22"/>
                </a:solidFill>
                <a:latin typeface="Yu Gothic" pitchFamily="34" charset="0"/>
                <a:ea typeface="Yu Gothic" pitchFamily="34" charset="-122"/>
                <a:cs typeface="Yu Gothic" pitchFamily="34" charset="-120"/>
              </a:rPr>
              <a:t>インターンのお知らせなど、学生向けのメール送付や当日のビラ配りができる枠です。</a:t>
            </a:r>
            <a:endParaRPr lang="en-US" sz="1150" dirty="0"/>
          </a:p>
        </p:txBody>
      </p:sp>
      <p:sp>
        <p:nvSpPr>
          <p:cNvPr id="28" name="Text 26"/>
          <p:cNvSpPr txBox="1"/>
          <p:nvPr/>
        </p:nvSpPr>
        <p:spPr>
          <a:xfrm>
            <a:off x="548640" y="5715000"/>
            <a:ext cx="11091672" cy="685800"/>
          </a:xfrm>
          <a:prstGeom prst="rect">
            <a:avLst/>
          </a:prstGeom>
          <a:noFill/>
          <a:ln/>
        </p:spPr>
        <p:txBody>
          <a:bodyPr wrap="square" lIns="0" tIns="0" rIns="0" bIns="0" rtlCol="0" anchor="ctr"/>
          <a:lstStyle/>
          <a:p>
            <a:pPr indent="0" marL="0">
              <a:lnSpc>
                <a:spcPts val="1800"/>
              </a:lnSpc>
              <a:buNone/>
            </a:pPr>
            <a:r>
              <a:rPr lang="en-US" sz="1200" dirty="0">
                <a:solidFill>
                  <a:srgbClr val="6B7280"/>
                </a:solidFill>
                <a:latin typeface="Yu Gothic" pitchFamily="34" charset="0"/>
                <a:ea typeface="Yu Gothic" pitchFamily="34" charset="-122"/>
                <a:cs typeface="Yu Gothic" pitchFamily="34" charset="-120"/>
              </a:rPr>
              <a:t>※通常のご協賛金額は、表彰スポンサー50万円・座談会スポンサー30万円・告知スポンサー12万円となっております。</a:t>
            </a:r>
            <a:endParaRPr lang="en-US" sz="1200" dirty="0"/>
          </a:p>
          <a:p>
            <a:pPr indent="0" marL="0">
              <a:lnSpc>
                <a:spcPts val="1800"/>
              </a:lnSpc>
              <a:buNone/>
            </a:pPr>
            <a:r>
              <a:rPr lang="en-US" sz="1200" b="1" dirty="0">
                <a:solidFill>
                  <a:srgbClr val="1E2761"/>
                </a:solidFill>
                <a:latin typeface="Yu Gothic" pitchFamily="34" charset="0"/>
                <a:ea typeface="Yu Gothic" pitchFamily="34" charset="-122"/>
                <a:cs typeface="Yu Gothic" pitchFamily="34" charset="-120"/>
              </a:rPr>
              <a:t>今回ぜひLearning for All様にご一緒いただきたく、特別な協賛金額にてご提案しております。</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566928"/>
          </a:xfrm>
          <a:prstGeom prst="rect">
            <a:avLst/>
          </a:prstGeom>
          <a:noFill/>
          <a:ln/>
        </p:spPr>
        <p:txBody>
          <a:bodyPr wrap="square" lIns="0" tIns="0" rIns="0" bIns="0" rtlCol="0" anchor="ctr"/>
          <a:lstStyle/>
          <a:p>
            <a:pPr indent="0" marL="0">
              <a:buNone/>
            </a:pPr>
            <a:r>
              <a:rPr lang="en-US" sz="2700" b="1" dirty="0">
                <a:solidFill>
                  <a:srgbClr val="1E2761"/>
                </a:solidFill>
                <a:latin typeface="Yu Gothic" pitchFamily="34" charset="0"/>
                <a:ea typeface="Yu Gothic" pitchFamily="34" charset="-122"/>
                <a:cs typeface="Yu Gothic" pitchFamily="34" charset="-120"/>
              </a:rPr>
              <a:t>8. 各スポンサー枠に含まれる内容</a:t>
            </a:r>
            <a:endParaRPr lang="en-US" sz="2700" dirty="0"/>
          </a:p>
        </p:txBody>
      </p:sp>
      <p:sp>
        <p:nvSpPr>
          <p:cNvPr id="3" name="Shape 1"/>
          <p:cNvSpPr/>
          <p:nvPr/>
        </p:nvSpPr>
        <p:spPr>
          <a:xfrm>
            <a:off x="548640" y="1463040"/>
            <a:ext cx="11091672" cy="1481328"/>
          </a:xfrm>
          <a:prstGeom prst="roundRect">
            <a:avLst>
              <a:gd name="adj" fmla="val 4938"/>
            </a:avLst>
          </a:prstGeom>
          <a:solidFill>
            <a:srgbClr val="EEF3FC"/>
          </a:solidFill>
          <a:ln/>
        </p:spPr>
      </p:sp>
      <p:sp>
        <p:nvSpPr>
          <p:cNvPr id="4" name="Text 2"/>
          <p:cNvSpPr txBox="1"/>
          <p:nvPr/>
        </p:nvSpPr>
        <p:spPr>
          <a:xfrm>
            <a:off x="822960" y="1572768"/>
            <a:ext cx="10543032" cy="347472"/>
          </a:xfrm>
          <a:prstGeom prst="rect">
            <a:avLst/>
          </a:prstGeom>
          <a:noFill/>
          <a:ln/>
        </p:spPr>
        <p:txBody>
          <a:bodyPr wrap="square" lIns="0" tIns="0" rIns="0" bIns="0" rtlCol="0" anchor="ctr"/>
          <a:lstStyle/>
          <a:p>
            <a:pPr indent="0" marL="0">
              <a:buNone/>
            </a:pPr>
            <a:r>
              <a:rPr lang="en-US" sz="1450" b="1" dirty="0">
                <a:solidFill>
                  <a:srgbClr val="1E2761"/>
                </a:solidFill>
                <a:latin typeface="Yu Gothic" pitchFamily="34" charset="0"/>
                <a:ea typeface="Yu Gothic" pitchFamily="34" charset="-122"/>
                <a:cs typeface="Yu Gothic" pitchFamily="34" charset="-120"/>
              </a:rPr>
              <a:t>表彰スポンサー（特別価格35万円・上限3社）</a:t>
            </a:r>
            <a:endParaRPr lang="en-US" sz="1450" dirty="0"/>
          </a:p>
        </p:txBody>
      </p:sp>
      <p:sp>
        <p:nvSpPr>
          <p:cNvPr id="5" name="Text 3"/>
          <p:cNvSpPr txBox="1"/>
          <p:nvPr/>
        </p:nvSpPr>
        <p:spPr>
          <a:xfrm>
            <a:off x="960120" y="1938528"/>
            <a:ext cx="10268712" cy="932688"/>
          </a:xfrm>
          <a:prstGeom prst="rect">
            <a:avLst/>
          </a:prstGeom>
          <a:noFill/>
          <a:ln/>
        </p:spPr>
        <p:txBody>
          <a:bodyPr wrap="square" lIns="0" tIns="0" rIns="0" bIns="0" rtlCol="0" anchor="t"/>
          <a:lstStyle/>
          <a:p>
            <a:pPr marL="127000" indent="-127000">
              <a:lnSpc>
                <a:spcPts val="1750"/>
              </a:lnSpc>
              <a:spcAft>
                <a:spcPts val="400"/>
              </a:spcAft>
              <a:buSzPct val="100000"/>
              <a:buChar char="•"/>
            </a:pPr>
            <a:r>
              <a:rPr lang="en-US" sz="1200" dirty="0">
                <a:solidFill>
                  <a:srgbClr val="1A1C22"/>
                </a:solidFill>
                <a:latin typeface="Yu Gothic" pitchFamily="34" charset="0"/>
                <a:ea typeface="Yu Gothic" pitchFamily="34" charset="-122"/>
                <a:cs typeface="Yu Gothic" pitchFamily="34" charset="-120"/>
              </a:rPr>
              <a:t>「◯◯企業賞」のような企業名を冠した賞での表彰（表彰式 17:40〜17:55）</a:t>
            </a:r>
            <a:endParaRPr lang="en-US" sz="1200" dirty="0"/>
          </a:p>
          <a:p>
            <a:pPr marL="127000" indent="-127000">
              <a:lnSpc>
                <a:spcPts val="1750"/>
              </a:lnSpc>
              <a:spcAft>
                <a:spcPts val="400"/>
              </a:spcAft>
              <a:buSzPct val="100000"/>
              <a:buChar char="•"/>
            </a:pPr>
            <a:r>
              <a:rPr lang="en-US" sz="1200" dirty="0">
                <a:solidFill>
                  <a:srgbClr val="1A1C22"/>
                </a:solidFill>
                <a:latin typeface="Yu Gothic" pitchFamily="34" charset="0"/>
                <a:ea typeface="Yu Gothic" pitchFamily="34" charset="-122"/>
                <a:cs typeface="Yu Gothic" pitchFamily="34" charset="-120"/>
              </a:rPr>
              <a:t>ご協賛金35万円のうち20万円は、貴法人の企業賞の賞金（活動支援金）として表彰団体へ寄付されます</a:t>
            </a:r>
            <a:endParaRPr lang="en-US" sz="1200" dirty="0"/>
          </a:p>
          <a:p>
            <a:pPr marL="127000" indent="-127000">
              <a:lnSpc>
                <a:spcPts val="1750"/>
              </a:lnSpc>
              <a:spcAft>
                <a:spcPts val="400"/>
              </a:spcAft>
              <a:buSzPct val="100000"/>
              <a:buChar char="•"/>
            </a:pPr>
            <a:r>
              <a:rPr lang="en-US" sz="1200" dirty="0">
                <a:solidFill>
                  <a:srgbClr val="1A1C22"/>
                </a:solidFill>
                <a:latin typeface="Yu Gothic" pitchFamily="34" charset="0"/>
                <a:ea typeface="Yu Gothic" pitchFamily="34" charset="-122"/>
                <a:cs typeface="Yu Gothic" pitchFamily="34" charset="-120"/>
              </a:rPr>
              <a:t>ピッチ各部（前半・後半）の最後の総括コメント／懇親会での学生とのご交流</a:t>
            </a:r>
            <a:endParaRPr lang="en-US" sz="1200" dirty="0"/>
          </a:p>
        </p:txBody>
      </p:sp>
      <p:sp>
        <p:nvSpPr>
          <p:cNvPr id="6" name="Shape 4"/>
          <p:cNvSpPr/>
          <p:nvPr/>
        </p:nvSpPr>
        <p:spPr>
          <a:xfrm>
            <a:off x="548640" y="3163824"/>
            <a:ext cx="11091672" cy="1481328"/>
          </a:xfrm>
          <a:prstGeom prst="roundRect">
            <a:avLst>
              <a:gd name="adj" fmla="val 4938"/>
            </a:avLst>
          </a:prstGeom>
          <a:solidFill>
            <a:srgbClr val="EEF3FC"/>
          </a:solidFill>
          <a:ln/>
        </p:spPr>
      </p:sp>
      <p:sp>
        <p:nvSpPr>
          <p:cNvPr id="7" name="Text 5"/>
          <p:cNvSpPr txBox="1"/>
          <p:nvPr/>
        </p:nvSpPr>
        <p:spPr>
          <a:xfrm>
            <a:off x="822960" y="3273552"/>
            <a:ext cx="10543032" cy="347472"/>
          </a:xfrm>
          <a:prstGeom prst="rect">
            <a:avLst/>
          </a:prstGeom>
          <a:noFill/>
          <a:ln/>
        </p:spPr>
        <p:txBody>
          <a:bodyPr wrap="square" lIns="0" tIns="0" rIns="0" bIns="0" rtlCol="0" anchor="ctr"/>
          <a:lstStyle/>
          <a:p>
            <a:pPr indent="0" marL="0">
              <a:buNone/>
            </a:pPr>
            <a:r>
              <a:rPr lang="en-US" sz="1450" b="1" dirty="0">
                <a:solidFill>
                  <a:srgbClr val="1E2761"/>
                </a:solidFill>
                <a:latin typeface="Yu Gothic" pitchFamily="34" charset="0"/>
                <a:ea typeface="Yu Gothic" pitchFamily="34" charset="-122"/>
                <a:cs typeface="Yu Gothic" pitchFamily="34" charset="-120"/>
              </a:rPr>
              <a:t>座談会スポンサー（特別価格15万円・上限10社）</a:t>
            </a:r>
            <a:endParaRPr lang="en-US" sz="1450" dirty="0"/>
          </a:p>
        </p:txBody>
      </p:sp>
      <p:sp>
        <p:nvSpPr>
          <p:cNvPr id="8" name="Text 6"/>
          <p:cNvSpPr txBox="1"/>
          <p:nvPr/>
        </p:nvSpPr>
        <p:spPr>
          <a:xfrm>
            <a:off x="960120" y="3639312"/>
            <a:ext cx="10268712" cy="932688"/>
          </a:xfrm>
          <a:prstGeom prst="rect">
            <a:avLst/>
          </a:prstGeom>
          <a:noFill/>
          <a:ln/>
        </p:spPr>
        <p:txBody>
          <a:bodyPr wrap="square" lIns="0" tIns="0" rIns="0" bIns="0" rtlCol="0" anchor="t"/>
          <a:lstStyle/>
          <a:p>
            <a:pPr marL="127000" indent="-127000">
              <a:lnSpc>
                <a:spcPts val="1750"/>
              </a:lnSpc>
              <a:spcAft>
                <a:spcPts val="400"/>
              </a:spcAft>
              <a:buSzPct val="100000"/>
              <a:buChar char="•"/>
            </a:pPr>
            <a:r>
              <a:rPr lang="en-US" sz="1200" dirty="0">
                <a:solidFill>
                  <a:srgbClr val="1A1C22"/>
                </a:solidFill>
                <a:latin typeface="Yu Gothic" pitchFamily="34" charset="0"/>
                <a:ea typeface="Yu Gothic" pitchFamily="34" charset="-122"/>
                <a:cs typeface="Yu Gothic" pitchFamily="34" charset="-120"/>
              </a:rPr>
              <a:t>企業紹介（5分・「座談会スポンサーからひとこと」14:10〜14:20）</a:t>
            </a:r>
            <a:endParaRPr lang="en-US" sz="1200" dirty="0"/>
          </a:p>
          <a:p>
            <a:pPr marL="127000" indent="-127000">
              <a:lnSpc>
                <a:spcPts val="1750"/>
              </a:lnSpc>
              <a:spcAft>
                <a:spcPts val="400"/>
              </a:spcAft>
              <a:buSzPct val="100000"/>
              <a:buChar char="•"/>
            </a:pPr>
            <a:r>
              <a:rPr lang="en-US" sz="1200" dirty="0">
                <a:solidFill>
                  <a:srgbClr val="1A1C22"/>
                </a:solidFill>
                <a:latin typeface="Yu Gothic" pitchFamily="34" charset="0"/>
                <a:ea typeface="Yu Gothic" pitchFamily="34" charset="-122"/>
                <a:cs typeface="Yu Gothic" pitchFamily="34" charset="-120"/>
              </a:rPr>
              <a:t>座談会テーブルホスト（3枠）</a:t>
            </a:r>
            <a:endParaRPr lang="en-US" sz="1200" dirty="0"/>
          </a:p>
          <a:p>
            <a:pPr marL="127000" indent="-127000">
              <a:lnSpc>
                <a:spcPts val="1750"/>
              </a:lnSpc>
              <a:spcAft>
                <a:spcPts val="400"/>
              </a:spcAft>
              <a:buSzPct val="100000"/>
              <a:buChar char="•"/>
            </a:pPr>
            <a:r>
              <a:rPr lang="en-US" sz="1200" dirty="0">
                <a:solidFill>
                  <a:srgbClr val="1A1C22"/>
                </a:solidFill>
                <a:latin typeface="Yu Gothic" pitchFamily="34" charset="0"/>
                <a:ea typeface="Yu Gothic" pitchFamily="34" charset="-122"/>
                <a:cs typeface="Yu Gothic" pitchFamily="34" charset="-120"/>
              </a:rPr>
              <a:t>座談会や懇親会での学生とのコミュニケーション、インターンのお知らせ</a:t>
            </a:r>
            <a:endParaRPr lang="en-US" sz="1200" dirty="0"/>
          </a:p>
        </p:txBody>
      </p:sp>
      <p:sp>
        <p:nvSpPr>
          <p:cNvPr id="9" name="Shape 7"/>
          <p:cNvSpPr/>
          <p:nvPr/>
        </p:nvSpPr>
        <p:spPr>
          <a:xfrm>
            <a:off x="548640" y="4864608"/>
            <a:ext cx="11091672" cy="1170432"/>
          </a:xfrm>
          <a:prstGeom prst="roundRect">
            <a:avLst>
              <a:gd name="adj" fmla="val 6250"/>
            </a:avLst>
          </a:prstGeom>
          <a:solidFill>
            <a:srgbClr val="EEF3FC"/>
          </a:solidFill>
          <a:ln/>
        </p:spPr>
      </p:sp>
      <p:sp>
        <p:nvSpPr>
          <p:cNvPr id="10" name="Text 8"/>
          <p:cNvSpPr txBox="1"/>
          <p:nvPr/>
        </p:nvSpPr>
        <p:spPr>
          <a:xfrm>
            <a:off x="822960" y="4974336"/>
            <a:ext cx="10543032" cy="347472"/>
          </a:xfrm>
          <a:prstGeom prst="rect">
            <a:avLst/>
          </a:prstGeom>
          <a:noFill/>
          <a:ln/>
        </p:spPr>
        <p:txBody>
          <a:bodyPr wrap="square" lIns="0" tIns="0" rIns="0" bIns="0" rtlCol="0" anchor="ctr"/>
          <a:lstStyle/>
          <a:p>
            <a:pPr indent="0" marL="0">
              <a:buNone/>
            </a:pPr>
            <a:r>
              <a:rPr lang="en-US" sz="1450" b="1" dirty="0">
                <a:solidFill>
                  <a:srgbClr val="1E2761"/>
                </a:solidFill>
                <a:latin typeface="Yu Gothic" pitchFamily="34" charset="0"/>
                <a:ea typeface="Yu Gothic" pitchFamily="34" charset="-122"/>
                <a:cs typeface="Yu Gothic" pitchFamily="34" charset="-120"/>
              </a:rPr>
              <a:t>告知スポンサー（特別価格7万円・上限5社）</a:t>
            </a:r>
            <a:endParaRPr lang="en-US" sz="1450" dirty="0"/>
          </a:p>
        </p:txBody>
      </p:sp>
      <p:sp>
        <p:nvSpPr>
          <p:cNvPr id="11" name="Text 9"/>
          <p:cNvSpPr txBox="1"/>
          <p:nvPr/>
        </p:nvSpPr>
        <p:spPr>
          <a:xfrm>
            <a:off x="960120" y="5340096"/>
            <a:ext cx="10268712" cy="621792"/>
          </a:xfrm>
          <a:prstGeom prst="rect">
            <a:avLst/>
          </a:prstGeom>
          <a:noFill/>
          <a:ln/>
        </p:spPr>
        <p:txBody>
          <a:bodyPr wrap="square" lIns="0" tIns="0" rIns="0" bIns="0" rtlCol="0" anchor="t"/>
          <a:lstStyle/>
          <a:p>
            <a:pPr marL="127000" indent="-127000">
              <a:lnSpc>
                <a:spcPts val="1750"/>
              </a:lnSpc>
              <a:spcAft>
                <a:spcPts val="400"/>
              </a:spcAft>
              <a:buSzPct val="100000"/>
              <a:buChar char="•"/>
            </a:pPr>
            <a:r>
              <a:rPr lang="en-US" sz="1200" dirty="0">
                <a:solidFill>
                  <a:srgbClr val="1A1C22"/>
                </a:solidFill>
                <a:latin typeface="Yu Gothic" pitchFamily="34" charset="0"/>
                <a:ea typeface="Yu Gothic" pitchFamily="34" charset="-122"/>
                <a:cs typeface="Yu Gothic" pitchFamily="34" charset="-120"/>
              </a:rPr>
              <a:t>インターンのお知らせなど、学生向けのメール送付</a:t>
            </a:r>
            <a:endParaRPr lang="en-US" sz="1200" dirty="0"/>
          </a:p>
          <a:p>
            <a:pPr marL="127000" indent="-127000">
              <a:lnSpc>
                <a:spcPts val="1750"/>
              </a:lnSpc>
              <a:spcAft>
                <a:spcPts val="400"/>
              </a:spcAft>
              <a:buSzPct val="100000"/>
              <a:buChar char="•"/>
            </a:pPr>
            <a:r>
              <a:rPr lang="en-US" sz="1200" dirty="0">
                <a:solidFill>
                  <a:srgbClr val="1A1C22"/>
                </a:solidFill>
                <a:latin typeface="Yu Gothic" pitchFamily="34" charset="0"/>
                <a:ea typeface="Yu Gothic" pitchFamily="34" charset="-122"/>
                <a:cs typeface="Yu Gothic" pitchFamily="34" charset="-120"/>
              </a:rPr>
              <a:t>当日のビラ配り</a:t>
            </a:r>
            <a:endParaRPr lang="en-US" sz="1200" dirty="0"/>
          </a:p>
        </p:txBody>
      </p:sp>
      <p:sp>
        <p:nvSpPr>
          <p:cNvPr id="12" name="Text 10"/>
          <p:cNvSpPr txBox="1"/>
          <p:nvPr/>
        </p:nvSpPr>
        <p:spPr>
          <a:xfrm>
            <a:off x="548640" y="6300216"/>
            <a:ext cx="11091672" cy="548640"/>
          </a:xfrm>
          <a:prstGeom prst="rect">
            <a:avLst/>
          </a:prstGeom>
          <a:noFill/>
          <a:ln/>
        </p:spPr>
        <p:txBody>
          <a:bodyPr wrap="square" lIns="0" tIns="0" rIns="0" bIns="0" rtlCol="0" anchor="ctr"/>
          <a:lstStyle/>
          <a:p>
            <a:pPr indent="0" marL="0">
              <a:lnSpc>
                <a:spcPts val="1500"/>
              </a:lnSpc>
              <a:buNone/>
            </a:pPr>
            <a:r>
              <a:rPr lang="en-US" sz="1050" dirty="0">
                <a:solidFill>
                  <a:srgbClr val="6B7280"/>
                </a:solidFill>
                <a:latin typeface="Yu Gothic" pitchFamily="34" charset="0"/>
                <a:ea typeface="Yu Gothic" pitchFamily="34" charset="-122"/>
                <a:cs typeface="Yu Gothic" pitchFamily="34" charset="-120"/>
              </a:rPr>
              <a:t>※各枠とも上限社数に達し次第、締め切らせていただきます。　※イベント終了後のチラシ配布や学生向けメール送付は、どのスポンサー枠でも可能です。　※お支払い方法・ご請求時期等は別途ご相談ください。</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1672" cy="566928"/>
          </a:xfrm>
          <a:prstGeom prst="rect">
            <a:avLst/>
          </a:prstGeom>
          <a:noFill/>
          <a:ln/>
        </p:spPr>
        <p:txBody>
          <a:bodyPr wrap="square" lIns="0" tIns="0" rIns="0" bIns="0" rtlCol="0" anchor="ctr"/>
          <a:lstStyle/>
          <a:p>
            <a:pPr indent="0" marL="0">
              <a:buNone/>
            </a:pPr>
            <a:r>
              <a:rPr lang="en-US" sz="2700" b="1" dirty="0">
                <a:solidFill>
                  <a:srgbClr val="1E2761"/>
                </a:solidFill>
                <a:latin typeface="Yu Gothic" pitchFamily="34" charset="0"/>
                <a:ea typeface="Yu Gothic" pitchFamily="34" charset="-122"/>
                <a:cs typeface="Yu Gothic" pitchFamily="34" charset="-120"/>
              </a:rPr>
              <a:t>9.（参考）参加予定の学生団体一覧</a:t>
            </a:r>
            <a:endParaRPr lang="en-US" sz="2700" dirty="0"/>
          </a:p>
        </p:txBody>
      </p:sp>
      <p:sp>
        <p:nvSpPr>
          <p:cNvPr id="3" name="Text 1"/>
          <p:cNvSpPr txBox="1"/>
          <p:nvPr/>
        </p:nvSpPr>
        <p:spPr>
          <a:xfrm>
            <a:off x="548640" y="932688"/>
            <a:ext cx="11091672" cy="310896"/>
          </a:xfrm>
          <a:prstGeom prst="rect">
            <a:avLst/>
          </a:prstGeom>
          <a:noFill/>
          <a:ln/>
        </p:spPr>
        <p:txBody>
          <a:bodyPr wrap="square" lIns="0" tIns="0" rIns="0" bIns="0" rtlCol="0" anchor="ctr"/>
          <a:lstStyle/>
          <a:p>
            <a:pPr indent="0" marL="0">
              <a:buNone/>
            </a:pPr>
            <a:r>
              <a:rPr lang="en-US" sz="1250" dirty="0">
                <a:solidFill>
                  <a:srgbClr val="6B7280"/>
                </a:solidFill>
                <a:latin typeface="Yu Gothic" pitchFamily="34" charset="0"/>
                <a:ea typeface="Yu Gothic" pitchFamily="34" charset="-122"/>
                <a:cs typeface="Yu Gothic" pitchFamily="34" charset="-120"/>
              </a:rPr>
              <a:t>※8/1時点での参加予定</a:t>
            </a:r>
            <a:endParaRPr lang="en-US" sz="12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4114800"/>
                <a:gridCol w="2377440"/>
                <a:gridCol w="4599432"/>
              </a:tblGrid>
              <a:tr h="411480">
                <a:tc>
                  <a:txBody>
                    <a:bodyPr/>
                    <a:lstStyle/>
                    <a:p>
                      <a:pPr algn="ctr" indent="0" marL="0">
                        <a:buNone/>
                      </a:pPr>
                      <a:r>
                        <a:rPr lang="en-US" sz="1050" b="1" dirty="0">
                          <a:solidFill>
                            <a:srgbClr val="FFFFFF"/>
                          </a:solidFill>
                          <a:latin typeface="Yu Gothic" pitchFamily="34" charset="0"/>
                          <a:ea typeface="Yu Gothic" pitchFamily="34" charset="-122"/>
                          <a:cs typeface="Yu Gothic" pitchFamily="34" charset="-120"/>
                        </a:rPr>
                        <a:t>団体名</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1E2761"/>
                    </a:solidFill>
                  </a:tcPr>
                </a:tc>
                <a:tc>
                  <a:txBody>
                    <a:bodyPr/>
                    <a:lstStyle/>
                    <a:p>
                      <a:pPr algn="ctr" indent="0" marL="0">
                        <a:buNone/>
                      </a:pPr>
                      <a:r>
                        <a:rPr lang="en-US" sz="1050" b="1" dirty="0">
                          <a:solidFill>
                            <a:srgbClr val="FFFFFF"/>
                          </a:solidFill>
                          <a:latin typeface="Yu Gothic" pitchFamily="34" charset="0"/>
                          <a:ea typeface="Yu Gothic" pitchFamily="34" charset="-122"/>
                          <a:cs typeface="Yu Gothic" pitchFamily="34" charset="-120"/>
                        </a:rPr>
                        <a:t>中心大学群</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1E2761"/>
                    </a:solidFill>
                  </a:tcPr>
                </a:tc>
                <a:tc>
                  <a:txBody>
                    <a:bodyPr/>
                    <a:lstStyle/>
                    <a:p>
                      <a:pPr algn="ctr" indent="0" marL="0">
                        <a:buNone/>
                      </a:pPr>
                      <a:r>
                        <a:rPr lang="en-US" sz="1050" b="1" dirty="0">
                          <a:solidFill>
                            <a:srgbClr val="FFFFFF"/>
                          </a:solidFill>
                          <a:latin typeface="Yu Gothic" pitchFamily="34" charset="0"/>
                          <a:ea typeface="Yu Gothic" pitchFamily="34" charset="-122"/>
                          <a:cs typeface="Yu Gothic" pitchFamily="34" charset="-120"/>
                        </a:rPr>
                        <a:t>活動内容</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1E2761"/>
                    </a:solidFill>
                  </a:tcPr>
                </a:tc>
              </a:tr>
              <a:tr h="411480">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GNLF（Global Next Leaders Forum）</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東京大学中心</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10カ国以上から学生・教授を招く国際会議型フォーラムの運営</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r>
              <a:tr h="411480">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慶應義塾大学公認学生団体 S.A.L.</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3FC"/>
                    </a:solidFill>
                  </a:tcPr>
                </a:tc>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慶應義塾大学限定</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3FC"/>
                    </a:solidFill>
                  </a:tcPr>
                </a:tc>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スタディーツアー・出版・イベントで国際問題を伝える啓発活動</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3FC"/>
                    </a:solidFill>
                  </a:tcPr>
                </a:tc>
              </a:tr>
              <a:tr h="411480">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AIESEC（日本委員会）</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インカレ</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海外インターン・ボランティア派遣による国際交流推進</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r>
              <a:tr h="411480">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IDYF（International Development Youth Forum）</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3FC"/>
                    </a:solidFill>
                  </a:tcPr>
                </a:tc>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インカレ（東京大学拠点）</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3FC"/>
                    </a:solidFill>
                  </a:tcPr>
                </a:tc>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U-29向け国際開発課題を議論する国際学生会議の運営</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3FC"/>
                    </a:solidFill>
                  </a:tcPr>
                </a:tc>
              </a:tr>
              <a:tr h="411480">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MIS（Multilateral Interaction with Students）</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東京大学中心</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東南アジア学生と連携した社会課題解決プロジェクト（NPO法人）</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r>
              <a:tr h="411480">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TEHs</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3FC"/>
                    </a:solidFill>
                  </a:tcPr>
                </a:tc>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横浜市立大学中心</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3FC"/>
                    </a:solidFill>
                  </a:tcPr>
                </a:tc>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サステナブルシーフード導入などZ世代向けSDGs実践プロジェクト</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3FC"/>
                    </a:solidFill>
                  </a:tcPr>
                </a:tc>
              </a:tr>
              <a:tr h="411480">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学生環境NPO 環境ロドリゲス</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早稲田大学公認・インカレ</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教育・里山・海・プラスチック等7部門での環境保全活動</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r>
              <a:tr h="411480">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上智大学環境活動サークル Green Sophia</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3FC"/>
                    </a:solidFill>
                  </a:tcPr>
                </a:tc>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上智大学限定</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3FC"/>
                    </a:solidFill>
                  </a:tcPr>
                </a:tc>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キャンパス清掃・ビーガンイベント等の環境発信活動</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3FC"/>
                    </a:solidFill>
                  </a:tcPr>
                </a:tc>
              </a:tr>
              <a:tr h="411480">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学生団体 OIKOS（S.A.L.内プロジェクト）</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慶應義塾大学</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新宿炊き出し・子ども食堂など「食」による貧困支援</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FFFFFF"/>
                    </a:solidFill>
                  </a:tcPr>
                </a:tc>
              </a:tr>
              <a:tr h="411480">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学生団体 connec+a</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3FC"/>
                    </a:solidFill>
                  </a:tcPr>
                </a:tc>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インカレ（高校生含む）</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3FC"/>
                    </a:solidFill>
                  </a:tcPr>
                </a:tc>
                <a:tc>
                  <a:txBody>
                    <a:bodyPr/>
                    <a:lstStyle/>
                    <a:p>
                      <a:pPr indent="0" marL="0">
                        <a:buNone/>
                      </a:pPr>
                      <a:r>
                        <a:rPr lang="en-US" sz="1050" dirty="0">
                          <a:solidFill>
                            <a:srgbClr val="1A1C22"/>
                          </a:solidFill>
                          <a:latin typeface="Yu Gothic" pitchFamily="34" charset="0"/>
                          <a:ea typeface="Yu Gothic" pitchFamily="34" charset="-122"/>
                          <a:cs typeface="Yu Gothic" pitchFamily="34" charset="-120"/>
                        </a:rPr>
                        <a:t>外国人×日本人学生の共生を目指すインターカルチャー交流</a:t>
                      </a:r>
                      <a:endParaRPr lang="en-US" sz="1050" dirty="0">
                        <a:latin typeface="Yu Gothic" charset="0"/>
                        <a:ea typeface="Yu Gothic" charset="0"/>
                        <a:cs typeface="Yu Gothic" charset="0"/>
                      </a:endParaRPr>
                    </a:p>
                  </a:txBody>
                  <a:tcPr marL="73152" marR="73152" marT="36576" marB="36576" anchor="ctr">
                    <a:lnL w="9525" cap="flat" cmpd="sng" algn="ctr">
                      <a:solidFill>
                        <a:srgbClr val="D5DAE5"/>
                      </a:solidFill>
                      <a:prstDash val="solid"/>
                      <a:round/>
                      <a:headEnd type="none" w="med" len="med"/>
                      <a:tailEnd type="none" w="med" len="med"/>
                    </a:lnL>
                    <a:lnR w="9525" cap="flat" cmpd="sng" algn="ctr">
                      <a:solidFill>
                        <a:srgbClr val="D5DAE5"/>
                      </a:solidFill>
                      <a:prstDash val="solid"/>
                      <a:round/>
                      <a:headEnd type="none" w="med" len="med"/>
                      <a:tailEnd type="none" w="med" len="med"/>
                    </a:lnR>
                    <a:lnT w="9525" cap="flat" cmpd="sng" algn="ctr">
                      <a:solidFill>
                        <a:srgbClr val="D5DAE5"/>
                      </a:solidFill>
                      <a:prstDash val="solid"/>
                      <a:round/>
                      <a:headEnd type="none" w="med" len="med"/>
                      <a:tailEnd type="none" w="med" len="med"/>
                    </a:lnT>
                    <a:lnB w="9525" cap="flat" cmpd="sng" algn="ctr">
                      <a:solidFill>
                        <a:srgbClr val="D5DAE5"/>
                      </a:solidFill>
                      <a:prstDash val="solid"/>
                      <a:round/>
                      <a:headEnd type="none" w="med" len="med"/>
                      <a:tailEnd type="none" w="med" len="med"/>
                    </a:lnB>
                    <a:solidFill>
                      <a:srgbClr val="EEF3FC"/>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737360" y="4023360"/>
            <a:ext cx="4754880" cy="4754880"/>
          </a:xfrm>
          <a:prstGeom prst="ellipse">
            <a:avLst/>
          </a:prstGeom>
          <a:solidFill>
            <a:srgbClr val="2B3A78"/>
          </a:solidFill>
          <a:ln/>
        </p:spPr>
      </p:sp>
      <p:sp>
        <p:nvSpPr>
          <p:cNvPr id="3" name="Shape 1"/>
          <p:cNvSpPr/>
          <p:nvPr/>
        </p:nvSpPr>
        <p:spPr>
          <a:xfrm>
            <a:off x="11064240" y="-1280160"/>
            <a:ext cx="3108960" cy="3108960"/>
          </a:xfrm>
          <a:prstGeom prst="ellipse">
            <a:avLst/>
          </a:prstGeom>
          <a:solidFill>
            <a:srgbClr val="27346E"/>
          </a:solidFill>
          <a:ln/>
        </p:spPr>
      </p:sp>
      <p:sp>
        <p:nvSpPr>
          <p:cNvPr id="4" name="Text 2"/>
          <p:cNvSpPr txBox="1"/>
          <p:nvPr/>
        </p:nvSpPr>
        <p:spPr>
          <a:xfrm>
            <a:off x="1097280" y="1965960"/>
            <a:ext cx="9966960" cy="1645920"/>
          </a:xfrm>
          <a:prstGeom prst="rect">
            <a:avLst/>
          </a:prstGeom>
          <a:noFill/>
          <a:ln/>
        </p:spPr>
        <p:txBody>
          <a:bodyPr wrap="square" lIns="0" tIns="0" rIns="0" bIns="0" rtlCol="0" anchor="ctr"/>
          <a:lstStyle/>
          <a:p>
            <a:pPr indent="0" marL="0">
              <a:lnSpc>
                <a:spcPts val="4800"/>
              </a:lnSpc>
              <a:buNone/>
            </a:pPr>
            <a:r>
              <a:rPr lang="en-US" sz="3200" b="1" dirty="0">
                <a:solidFill>
                  <a:srgbClr val="FFFFFF"/>
                </a:solidFill>
                <a:latin typeface="Yu Gothic" pitchFamily="34" charset="0"/>
                <a:ea typeface="Yu Gothic" pitchFamily="34" charset="-122"/>
                <a:cs typeface="Yu Gothic" pitchFamily="34" charset="-120"/>
              </a:rPr>
              <a:t>学生たちの挑戦を、</a:t>
            </a:r>
            <a:endParaRPr lang="en-US" sz="3200" dirty="0"/>
          </a:p>
          <a:p>
            <a:pPr indent="0" marL="0">
              <a:lnSpc>
                <a:spcPts val="4800"/>
              </a:lnSpc>
              <a:buNone/>
            </a:pPr>
            <a:r>
              <a:rPr lang="en-US" sz="3200" b="1" dirty="0">
                <a:solidFill>
                  <a:srgbClr val="FFFFFF"/>
                </a:solidFill>
                <a:latin typeface="Yu Gothic" pitchFamily="34" charset="0"/>
                <a:ea typeface="Yu Gothic" pitchFamily="34" charset="-122"/>
                <a:cs typeface="Yu Gothic" pitchFamily="34" charset="-120"/>
              </a:rPr>
              <a:t>ご一緒に見届けていただけませんか。</a:t>
            </a:r>
            <a:endParaRPr lang="en-US" sz="3200" dirty="0"/>
          </a:p>
        </p:txBody>
      </p:sp>
      <p:sp>
        <p:nvSpPr>
          <p:cNvPr id="5" name="Text 3"/>
          <p:cNvSpPr txBox="1"/>
          <p:nvPr/>
        </p:nvSpPr>
        <p:spPr>
          <a:xfrm>
            <a:off x="1097280" y="3977640"/>
            <a:ext cx="9966960" cy="822960"/>
          </a:xfrm>
          <a:prstGeom prst="rect">
            <a:avLst/>
          </a:prstGeom>
          <a:noFill/>
          <a:ln/>
        </p:spPr>
        <p:txBody>
          <a:bodyPr wrap="square" lIns="0" tIns="0" rIns="0" bIns="0" rtlCol="0" anchor="ctr"/>
          <a:lstStyle/>
          <a:p>
            <a:pPr indent="0" marL="0">
              <a:lnSpc>
                <a:spcPts val="2400"/>
              </a:lnSpc>
              <a:buNone/>
            </a:pPr>
            <a:r>
              <a:rPr lang="en-US" sz="1400" dirty="0">
                <a:solidFill>
                  <a:srgbClr val="CADCFC"/>
                </a:solidFill>
                <a:latin typeface="Yu Gothic" pitchFamily="34" charset="0"/>
                <a:ea typeface="Yu Gothic" pitchFamily="34" charset="-122"/>
                <a:cs typeface="Yu Gothic" pitchFamily="34" charset="-120"/>
              </a:rPr>
              <a:t>ご多忙のところ大変恐縮ですが、ご検討のほどよろしくお願い申し上げます。</a:t>
            </a:r>
            <a:endParaRPr lang="en-US" sz="1400" dirty="0"/>
          </a:p>
          <a:p>
            <a:pPr indent="0" marL="0">
              <a:lnSpc>
                <a:spcPts val="2400"/>
              </a:lnSpc>
              <a:buNone/>
            </a:pPr>
            <a:r>
              <a:rPr lang="en-US" sz="1400" dirty="0">
                <a:solidFill>
                  <a:srgbClr val="CADCFC"/>
                </a:solidFill>
                <a:latin typeface="Yu Gothic" pitchFamily="34" charset="0"/>
                <a:ea typeface="Yu Gothic" pitchFamily="34" charset="-122"/>
                <a:cs typeface="Yu Gothic" pitchFamily="34" charset="-120"/>
              </a:rPr>
              <a:t>ご不明点等ございましたら、お気軽にお問い合わせください。</a:t>
            </a:r>
            <a:endParaRPr lang="en-US" sz="1400" dirty="0"/>
          </a:p>
        </p:txBody>
      </p:sp>
      <p:sp>
        <p:nvSpPr>
          <p:cNvPr id="6" name="Text 4"/>
          <p:cNvSpPr txBox="1"/>
          <p:nvPr/>
        </p:nvSpPr>
        <p:spPr>
          <a:xfrm>
            <a:off x="1097280" y="5394960"/>
            <a:ext cx="9966960" cy="457200"/>
          </a:xfrm>
          <a:prstGeom prst="rect">
            <a:avLst/>
          </a:prstGeom>
          <a:noFill/>
          <a:ln/>
        </p:spPr>
        <p:txBody>
          <a:bodyPr wrap="square" lIns="0" tIns="0" rIns="0" bIns="0" rtlCol="0" anchor="ctr"/>
          <a:lstStyle/>
          <a:p>
            <a:pPr indent="0" marL="0">
              <a:buNone/>
            </a:pPr>
            <a:r>
              <a:rPr lang="en-US" sz="1600" b="1" dirty="0">
                <a:solidFill>
                  <a:srgbClr val="FFFFFF"/>
                </a:solidFill>
                <a:latin typeface="Yu Gothic" pitchFamily="34" charset="0"/>
                <a:ea typeface="Yu Gothic" pitchFamily="34" charset="-122"/>
                <a:cs typeface="Yu Gothic" pitchFamily="34" charset="-120"/>
              </a:rPr>
              <a:t>NPO法人 The Peace Front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2026-09-06T23:29:11Z</dcterms:created>
  <dcterms:modified xsi:type="dcterms:W3CDTF">2026-09-06T23:29:11Z</dcterms:modified>
</cp:coreProperties>
</file>