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5303520" y="0"/>
            <a:ext cx="3840480" cy="5143500"/>
          </a:xfrm>
          <a:prstGeom prst="rect">
            <a:avLst/>
          </a:prstGeom>
          <a:solidFill>
            <a:srgbClr val="2C2C2C"/>
          </a:solidFill>
          <a:ln w="12700">
            <a:solidFill>
              <a:srgbClr val="2C2C2C"/>
            </a:solidFill>
            <a:prstDash val="solid"/>
          </a:ln>
        </p:spPr>
      </p:sp>
      <p:pic>
        <p:nvPicPr>
          <p:cNvPr id="3" name="Image 0" descr="preencoded.png">    </p:cNvPr>
          <p:cNvPicPr>
            <a:picLocks noChangeAspect="1"/>
          </p:cNvPicPr>
          <p:nvPr/>
        </p:nvPicPr>
        <p:blipFill>
          <a:blip r:embed="rId1"/>
          <a:stretch>
            <a:fillRect/>
          </a:stretch>
        </p:blipFill>
        <p:spPr>
          <a:xfrm>
            <a:off x="6263640" y="1600200"/>
            <a:ext cx="1920240" cy="1920240"/>
          </a:xfrm>
          <a:prstGeom prst="rect">
            <a:avLst/>
          </a:prstGeom>
        </p:spPr>
      </p:pic>
      <p:sp>
        <p:nvSpPr>
          <p:cNvPr id="4" name="Text 1"/>
          <p:cNvSpPr txBox="1"/>
          <p:nvPr/>
        </p:nvSpPr>
        <p:spPr>
          <a:xfrm>
            <a:off x="822960" y="868680"/>
            <a:ext cx="4114800" cy="228600"/>
          </a:xfrm>
          <a:prstGeom prst="rect">
            <a:avLst/>
          </a:prstGeom>
          <a:noFill/>
          <a:ln/>
        </p:spPr>
        <p:txBody>
          <a:bodyPr wrap="square" lIns="0" tIns="0" rIns="0" bIns="0" rtlCol="0" anchor="t"/>
          <a:lstStyle/>
          <a:p>
            <a:pPr algn="l" indent="0" marL="0">
              <a:buNone/>
            </a:pPr>
            <a:r>
              <a:rPr lang="en-US" sz="900" b="1" dirty="0">
                <a:solidFill>
                  <a:srgbClr val="FF7611"/>
                </a:solidFill>
                <a:latin typeface="Meiryo" pitchFamily="34" charset="0"/>
                <a:ea typeface="Meiryo" pitchFamily="34" charset="-122"/>
                <a:cs typeface="Meiryo" pitchFamily="34" charset="-120"/>
              </a:rPr>
              <a:t>リノベル様向け提案書</a:t>
            </a:r>
            <a:endParaRPr lang="en-US" sz="900" dirty="0"/>
          </a:p>
        </p:txBody>
      </p:sp>
      <p:sp>
        <p:nvSpPr>
          <p:cNvPr id="5" name="Text 2"/>
          <p:cNvSpPr txBox="1"/>
          <p:nvPr/>
        </p:nvSpPr>
        <p:spPr>
          <a:xfrm>
            <a:off x="822960" y="1234440"/>
            <a:ext cx="4389120" cy="1188720"/>
          </a:xfrm>
          <a:prstGeom prst="rect">
            <a:avLst/>
          </a:prstGeom>
          <a:noFill/>
          <a:ln/>
        </p:spPr>
        <p:txBody>
          <a:bodyPr wrap="square" lIns="0" tIns="0" rIns="0" bIns="0" rtlCol="0" anchor="t"/>
          <a:lstStyle/>
          <a:p>
            <a:pPr algn="l" indent="0" marL="0">
              <a:lnSpc>
                <a:spcPct val="125000"/>
              </a:lnSpc>
              <a:buNone/>
            </a:pPr>
            <a:r>
              <a:rPr lang="en-US" sz="2400" b="1" dirty="0">
                <a:solidFill>
                  <a:srgbClr val="222222"/>
                </a:solidFill>
                <a:latin typeface="Meiryo" pitchFamily="34" charset="0"/>
                <a:ea typeface="Meiryo" pitchFamily="34" charset="-122"/>
                <a:cs typeface="Meiryo" pitchFamily="34" charset="-120"/>
              </a:rPr>
              <a:t>「リノベル人」に出会うための、</a:t>
            </a:r>
            <a:endParaRPr lang="en-US" sz="2400" dirty="0"/>
          </a:p>
          <a:p>
            <a:pPr algn="l" indent="0" marL="0">
              <a:lnSpc>
                <a:spcPct val="125000"/>
              </a:lnSpc>
              <a:buNone/>
            </a:pPr>
            <a:r>
              <a:rPr lang="en-US" sz="2400" b="1" dirty="0">
                <a:solidFill>
                  <a:srgbClr val="222222"/>
                </a:solidFill>
                <a:latin typeface="Meiryo" pitchFamily="34" charset="0"/>
                <a:ea typeface="Meiryo" pitchFamily="34" charset="-122"/>
                <a:cs typeface="Meiryo" pitchFamily="34" charset="-120"/>
              </a:rPr>
              <a:t>母集団の質の再設計</a:t>
            </a:r>
            <a:endParaRPr lang="en-US" sz="2400" dirty="0"/>
          </a:p>
        </p:txBody>
      </p:sp>
      <p:sp>
        <p:nvSpPr>
          <p:cNvPr id="6" name="Text 3"/>
          <p:cNvSpPr txBox="1"/>
          <p:nvPr/>
        </p:nvSpPr>
        <p:spPr>
          <a:xfrm>
            <a:off x="822960" y="2606040"/>
            <a:ext cx="4206240" cy="640080"/>
          </a:xfrm>
          <a:prstGeom prst="rect">
            <a:avLst/>
          </a:prstGeom>
          <a:noFill/>
          <a:ln/>
        </p:spPr>
        <p:txBody>
          <a:bodyPr wrap="square" lIns="0" tIns="0" rIns="0" bIns="0" rtlCol="0" anchor="t"/>
          <a:lstStyle/>
          <a:p>
            <a:pPr algn="l" indent="0" marL="0">
              <a:lnSpc>
                <a:spcPct val="140000"/>
              </a:lnSpc>
              <a:buNone/>
            </a:pPr>
            <a:r>
              <a:rPr lang="en-US" sz="1150" dirty="0">
                <a:solidFill>
                  <a:srgbClr val="666666"/>
                </a:solidFill>
                <a:latin typeface="Meiryo" pitchFamily="34" charset="0"/>
                <a:ea typeface="Meiryo" pitchFamily="34" charset="-122"/>
                <a:cs typeface="Meiryo" pitchFamily="34" charset="-120"/>
              </a:rPr>
              <a:t>28卒で検証し、29卒・30卒の早期接点へつなぐ</a:t>
            </a:r>
            <a:endParaRPr lang="en-US" sz="1150" dirty="0"/>
          </a:p>
          <a:p>
            <a:pPr algn="l" indent="0" marL="0">
              <a:lnSpc>
                <a:spcPct val="140000"/>
              </a:lnSpc>
              <a:buNone/>
            </a:pPr>
            <a:r>
              <a:rPr lang="en-US" sz="1150" dirty="0">
                <a:solidFill>
                  <a:srgbClr val="666666"/>
                </a:solidFill>
                <a:latin typeface="Meiryo" pitchFamily="34" charset="0"/>
                <a:ea typeface="Meiryo" pitchFamily="34" charset="-122"/>
                <a:cs typeface="Meiryo" pitchFamily="34" charset="-120"/>
              </a:rPr>
              <a:t>3ヶ月プログラム</a:t>
            </a:r>
            <a:endParaRPr lang="en-US" sz="1150" dirty="0"/>
          </a:p>
        </p:txBody>
      </p:sp>
      <p:sp>
        <p:nvSpPr>
          <p:cNvPr id="7" name="Text 4"/>
          <p:cNvSpPr txBox="1"/>
          <p:nvPr/>
        </p:nvSpPr>
        <p:spPr>
          <a:xfrm>
            <a:off x="822960" y="3931920"/>
            <a:ext cx="4206240" cy="457200"/>
          </a:xfrm>
          <a:prstGeom prst="rect">
            <a:avLst/>
          </a:prstGeom>
          <a:noFill/>
          <a:ln/>
        </p:spPr>
        <p:txBody>
          <a:bodyPr wrap="square" lIns="0" tIns="0" rIns="0" bIns="0" rtlCol="0" anchor="t"/>
          <a:lstStyle/>
          <a:p>
            <a:pPr algn="l" indent="0" marL="0">
              <a:lnSpc>
                <a:spcPct val="140000"/>
              </a:lnSpc>
              <a:buNone/>
            </a:pPr>
            <a:r>
              <a:rPr lang="en-US" sz="850" dirty="0">
                <a:solidFill>
                  <a:srgbClr val="666666"/>
                </a:solidFill>
                <a:latin typeface="Meiryo" pitchFamily="34" charset="0"/>
                <a:ea typeface="Meiryo" pitchFamily="34" charset="-122"/>
                <a:cs typeface="Meiryo" pitchFamily="34" charset="-120"/>
              </a:rPr>
              <a:t>Social Act Career／株式会社The Peace Front</a:t>
            </a:r>
            <a:endParaRPr lang="en-US" sz="850" dirty="0"/>
          </a:p>
          <a:p>
            <a:pPr algn="l" indent="0" marL="0">
              <a:lnSpc>
                <a:spcPct val="140000"/>
              </a:lnSpc>
              <a:buNone/>
            </a:pPr>
            <a:r>
              <a:rPr lang="en-US" sz="850" dirty="0">
                <a:solidFill>
                  <a:srgbClr val="666666"/>
                </a:solidFill>
                <a:latin typeface="Meiryo" pitchFamily="34" charset="0"/>
                <a:ea typeface="Meiryo" pitchFamily="34" charset="-122"/>
                <a:cs typeface="Meiryo" pitchFamily="34" charset="-120"/>
              </a:rPr>
              <a:t>代表 新谷いづみ｜2026年9月</a:t>
            </a:r>
            <a:endParaRPr lang="en-US" sz="850" dirty="0"/>
          </a:p>
        </p:txBody>
      </p:sp>
      <p:sp>
        <p:nvSpPr>
          <p:cNvPr id="8" name="Text 5"/>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FFFFFF"/>
                </a:solidFill>
                <a:latin typeface="Meiryo" pitchFamily="34" charset="0"/>
                <a:ea typeface="Meiryo" pitchFamily="34" charset="-122"/>
                <a:cs typeface="Meiryo" pitchFamily="34" charset="-120"/>
              </a:rPr>
              <a:t>1</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01｜SUMMARY</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課題は「数」ではなく「層」。打ち出し方ごと検証します</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先日のお打ち合わせ（鈴木様）でお伺いした内容をもとに、ご提案をまとめました。</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2</a:t>
            </a:r>
            <a:endParaRPr lang="en-US" sz="750" dirty="0"/>
          </a:p>
        </p:txBody>
      </p:sp>
      <p:sp>
        <p:nvSpPr>
          <p:cNvPr id="8" name="Shape 5"/>
          <p:cNvSpPr/>
          <p:nvPr/>
        </p:nvSpPr>
        <p:spPr>
          <a:xfrm>
            <a:off x="548640" y="1463040"/>
            <a:ext cx="2560320" cy="2331720"/>
          </a:xfrm>
          <a:prstGeom prst="rect">
            <a:avLst/>
          </a:prstGeom>
          <a:solidFill>
            <a:srgbClr val="FFFFFF"/>
          </a:solidFill>
          <a:ln w="12700">
            <a:solidFill>
              <a:srgbClr val="FFFFFF"/>
            </a:solidFill>
            <a:prstDash val="solid"/>
          </a:ln>
        </p:spPr>
      </p:sp>
      <p:sp>
        <p:nvSpPr>
          <p:cNvPr id="9" name="Shape 6"/>
          <p:cNvSpPr/>
          <p:nvPr/>
        </p:nvSpPr>
        <p:spPr>
          <a:xfrm>
            <a:off x="548640" y="1463040"/>
            <a:ext cx="2560320" cy="41148"/>
          </a:xfrm>
          <a:prstGeom prst="rect">
            <a:avLst/>
          </a:prstGeom>
          <a:solidFill>
            <a:srgbClr val="FF7611"/>
          </a:solidFill>
          <a:ln w="12700">
            <a:solidFill>
              <a:srgbClr val="FF7611"/>
            </a:solidFill>
            <a:prstDash val="solid"/>
          </a:ln>
        </p:spPr>
      </p:sp>
      <p:sp>
        <p:nvSpPr>
          <p:cNvPr id="10" name="Text 7"/>
          <p:cNvSpPr txBox="1"/>
          <p:nvPr/>
        </p:nvSpPr>
        <p:spPr>
          <a:xfrm>
            <a:off x="731520" y="1645920"/>
            <a:ext cx="2194560" cy="182880"/>
          </a:xfrm>
          <a:prstGeom prst="rect">
            <a:avLst/>
          </a:prstGeom>
          <a:noFill/>
          <a:ln/>
        </p:spPr>
        <p:txBody>
          <a:bodyPr wrap="square" lIns="0" tIns="0" rIns="0" bIns="0" rtlCol="0" anchor="t"/>
          <a:lstStyle/>
          <a:p>
            <a:pPr algn="l" indent="0" marL="0">
              <a:buNone/>
            </a:pPr>
            <a:r>
              <a:rPr lang="en-US" sz="750" b="1" spc="100" kern="0" dirty="0">
                <a:solidFill>
                  <a:srgbClr val="8C8C8C"/>
                </a:solidFill>
                <a:latin typeface="Meiryo" pitchFamily="34" charset="0"/>
                <a:ea typeface="Meiryo" pitchFamily="34" charset="-122"/>
                <a:cs typeface="Meiryo" pitchFamily="34" charset="-120"/>
              </a:rPr>
              <a:t>01 / 現状の捉え方</a:t>
            </a:r>
            <a:endParaRPr lang="en-US" sz="750" dirty="0"/>
          </a:p>
        </p:txBody>
      </p:sp>
      <p:sp>
        <p:nvSpPr>
          <p:cNvPr id="11" name="Text 8"/>
          <p:cNvSpPr txBox="1"/>
          <p:nvPr/>
        </p:nvSpPr>
        <p:spPr>
          <a:xfrm>
            <a:off x="731520" y="1874520"/>
            <a:ext cx="2194560" cy="457200"/>
          </a:xfrm>
          <a:prstGeom prst="rect">
            <a:avLst/>
          </a:prstGeom>
          <a:noFill/>
          <a:ln/>
        </p:spPr>
        <p:txBody>
          <a:bodyPr wrap="square" lIns="0" tIns="0" rIns="0" bIns="0" rtlCol="0" anchor="t"/>
          <a:lstStyle/>
          <a:p>
            <a:pPr algn="l" indent="0" marL="0">
              <a:buNone/>
            </a:pPr>
            <a:r>
              <a:rPr lang="en-US" sz="1250" b="1" dirty="0">
                <a:solidFill>
                  <a:srgbClr val="222222"/>
                </a:solidFill>
                <a:latin typeface="Meiryo" pitchFamily="34" charset="0"/>
                <a:ea typeface="Meiryo" pitchFamily="34" charset="-122"/>
                <a:cs typeface="Meiryo" pitchFamily="34" charset="-120"/>
              </a:rPr>
              <a:t>応募は集まっている</a:t>
            </a:r>
            <a:endParaRPr lang="en-US" sz="1250" dirty="0"/>
          </a:p>
        </p:txBody>
      </p:sp>
      <p:sp>
        <p:nvSpPr>
          <p:cNvPr id="12" name="Text 9"/>
          <p:cNvSpPr txBox="1"/>
          <p:nvPr/>
        </p:nvSpPr>
        <p:spPr>
          <a:xfrm>
            <a:off x="731520" y="2377440"/>
            <a:ext cx="2194560" cy="1325880"/>
          </a:xfrm>
          <a:prstGeom prst="rect">
            <a:avLst/>
          </a:prstGeom>
          <a:noFill/>
          <a:ln/>
        </p:spPr>
        <p:txBody>
          <a:bodyPr wrap="square" lIns="0" tIns="0" rIns="0" bIns="0" rtlCol="0" anchor="t"/>
          <a:lstStyle/>
          <a:p>
            <a:pPr algn="l" indent="0" marL="0">
              <a:lnSpc>
                <a:spcPct val="135000"/>
              </a:lnSpc>
              <a:buNone/>
            </a:pPr>
            <a:r>
              <a:rPr lang="en-US" sz="850" dirty="0">
                <a:solidFill>
                  <a:srgbClr val="666666"/>
                </a:solidFill>
                <a:latin typeface="Meiryo" pitchFamily="34" charset="0"/>
                <a:ea typeface="Meiryo" pitchFamily="34" charset="-122"/>
                <a:cs typeface="Meiryo" pitchFamily="34" charset="-120"/>
              </a:rPr>
              <a:t>文系総合職で採りたい「寄り添い × 推進力」の層が母集団に入っていない。建築学生は認知があり困っていない一方、文系へのメッセージと出会い方がまだ見つかっていない。</a:t>
            </a:r>
            <a:endParaRPr lang="en-US" sz="850" dirty="0"/>
          </a:p>
        </p:txBody>
      </p:sp>
      <p:sp>
        <p:nvSpPr>
          <p:cNvPr id="13" name="Shape 10"/>
          <p:cNvSpPr/>
          <p:nvPr/>
        </p:nvSpPr>
        <p:spPr>
          <a:xfrm>
            <a:off x="3291840" y="1463040"/>
            <a:ext cx="2560320" cy="2331720"/>
          </a:xfrm>
          <a:prstGeom prst="rect">
            <a:avLst/>
          </a:prstGeom>
          <a:solidFill>
            <a:srgbClr val="FFFFFF"/>
          </a:solidFill>
          <a:ln w="12700">
            <a:solidFill>
              <a:srgbClr val="FFFFFF"/>
            </a:solidFill>
            <a:prstDash val="solid"/>
          </a:ln>
        </p:spPr>
      </p:sp>
      <p:sp>
        <p:nvSpPr>
          <p:cNvPr id="14" name="Shape 11"/>
          <p:cNvSpPr/>
          <p:nvPr/>
        </p:nvSpPr>
        <p:spPr>
          <a:xfrm>
            <a:off x="3291840" y="1463040"/>
            <a:ext cx="2560320" cy="41148"/>
          </a:xfrm>
          <a:prstGeom prst="rect">
            <a:avLst/>
          </a:prstGeom>
          <a:solidFill>
            <a:srgbClr val="FF7611"/>
          </a:solidFill>
          <a:ln w="12700">
            <a:solidFill>
              <a:srgbClr val="FF7611"/>
            </a:solidFill>
            <a:prstDash val="solid"/>
          </a:ln>
        </p:spPr>
      </p:sp>
      <p:sp>
        <p:nvSpPr>
          <p:cNvPr id="15" name="Text 12"/>
          <p:cNvSpPr txBox="1"/>
          <p:nvPr/>
        </p:nvSpPr>
        <p:spPr>
          <a:xfrm>
            <a:off x="3474720" y="1645920"/>
            <a:ext cx="2194560" cy="182880"/>
          </a:xfrm>
          <a:prstGeom prst="rect">
            <a:avLst/>
          </a:prstGeom>
          <a:noFill/>
          <a:ln/>
        </p:spPr>
        <p:txBody>
          <a:bodyPr wrap="square" lIns="0" tIns="0" rIns="0" bIns="0" rtlCol="0" anchor="t"/>
          <a:lstStyle/>
          <a:p>
            <a:pPr algn="l" indent="0" marL="0">
              <a:buNone/>
            </a:pPr>
            <a:r>
              <a:rPr lang="en-US" sz="750" b="1" spc="100" kern="0" dirty="0">
                <a:solidFill>
                  <a:srgbClr val="8C8C8C"/>
                </a:solidFill>
                <a:latin typeface="Meiryo" pitchFamily="34" charset="0"/>
                <a:ea typeface="Meiryo" pitchFamily="34" charset="-122"/>
                <a:cs typeface="Meiryo" pitchFamily="34" charset="-120"/>
              </a:rPr>
              <a:t>02 / ご提案</a:t>
            </a:r>
            <a:endParaRPr lang="en-US" sz="750" dirty="0"/>
          </a:p>
        </p:txBody>
      </p:sp>
      <p:sp>
        <p:nvSpPr>
          <p:cNvPr id="16" name="Text 13"/>
          <p:cNvSpPr txBox="1"/>
          <p:nvPr/>
        </p:nvSpPr>
        <p:spPr>
          <a:xfrm>
            <a:off x="3474720" y="1874520"/>
            <a:ext cx="2194560" cy="457200"/>
          </a:xfrm>
          <a:prstGeom prst="rect">
            <a:avLst/>
          </a:prstGeom>
          <a:noFill/>
          <a:ln/>
        </p:spPr>
        <p:txBody>
          <a:bodyPr wrap="square" lIns="0" tIns="0" rIns="0" bIns="0" rtlCol="0" anchor="t"/>
          <a:lstStyle/>
          <a:p>
            <a:pPr algn="l" indent="0" marL="0">
              <a:buNone/>
            </a:pPr>
            <a:r>
              <a:rPr lang="en-US" sz="1250" b="1" dirty="0">
                <a:solidFill>
                  <a:srgbClr val="222222"/>
                </a:solidFill>
                <a:latin typeface="Meiryo" pitchFamily="34" charset="0"/>
                <a:ea typeface="Meiryo" pitchFamily="34" charset="-122"/>
                <a:cs typeface="Meiryo" pitchFamily="34" charset="-120"/>
              </a:rPr>
              <a:t>合いそうな学生を先に着席</a:t>
            </a:r>
            <a:endParaRPr lang="en-US" sz="1250" dirty="0"/>
          </a:p>
        </p:txBody>
      </p:sp>
      <p:sp>
        <p:nvSpPr>
          <p:cNvPr id="17" name="Text 14"/>
          <p:cNvSpPr txBox="1"/>
          <p:nvPr/>
        </p:nvSpPr>
        <p:spPr>
          <a:xfrm>
            <a:off x="3474720" y="2377440"/>
            <a:ext cx="2194560" cy="1325880"/>
          </a:xfrm>
          <a:prstGeom prst="rect">
            <a:avLst/>
          </a:prstGeom>
          <a:noFill/>
          <a:ln/>
        </p:spPr>
        <p:txBody>
          <a:bodyPr wrap="square" lIns="0" tIns="0" rIns="0" bIns="0" rtlCol="0" anchor="t"/>
          <a:lstStyle/>
          <a:p>
            <a:pPr algn="l" indent="0" marL="0">
              <a:lnSpc>
                <a:spcPct val="135000"/>
              </a:lnSpc>
              <a:buNone/>
            </a:pPr>
            <a:r>
              <a:rPr lang="en-US" sz="850" dirty="0">
                <a:solidFill>
                  <a:srgbClr val="666666"/>
                </a:solidFill>
                <a:latin typeface="Meiryo" pitchFamily="34" charset="0"/>
                <a:ea typeface="Meiryo" pitchFamily="34" charset="-122"/>
                <a:cs typeface="Meiryo" pitchFamily="34" charset="-120"/>
              </a:rPr>
              <a:t>既存コンテンツをそのまま2回開催いただき、Social Act Careerが各回10名程度の「価値観が合いそうな学生」を着席。参加後のインタビューで、どの言葉・どの属性が刺さったかを検証する。</a:t>
            </a:r>
            <a:endParaRPr lang="en-US" sz="850" dirty="0"/>
          </a:p>
        </p:txBody>
      </p:sp>
      <p:sp>
        <p:nvSpPr>
          <p:cNvPr id="18" name="Shape 15"/>
          <p:cNvSpPr/>
          <p:nvPr/>
        </p:nvSpPr>
        <p:spPr>
          <a:xfrm>
            <a:off x="6035040" y="1463040"/>
            <a:ext cx="2560320" cy="2331720"/>
          </a:xfrm>
          <a:prstGeom prst="rect">
            <a:avLst/>
          </a:prstGeom>
          <a:solidFill>
            <a:srgbClr val="FFFFFF"/>
          </a:solidFill>
          <a:ln w="12700">
            <a:solidFill>
              <a:srgbClr val="FFFFFF"/>
            </a:solidFill>
            <a:prstDash val="solid"/>
          </a:ln>
        </p:spPr>
      </p:sp>
      <p:sp>
        <p:nvSpPr>
          <p:cNvPr id="19" name="Shape 16"/>
          <p:cNvSpPr/>
          <p:nvPr/>
        </p:nvSpPr>
        <p:spPr>
          <a:xfrm>
            <a:off x="6035040" y="1463040"/>
            <a:ext cx="2560320" cy="41148"/>
          </a:xfrm>
          <a:prstGeom prst="rect">
            <a:avLst/>
          </a:prstGeom>
          <a:solidFill>
            <a:srgbClr val="FF7611"/>
          </a:solidFill>
          <a:ln w="12700">
            <a:solidFill>
              <a:srgbClr val="FF7611"/>
            </a:solidFill>
            <a:prstDash val="solid"/>
          </a:ln>
        </p:spPr>
      </p:sp>
      <p:sp>
        <p:nvSpPr>
          <p:cNvPr id="20" name="Text 17"/>
          <p:cNvSpPr txBox="1"/>
          <p:nvPr/>
        </p:nvSpPr>
        <p:spPr>
          <a:xfrm>
            <a:off x="6217920" y="1645920"/>
            <a:ext cx="2194560" cy="182880"/>
          </a:xfrm>
          <a:prstGeom prst="rect">
            <a:avLst/>
          </a:prstGeom>
          <a:noFill/>
          <a:ln/>
        </p:spPr>
        <p:txBody>
          <a:bodyPr wrap="square" lIns="0" tIns="0" rIns="0" bIns="0" rtlCol="0" anchor="t"/>
          <a:lstStyle/>
          <a:p>
            <a:pPr algn="l" indent="0" marL="0">
              <a:buNone/>
            </a:pPr>
            <a:r>
              <a:rPr lang="en-US" sz="750" b="1" spc="100" kern="0" dirty="0">
                <a:solidFill>
                  <a:srgbClr val="8C8C8C"/>
                </a:solidFill>
                <a:latin typeface="Meiryo" pitchFamily="34" charset="0"/>
                <a:ea typeface="Meiryo" pitchFamily="34" charset="-122"/>
                <a:cs typeface="Meiryo" pitchFamily="34" charset="-120"/>
              </a:rPr>
              <a:t>03 / ゴール</a:t>
            </a:r>
            <a:endParaRPr lang="en-US" sz="750" dirty="0"/>
          </a:p>
        </p:txBody>
      </p:sp>
      <p:sp>
        <p:nvSpPr>
          <p:cNvPr id="21" name="Text 18"/>
          <p:cNvSpPr txBox="1"/>
          <p:nvPr/>
        </p:nvSpPr>
        <p:spPr>
          <a:xfrm>
            <a:off x="6217920" y="1874520"/>
            <a:ext cx="2194560" cy="457200"/>
          </a:xfrm>
          <a:prstGeom prst="rect">
            <a:avLst/>
          </a:prstGeom>
          <a:noFill/>
          <a:ln/>
        </p:spPr>
        <p:txBody>
          <a:bodyPr wrap="square" lIns="0" tIns="0" rIns="0" bIns="0" rtlCol="0" anchor="t"/>
          <a:lstStyle/>
          <a:p>
            <a:pPr algn="l" indent="0" marL="0">
              <a:buNone/>
            </a:pPr>
            <a:r>
              <a:rPr lang="en-US" sz="1250" b="1" dirty="0">
                <a:solidFill>
                  <a:srgbClr val="222222"/>
                </a:solidFill>
                <a:latin typeface="Meiryo" pitchFamily="34" charset="0"/>
                <a:ea typeface="Meiryo" pitchFamily="34" charset="-122"/>
                <a:cs typeface="Meiryo" pitchFamily="34" charset="-120"/>
              </a:rPr>
              <a:t>28卒で1名、29卒の設計図を年内に</a:t>
            </a:r>
            <a:endParaRPr lang="en-US" sz="1250" dirty="0"/>
          </a:p>
        </p:txBody>
      </p:sp>
      <p:sp>
        <p:nvSpPr>
          <p:cNvPr id="22" name="Text 19"/>
          <p:cNvSpPr txBox="1"/>
          <p:nvPr/>
        </p:nvSpPr>
        <p:spPr>
          <a:xfrm>
            <a:off x="6217920" y="2377440"/>
            <a:ext cx="2194560" cy="1325880"/>
          </a:xfrm>
          <a:prstGeom prst="rect">
            <a:avLst/>
          </a:prstGeom>
          <a:noFill/>
          <a:ln/>
        </p:spPr>
        <p:txBody>
          <a:bodyPr wrap="square" lIns="0" tIns="0" rIns="0" bIns="0" rtlCol="0" anchor="t"/>
          <a:lstStyle/>
          <a:p>
            <a:pPr algn="l" indent="0" marL="0">
              <a:lnSpc>
                <a:spcPct val="135000"/>
              </a:lnSpc>
              <a:buNone/>
            </a:pPr>
            <a:r>
              <a:rPr lang="en-US" sz="850" dirty="0">
                <a:solidFill>
                  <a:srgbClr val="666666"/>
                </a:solidFill>
                <a:latin typeface="Meiryo" pitchFamily="34" charset="0"/>
                <a:ea typeface="Meiryo" pitchFamily="34" charset="-122"/>
                <a:cs typeface="Meiryo" pitchFamily="34" charset="-120"/>
              </a:rPr>
              <a:t>本選考進行3〜4名・内定承諾1名を狙いつつ、年内に29卒・30卒向けの早期接点の設計図（メッセージ案・企画タイトル案）をお渡しする。</a:t>
            </a:r>
            <a:endParaRPr lang="en-US" sz="850" dirty="0"/>
          </a:p>
        </p:txBody>
      </p:sp>
      <p:sp>
        <p:nvSpPr>
          <p:cNvPr id="23" name="Shape 20"/>
          <p:cNvSpPr/>
          <p:nvPr/>
        </p:nvSpPr>
        <p:spPr>
          <a:xfrm>
            <a:off x="548640" y="4023360"/>
            <a:ext cx="8046720" cy="502920"/>
          </a:xfrm>
          <a:prstGeom prst="rect">
            <a:avLst/>
          </a:prstGeom>
          <a:solidFill>
            <a:srgbClr val="84300F"/>
          </a:solidFill>
          <a:ln w="12700">
            <a:solidFill>
              <a:srgbClr val="84300F"/>
            </a:solidFill>
            <a:prstDash val="solid"/>
          </a:ln>
        </p:spPr>
      </p:sp>
      <p:sp>
        <p:nvSpPr>
          <p:cNvPr id="24" name="Text 21"/>
          <p:cNvSpPr txBox="1"/>
          <p:nvPr/>
        </p:nvSpPr>
        <p:spPr>
          <a:xfrm>
            <a:off x="731520" y="4023360"/>
            <a:ext cx="768096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28卒の「いま」に応えながら、29卒・30卒の母集団を「毎年ゼロから」にしない土台をつくります。</a:t>
            </a:r>
            <a:endParaRPr lang="en-US" sz="1100" dirty="0"/>
          </a:p>
        </p:txBody>
      </p:sp>
      <p:sp>
        <p:nvSpPr>
          <p:cNvPr id="25" name="Text 22"/>
          <p:cNvSpPr txBox="1"/>
          <p:nvPr/>
        </p:nvSpPr>
        <p:spPr>
          <a:xfrm>
            <a:off x="548640" y="4617720"/>
            <a:ext cx="7863840" cy="182880"/>
          </a:xfrm>
          <a:prstGeom prst="rect">
            <a:avLst/>
          </a:prstGeom>
          <a:noFill/>
          <a:ln/>
        </p:spPr>
        <p:txBody>
          <a:bodyPr wrap="square" lIns="0" tIns="0" rIns="0" bIns="0" rtlCol="0" anchor="t"/>
          <a:lstStyle/>
          <a:p>
            <a:pPr algn="l" indent="0" marL="0">
              <a:buNone/>
            </a:pPr>
            <a:r>
              <a:rPr lang="en-US" sz="700" dirty="0">
                <a:solidFill>
                  <a:srgbClr val="8C8C8C"/>
                </a:solidFill>
                <a:latin typeface="Meiryo" pitchFamily="34" charset="0"/>
                <a:ea typeface="Meiryo" pitchFamily="34" charset="-122"/>
                <a:cs typeface="Meiryo" pitchFamily="34" charset="-120"/>
              </a:rPr>
              <a:t>※ 本資料内の人数・金額はお打ち合わせでお伺いした内容をもとにした概算です。次回のお打ち合わせで実数とすり合わせをお願いいたします。</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02｜CURRENT STATE</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採用の全体像と、選考ファネル</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建築学生は困っていない。文系総合職の「会うまで」が課題です。</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3</a:t>
            </a:r>
            <a:endParaRPr lang="en-US" sz="7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4663440" cy="914400"/>
        </p:xfrm>
        <a:graphic>
          <a:graphicData uri="http://schemas.openxmlformats.org/drawingml/2006/table">
            <a:tbl>
              <a:tblPr/>
              <a:tblGrid>
                <a:gridCol w="1051560"/>
                <a:gridCol w="3611880"/>
              </a:tblGrid>
              <a:tr h="0">
                <a:tc>
                  <a:txBody>
                    <a:bodyPr/>
                    <a:lstStyle/>
                    <a:p>
                      <a:pPr indent="0" marL="0">
                        <a:buNone/>
                      </a:pPr>
                      <a:r>
                        <a:rPr lang="en-US" sz="800" b="1" dirty="0">
                          <a:solidFill>
                            <a:srgbClr val="84300F"/>
                          </a:solidFill>
                          <a:latin typeface="Meiryo" pitchFamily="34" charset="0"/>
                          <a:ea typeface="Meiryo" pitchFamily="34" charset="-122"/>
                          <a:cs typeface="Meiryo" pitchFamily="34" charset="-120"/>
                        </a:rPr>
                        <a:t>採用人数</a:t>
                      </a:r>
                      <a:endParaRPr lang="en-US" sz="800" dirty="0">
                        <a:latin typeface="Meiryo" charset="0"/>
                        <a:ea typeface="Meiryo" charset="0"/>
                        <a:cs typeface="Meiryo" charset="0"/>
                      </a:endParaRPr>
                    </a:p>
                  </a:txBody>
                  <a:tcPr marL="54864" marR="54864" marT="45720" marB="45720"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800" dirty="0">
                          <a:solidFill>
                            <a:srgbClr val="222222"/>
                          </a:solidFill>
                          <a:latin typeface="Meiryo" pitchFamily="34" charset="0"/>
                          <a:ea typeface="Meiryo" pitchFamily="34" charset="-122"/>
                          <a:cs typeface="Meiryo" pitchFamily="34" charset="-120"/>
                        </a:rPr>
                        <a:t>毎年 10〜15名。建築学生が約半分、非建築（文系）が約半分</a:t>
                      </a:r>
                      <a:endParaRPr lang="en-US" sz="800" dirty="0">
                        <a:latin typeface="Meiryo" charset="0"/>
                        <a:ea typeface="Meiryo" charset="0"/>
                        <a:cs typeface="Meiryo" charset="0"/>
                      </a:endParaRPr>
                    </a:p>
                  </a:txBody>
                  <a:tcPr marL="54864" marR="54864" marT="45720" marB="45720"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800" b="1" dirty="0">
                          <a:solidFill>
                            <a:srgbClr val="84300F"/>
                          </a:solidFill>
                          <a:latin typeface="Meiryo" pitchFamily="34" charset="0"/>
                          <a:ea typeface="Meiryo" pitchFamily="34" charset="-122"/>
                          <a:cs typeface="Meiryo" pitchFamily="34" charset="-120"/>
                        </a:rPr>
                        <a:t>文系の配属先</a:t>
                      </a:r>
                      <a:endParaRPr lang="en-US" sz="800" dirty="0">
                        <a:latin typeface="Meiryo" charset="0"/>
                        <a:ea typeface="Meiryo" charset="0"/>
                        <a:cs typeface="Meiryo" charset="0"/>
                      </a:endParaRPr>
                    </a:p>
                  </a:txBody>
                  <a:tcPr marL="54864" marR="54864" marT="45720" marB="45720"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800" dirty="0">
                          <a:solidFill>
                            <a:srgbClr val="222222"/>
                          </a:solidFill>
                          <a:latin typeface="Meiryo" pitchFamily="34" charset="0"/>
                          <a:ea typeface="Meiryo" pitchFamily="34" charset="-122"/>
                          <a:cs typeface="Meiryo" pitchFamily="34" charset="-120"/>
                        </a:rPr>
                        <a:t>入口は総合職。toC：一人ひとりの暮らしを紐解くコンサル職／toB：都市創造（企業の遊休不動産・社宅などの再生を企画し受注する企画営業）</a:t>
                      </a:r>
                      <a:endParaRPr lang="en-US" sz="800" dirty="0">
                        <a:latin typeface="Meiryo" charset="0"/>
                        <a:ea typeface="Meiryo" charset="0"/>
                        <a:cs typeface="Meiryo" charset="0"/>
                      </a:endParaRPr>
                    </a:p>
                  </a:txBody>
                  <a:tcPr marL="54864" marR="54864" marT="45720" marB="45720"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800" b="1" dirty="0">
                          <a:solidFill>
                            <a:srgbClr val="84300F"/>
                          </a:solidFill>
                          <a:latin typeface="Meiryo" pitchFamily="34" charset="0"/>
                          <a:ea typeface="Meiryo" pitchFamily="34" charset="-122"/>
                          <a:cs typeface="Meiryo" pitchFamily="34" charset="-120"/>
                        </a:rPr>
                        <a:t>採用体制</a:t>
                      </a:r>
                      <a:endParaRPr lang="en-US" sz="800" dirty="0">
                        <a:latin typeface="Meiryo" charset="0"/>
                        <a:ea typeface="Meiryo" charset="0"/>
                        <a:cs typeface="Meiryo" charset="0"/>
                      </a:endParaRPr>
                    </a:p>
                  </a:txBody>
                  <a:tcPr marL="54864" marR="54864" marT="45720" marB="45720"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800" dirty="0">
                          <a:solidFill>
                            <a:srgbClr val="222222"/>
                          </a:solidFill>
                          <a:latin typeface="Meiryo" pitchFamily="34" charset="0"/>
                          <a:ea typeface="Meiryo" pitchFamily="34" charset="-122"/>
                          <a:cs typeface="Meiryo" pitchFamily="34" charset="-120"/>
                        </a:rPr>
                        <a:t>新卒採用担当 2名で全体を運営</a:t>
                      </a:r>
                      <a:endParaRPr lang="en-US" sz="800" dirty="0">
                        <a:latin typeface="Meiryo" charset="0"/>
                        <a:ea typeface="Meiryo" charset="0"/>
                        <a:cs typeface="Meiryo" charset="0"/>
                      </a:endParaRPr>
                    </a:p>
                  </a:txBody>
                  <a:tcPr marL="54864" marR="54864" marT="45720" marB="45720"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800" b="1" dirty="0">
                          <a:solidFill>
                            <a:srgbClr val="84300F"/>
                          </a:solidFill>
                          <a:latin typeface="Meiryo" pitchFamily="34" charset="0"/>
                          <a:ea typeface="Meiryo" pitchFamily="34" charset="-122"/>
                          <a:cs typeface="Meiryo" pitchFamily="34" charset="-120"/>
                        </a:rPr>
                        <a:t>選考の特徴</a:t>
                      </a:r>
                      <a:endParaRPr lang="en-US" sz="800" dirty="0">
                        <a:latin typeface="Meiryo" charset="0"/>
                        <a:ea typeface="Meiryo" charset="0"/>
                        <a:cs typeface="Meiryo" charset="0"/>
                      </a:endParaRPr>
                    </a:p>
                  </a:txBody>
                  <a:tcPr marL="54864" marR="54864" marT="45720" marB="45720"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800" dirty="0">
                          <a:solidFill>
                            <a:srgbClr val="222222"/>
                          </a:solidFill>
                          <a:latin typeface="Meiryo" pitchFamily="34" charset="0"/>
                          <a:ea typeface="Meiryo" pitchFamily="34" charset="-122"/>
                          <a:cs typeface="Meiryo" pitchFamily="34" charset="-120"/>
                        </a:rPr>
                        <a:t>二次（グループ面接）通過後は人事がメンターとして伴走。ワークシートを一緒に作り込み、社員面談を組み、多い方で3回。役員面接はカウンセリングに近い</a:t>
                      </a:r>
                      <a:endParaRPr lang="en-US" sz="800" dirty="0">
                        <a:latin typeface="Meiryo" charset="0"/>
                        <a:ea typeface="Meiryo" charset="0"/>
                        <a:cs typeface="Meiryo" charset="0"/>
                      </a:endParaRPr>
                    </a:p>
                  </a:txBody>
                  <a:tcPr marL="54864" marR="54864" marT="45720" marB="45720"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800" b="1" dirty="0">
                          <a:solidFill>
                            <a:srgbClr val="84300F"/>
                          </a:solidFill>
                          <a:latin typeface="Meiryo" pitchFamily="34" charset="0"/>
                          <a:ea typeface="Meiryo" pitchFamily="34" charset="-122"/>
                          <a:cs typeface="Meiryo" pitchFamily="34" charset="-120"/>
                        </a:rPr>
                        <a:t>強み</a:t>
                      </a:r>
                      <a:endParaRPr lang="en-US" sz="800" dirty="0">
                        <a:latin typeface="Meiryo" charset="0"/>
                        <a:ea typeface="Meiryo" charset="0"/>
                        <a:cs typeface="Meiryo" charset="0"/>
                      </a:endParaRPr>
                    </a:p>
                  </a:txBody>
                  <a:tcPr marL="54864" marR="54864" marT="45720" marB="45720"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800" dirty="0">
                          <a:solidFill>
                            <a:srgbClr val="222222"/>
                          </a:solidFill>
                          <a:latin typeface="Meiryo" pitchFamily="34" charset="0"/>
                          <a:ea typeface="Meiryo" pitchFamily="34" charset="-122"/>
                          <a:cs typeface="Meiryo" pitchFamily="34" charset="-120"/>
                        </a:rPr>
                        <a:t>実際に会って話せた学生は、選考への移行率が高い</a:t>
                      </a:r>
                      <a:endParaRPr lang="en-US" sz="800" dirty="0">
                        <a:latin typeface="Meiryo" charset="0"/>
                        <a:ea typeface="Meiryo" charset="0"/>
                        <a:cs typeface="Meiryo" charset="0"/>
                      </a:endParaRPr>
                    </a:p>
                  </a:txBody>
                  <a:tcPr marL="54864" marR="54864" marT="45720" marB="45720"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800" b="1" dirty="0">
                          <a:solidFill>
                            <a:srgbClr val="84300F"/>
                          </a:solidFill>
                          <a:latin typeface="Meiryo" pitchFamily="34" charset="0"/>
                          <a:ea typeface="Meiryo" pitchFamily="34" charset="-122"/>
                          <a:cs typeface="Meiryo" pitchFamily="34" charset="-120"/>
                        </a:rPr>
                        <a:t>課題</a:t>
                      </a:r>
                      <a:endParaRPr lang="en-US" sz="800" dirty="0">
                        <a:latin typeface="Meiryo" charset="0"/>
                        <a:ea typeface="Meiryo" charset="0"/>
                        <a:cs typeface="Meiryo" charset="0"/>
                      </a:endParaRPr>
                    </a:p>
                  </a:txBody>
                  <a:tcPr marL="54864" marR="54864" marT="45720" marB="45720"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800" dirty="0">
                          <a:solidFill>
                            <a:srgbClr val="222222"/>
                          </a:solidFill>
                          <a:latin typeface="Meiryo" pitchFamily="34" charset="0"/>
                          <a:ea typeface="Meiryo" pitchFamily="34" charset="-122"/>
                          <a:cs typeface="Meiryo" pitchFamily="34" charset="-120"/>
                        </a:rPr>
                        <a:t>「会うまで」。採りたい層に最初に出会えていない</a:t>
                      </a:r>
                      <a:endParaRPr lang="en-US" sz="800" dirty="0">
                        <a:latin typeface="Meiryo" charset="0"/>
                        <a:ea typeface="Meiryo" charset="0"/>
                        <a:cs typeface="Meiryo" charset="0"/>
                      </a:endParaRPr>
                    </a:p>
                  </a:txBody>
                  <a:tcPr marL="54864" marR="54864" marT="45720" marB="45720"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bl>
          </a:graphicData>
        </a:graphic>
      </p:graphicFrame>
      <p:sp>
        <p:nvSpPr>
          <p:cNvPr id="9" name="Text 5"/>
          <p:cNvSpPr txBox="1"/>
          <p:nvPr/>
        </p:nvSpPr>
        <p:spPr>
          <a:xfrm>
            <a:off x="5486400" y="1417320"/>
            <a:ext cx="3108960" cy="228600"/>
          </a:xfrm>
          <a:prstGeom prst="rect">
            <a:avLst/>
          </a:prstGeom>
          <a:noFill/>
          <a:ln/>
        </p:spPr>
        <p:txBody>
          <a:bodyPr wrap="square" lIns="0" tIns="0" rIns="0" bIns="0" rtlCol="0" anchor="t"/>
          <a:lstStyle/>
          <a:p>
            <a:pPr algn="l" indent="0" marL="0">
              <a:buNone/>
            </a:pPr>
            <a:r>
              <a:rPr lang="en-US" sz="950" b="1" dirty="0">
                <a:solidFill>
                  <a:srgbClr val="222222"/>
                </a:solidFill>
                <a:latin typeface="Meiryo" pitchFamily="34" charset="0"/>
                <a:ea typeface="Meiryo" pitchFamily="34" charset="-122"/>
                <a:cs typeface="Meiryo" pitchFamily="34" charset="-120"/>
              </a:rPr>
              <a:t>年間の選考ファネル（概算）</a:t>
            </a:r>
            <a:endParaRPr lang="en-US" sz="950" dirty="0"/>
          </a:p>
        </p:txBody>
      </p:sp>
      <p:sp>
        <p:nvSpPr>
          <p:cNvPr id="10" name="Shape 6"/>
          <p:cNvSpPr/>
          <p:nvPr/>
        </p:nvSpPr>
        <p:spPr>
          <a:xfrm>
            <a:off x="5486400" y="1691640"/>
            <a:ext cx="1005840" cy="1234440"/>
          </a:xfrm>
          <a:prstGeom prst="rect">
            <a:avLst/>
          </a:prstGeom>
          <a:solidFill>
            <a:srgbClr val="FFFFFF"/>
          </a:solidFill>
          <a:ln w="12700">
            <a:solidFill>
              <a:srgbClr val="FFFFFF"/>
            </a:solidFill>
            <a:prstDash val="solid"/>
          </a:ln>
        </p:spPr>
      </p:sp>
      <p:sp>
        <p:nvSpPr>
          <p:cNvPr id="11" name="Shape 7"/>
          <p:cNvSpPr/>
          <p:nvPr/>
        </p:nvSpPr>
        <p:spPr>
          <a:xfrm>
            <a:off x="5486400" y="1691640"/>
            <a:ext cx="1005840" cy="41148"/>
          </a:xfrm>
          <a:prstGeom prst="rect">
            <a:avLst/>
          </a:prstGeom>
          <a:solidFill>
            <a:srgbClr val="DDDCD4"/>
          </a:solidFill>
          <a:ln w="12700">
            <a:solidFill>
              <a:srgbClr val="DDDCD4"/>
            </a:solidFill>
            <a:prstDash val="solid"/>
          </a:ln>
        </p:spPr>
      </p:sp>
      <p:sp>
        <p:nvSpPr>
          <p:cNvPr id="12" name="Text 8"/>
          <p:cNvSpPr txBox="1"/>
          <p:nvPr/>
        </p:nvSpPr>
        <p:spPr>
          <a:xfrm>
            <a:off x="5577840" y="1783080"/>
            <a:ext cx="868680" cy="182880"/>
          </a:xfrm>
          <a:prstGeom prst="rect">
            <a:avLst/>
          </a:prstGeom>
          <a:noFill/>
          <a:ln/>
        </p:spPr>
        <p:txBody>
          <a:bodyPr wrap="square" lIns="0" tIns="0" rIns="0" bIns="0" rtlCol="0" anchor="t"/>
          <a:lstStyle/>
          <a:p>
            <a:pPr algn="l" indent="0" marL="0">
              <a:buNone/>
            </a:pPr>
            <a:r>
              <a:rPr lang="en-US" sz="750" b="1" dirty="0">
                <a:solidFill>
                  <a:srgbClr val="8C8C8C"/>
                </a:solidFill>
                <a:latin typeface="Meiryo" pitchFamily="34" charset="0"/>
                <a:ea typeface="Meiryo" pitchFamily="34" charset="-122"/>
                <a:cs typeface="Meiryo" pitchFamily="34" charset="-120"/>
              </a:rPr>
              <a:t>二次通過</a:t>
            </a:r>
            <a:endParaRPr lang="en-US" sz="750" dirty="0"/>
          </a:p>
        </p:txBody>
      </p:sp>
      <p:sp>
        <p:nvSpPr>
          <p:cNvPr id="13" name="Text 9"/>
          <p:cNvSpPr txBox="1"/>
          <p:nvPr/>
        </p:nvSpPr>
        <p:spPr>
          <a:xfrm>
            <a:off x="5577840" y="1965960"/>
            <a:ext cx="868680" cy="457200"/>
          </a:xfrm>
          <a:prstGeom prst="rect">
            <a:avLst/>
          </a:prstGeom>
          <a:noFill/>
          <a:ln/>
        </p:spPr>
        <p:txBody>
          <a:bodyPr wrap="square" lIns="0" tIns="0" rIns="0" bIns="0" rtlCol="0" anchor="ctr"/>
          <a:lstStyle/>
          <a:p>
            <a:pPr algn="l" indent="0" marL="0">
              <a:buNone/>
            </a:pPr>
            <a:r>
              <a:rPr lang="en-US" sz="2400" b="1" dirty="0">
                <a:solidFill>
                  <a:srgbClr val="222222"/>
                </a:solidFill>
                <a:latin typeface="Meiryo" pitchFamily="34" charset="0"/>
                <a:ea typeface="Meiryo" pitchFamily="34" charset="-122"/>
                <a:cs typeface="Meiryo" pitchFamily="34" charset="-120"/>
              </a:rPr>
              <a:t>60</a:t>
            </a:r>
            <a:pPr algn="l" indent="0" marL="0">
              <a:buNone/>
            </a:pPr>
            <a:r>
              <a:rPr lang="en-US" sz="800" dirty="0">
                <a:solidFill>
                  <a:srgbClr val="666666"/>
                </a:solidFill>
                <a:latin typeface="Meiryo" pitchFamily="34" charset="0"/>
                <a:ea typeface="Meiryo" pitchFamily="34" charset="-122"/>
                <a:cs typeface="Meiryo" pitchFamily="34" charset="-120"/>
              </a:rPr>
              <a:t> 名</a:t>
            </a:r>
            <a:endParaRPr lang="en-US" sz="1000" dirty="0"/>
          </a:p>
        </p:txBody>
      </p:sp>
      <p:sp>
        <p:nvSpPr>
          <p:cNvPr id="14" name="Text 10"/>
          <p:cNvSpPr txBox="1"/>
          <p:nvPr/>
        </p:nvSpPr>
        <p:spPr>
          <a:xfrm>
            <a:off x="5577840" y="2468880"/>
            <a:ext cx="868680" cy="411480"/>
          </a:xfrm>
          <a:prstGeom prst="rect">
            <a:avLst/>
          </a:prstGeom>
          <a:noFill/>
          <a:ln/>
        </p:spPr>
        <p:txBody>
          <a:bodyPr wrap="square" lIns="0" tIns="0" rIns="0" bIns="0" rtlCol="0" anchor="t"/>
          <a:lstStyle/>
          <a:p>
            <a:pPr algn="l" indent="0" marL="0">
              <a:lnSpc>
                <a:spcPct val="120000"/>
              </a:lnSpc>
              <a:buNone/>
            </a:pPr>
            <a:r>
              <a:rPr lang="en-US" sz="650" dirty="0">
                <a:solidFill>
                  <a:srgbClr val="666666"/>
                </a:solidFill>
                <a:latin typeface="Meiryo" pitchFamily="34" charset="0"/>
                <a:ea typeface="Meiryo" pitchFamily="34" charset="-122"/>
                <a:cs typeface="Meiryo" pitchFamily="34" charset="-120"/>
              </a:rPr>
              <a:t>人事メンターの伴走が始まる</a:t>
            </a:r>
            <a:endParaRPr lang="en-US" sz="650" dirty="0"/>
          </a:p>
        </p:txBody>
      </p:sp>
      <p:sp>
        <p:nvSpPr>
          <p:cNvPr id="15" name="Shape 11"/>
          <p:cNvSpPr/>
          <p:nvPr/>
        </p:nvSpPr>
        <p:spPr>
          <a:xfrm>
            <a:off x="6537960" y="1691640"/>
            <a:ext cx="1005840" cy="1234440"/>
          </a:xfrm>
          <a:prstGeom prst="rect">
            <a:avLst/>
          </a:prstGeom>
          <a:solidFill>
            <a:srgbClr val="FFFFFF"/>
          </a:solidFill>
          <a:ln w="12700">
            <a:solidFill>
              <a:srgbClr val="FFFFFF"/>
            </a:solidFill>
            <a:prstDash val="solid"/>
          </a:ln>
        </p:spPr>
      </p:sp>
      <p:sp>
        <p:nvSpPr>
          <p:cNvPr id="16" name="Shape 12"/>
          <p:cNvSpPr/>
          <p:nvPr/>
        </p:nvSpPr>
        <p:spPr>
          <a:xfrm>
            <a:off x="6537960" y="1691640"/>
            <a:ext cx="1005840" cy="41148"/>
          </a:xfrm>
          <a:prstGeom prst="rect">
            <a:avLst/>
          </a:prstGeom>
          <a:solidFill>
            <a:srgbClr val="DDDCD4"/>
          </a:solidFill>
          <a:ln w="12700">
            <a:solidFill>
              <a:srgbClr val="DDDCD4"/>
            </a:solidFill>
            <a:prstDash val="solid"/>
          </a:ln>
        </p:spPr>
      </p:sp>
      <p:sp>
        <p:nvSpPr>
          <p:cNvPr id="17" name="Text 13"/>
          <p:cNvSpPr txBox="1"/>
          <p:nvPr/>
        </p:nvSpPr>
        <p:spPr>
          <a:xfrm>
            <a:off x="6629400" y="1783080"/>
            <a:ext cx="868680" cy="182880"/>
          </a:xfrm>
          <a:prstGeom prst="rect">
            <a:avLst/>
          </a:prstGeom>
          <a:noFill/>
          <a:ln/>
        </p:spPr>
        <p:txBody>
          <a:bodyPr wrap="square" lIns="0" tIns="0" rIns="0" bIns="0" rtlCol="0" anchor="t"/>
          <a:lstStyle/>
          <a:p>
            <a:pPr algn="l" indent="0" marL="0">
              <a:buNone/>
            </a:pPr>
            <a:r>
              <a:rPr lang="en-US" sz="750" b="1" dirty="0">
                <a:solidFill>
                  <a:srgbClr val="8C8C8C"/>
                </a:solidFill>
                <a:latin typeface="Meiryo" pitchFamily="34" charset="0"/>
                <a:ea typeface="Meiryo" pitchFamily="34" charset="-122"/>
                <a:cs typeface="Meiryo" pitchFamily="34" charset="-120"/>
              </a:rPr>
              <a:t>役員面接へ</a:t>
            </a:r>
            <a:endParaRPr lang="en-US" sz="750" dirty="0"/>
          </a:p>
        </p:txBody>
      </p:sp>
      <p:sp>
        <p:nvSpPr>
          <p:cNvPr id="18" name="Text 14"/>
          <p:cNvSpPr txBox="1"/>
          <p:nvPr/>
        </p:nvSpPr>
        <p:spPr>
          <a:xfrm>
            <a:off x="6629400" y="1965960"/>
            <a:ext cx="868680" cy="457200"/>
          </a:xfrm>
          <a:prstGeom prst="rect">
            <a:avLst/>
          </a:prstGeom>
          <a:noFill/>
          <a:ln/>
        </p:spPr>
        <p:txBody>
          <a:bodyPr wrap="square" lIns="0" tIns="0" rIns="0" bIns="0" rtlCol="0" anchor="ctr"/>
          <a:lstStyle/>
          <a:p>
            <a:pPr algn="l" indent="0" marL="0">
              <a:buNone/>
            </a:pPr>
            <a:r>
              <a:rPr lang="en-US" sz="2400" b="1" dirty="0">
                <a:solidFill>
                  <a:srgbClr val="222222"/>
                </a:solidFill>
                <a:latin typeface="Meiryo" pitchFamily="34" charset="0"/>
                <a:ea typeface="Meiryo" pitchFamily="34" charset="-122"/>
                <a:cs typeface="Meiryo" pitchFamily="34" charset="-120"/>
              </a:rPr>
              <a:t>20</a:t>
            </a:r>
            <a:pPr algn="l" indent="0" marL="0">
              <a:buNone/>
            </a:pPr>
            <a:r>
              <a:rPr lang="en-US" sz="800" dirty="0">
                <a:solidFill>
                  <a:srgbClr val="666666"/>
                </a:solidFill>
                <a:latin typeface="Meiryo" pitchFamily="34" charset="0"/>
                <a:ea typeface="Meiryo" pitchFamily="34" charset="-122"/>
                <a:cs typeface="Meiryo" pitchFamily="34" charset="-120"/>
              </a:rPr>
              <a:t> 名</a:t>
            </a:r>
            <a:endParaRPr lang="en-US" sz="1000" dirty="0"/>
          </a:p>
        </p:txBody>
      </p:sp>
      <p:sp>
        <p:nvSpPr>
          <p:cNvPr id="19" name="Text 15"/>
          <p:cNvSpPr txBox="1"/>
          <p:nvPr/>
        </p:nvSpPr>
        <p:spPr>
          <a:xfrm>
            <a:off x="6629400" y="2468880"/>
            <a:ext cx="868680" cy="411480"/>
          </a:xfrm>
          <a:prstGeom prst="rect">
            <a:avLst/>
          </a:prstGeom>
          <a:noFill/>
          <a:ln/>
        </p:spPr>
        <p:txBody>
          <a:bodyPr wrap="square" lIns="0" tIns="0" rIns="0" bIns="0" rtlCol="0" anchor="t"/>
          <a:lstStyle/>
          <a:p>
            <a:pPr algn="l" indent="0" marL="0">
              <a:lnSpc>
                <a:spcPct val="120000"/>
              </a:lnSpc>
              <a:buNone/>
            </a:pPr>
            <a:r>
              <a:rPr lang="en-US" sz="650" dirty="0">
                <a:solidFill>
                  <a:srgbClr val="666666"/>
                </a:solidFill>
                <a:latin typeface="Meiryo" pitchFamily="34" charset="0"/>
                <a:ea typeface="Meiryo" pitchFamily="34" charset="-122"/>
                <a:cs typeface="Meiryo" pitchFamily="34" charset="-120"/>
              </a:rPr>
              <a:t>通過率は約1/3</a:t>
            </a:r>
            <a:endParaRPr lang="en-US" sz="650" dirty="0"/>
          </a:p>
        </p:txBody>
      </p:sp>
      <p:sp>
        <p:nvSpPr>
          <p:cNvPr id="20" name="Shape 16"/>
          <p:cNvSpPr/>
          <p:nvPr/>
        </p:nvSpPr>
        <p:spPr>
          <a:xfrm>
            <a:off x="7589520" y="1691640"/>
            <a:ext cx="1005840" cy="1234440"/>
          </a:xfrm>
          <a:prstGeom prst="rect">
            <a:avLst/>
          </a:prstGeom>
          <a:solidFill>
            <a:srgbClr val="FFFFFF"/>
          </a:solidFill>
          <a:ln w="12700">
            <a:solidFill>
              <a:srgbClr val="FFFFFF"/>
            </a:solidFill>
            <a:prstDash val="solid"/>
          </a:ln>
        </p:spPr>
      </p:sp>
      <p:sp>
        <p:nvSpPr>
          <p:cNvPr id="21" name="Shape 17"/>
          <p:cNvSpPr/>
          <p:nvPr/>
        </p:nvSpPr>
        <p:spPr>
          <a:xfrm>
            <a:off x="7589520" y="1691640"/>
            <a:ext cx="1005840" cy="41148"/>
          </a:xfrm>
          <a:prstGeom prst="rect">
            <a:avLst/>
          </a:prstGeom>
          <a:solidFill>
            <a:srgbClr val="FF7611"/>
          </a:solidFill>
          <a:ln w="12700">
            <a:solidFill>
              <a:srgbClr val="FF7611"/>
            </a:solidFill>
            <a:prstDash val="solid"/>
          </a:ln>
        </p:spPr>
      </p:sp>
      <p:sp>
        <p:nvSpPr>
          <p:cNvPr id="22" name="Text 18"/>
          <p:cNvSpPr txBox="1"/>
          <p:nvPr/>
        </p:nvSpPr>
        <p:spPr>
          <a:xfrm>
            <a:off x="7680960" y="1783080"/>
            <a:ext cx="868680" cy="182880"/>
          </a:xfrm>
          <a:prstGeom prst="rect">
            <a:avLst/>
          </a:prstGeom>
          <a:noFill/>
          <a:ln/>
        </p:spPr>
        <p:txBody>
          <a:bodyPr wrap="square" lIns="0" tIns="0" rIns="0" bIns="0" rtlCol="0" anchor="t"/>
          <a:lstStyle/>
          <a:p>
            <a:pPr algn="l" indent="0" marL="0">
              <a:buNone/>
            </a:pPr>
            <a:r>
              <a:rPr lang="en-US" sz="750" b="1" dirty="0">
                <a:solidFill>
                  <a:srgbClr val="8C8C8C"/>
                </a:solidFill>
                <a:latin typeface="Meiryo" pitchFamily="34" charset="0"/>
                <a:ea typeface="Meiryo" pitchFamily="34" charset="-122"/>
                <a:cs typeface="Meiryo" pitchFamily="34" charset="-120"/>
              </a:rPr>
              <a:t>内定承諾</a:t>
            </a:r>
            <a:endParaRPr lang="en-US" sz="750" dirty="0"/>
          </a:p>
        </p:txBody>
      </p:sp>
      <p:sp>
        <p:nvSpPr>
          <p:cNvPr id="23" name="Text 19"/>
          <p:cNvSpPr txBox="1"/>
          <p:nvPr/>
        </p:nvSpPr>
        <p:spPr>
          <a:xfrm>
            <a:off x="7680960" y="1965960"/>
            <a:ext cx="868680" cy="457200"/>
          </a:xfrm>
          <a:prstGeom prst="rect">
            <a:avLst/>
          </a:prstGeom>
          <a:noFill/>
          <a:ln/>
        </p:spPr>
        <p:txBody>
          <a:bodyPr wrap="square" lIns="0" tIns="0" rIns="0" bIns="0" rtlCol="0" anchor="ctr"/>
          <a:lstStyle/>
          <a:p>
            <a:pPr algn="l" indent="0" marL="0">
              <a:buNone/>
            </a:pPr>
            <a:r>
              <a:rPr lang="en-US" sz="2400" b="1" dirty="0">
                <a:solidFill>
                  <a:srgbClr val="B65124"/>
                </a:solidFill>
                <a:latin typeface="Meiryo" pitchFamily="34" charset="0"/>
                <a:ea typeface="Meiryo" pitchFamily="34" charset="-122"/>
                <a:cs typeface="Meiryo" pitchFamily="34" charset="-120"/>
              </a:rPr>
              <a:t>13</a:t>
            </a:r>
            <a:pPr algn="l" indent="0" marL="0">
              <a:buNone/>
            </a:pPr>
            <a:r>
              <a:rPr lang="en-US" sz="800" dirty="0">
                <a:solidFill>
                  <a:srgbClr val="666666"/>
                </a:solidFill>
                <a:latin typeface="Meiryo" pitchFamily="34" charset="0"/>
                <a:ea typeface="Meiryo" pitchFamily="34" charset="-122"/>
                <a:cs typeface="Meiryo" pitchFamily="34" charset="-120"/>
              </a:rPr>
              <a:t> 名</a:t>
            </a:r>
            <a:endParaRPr lang="en-US" sz="1000" dirty="0"/>
          </a:p>
        </p:txBody>
      </p:sp>
      <p:sp>
        <p:nvSpPr>
          <p:cNvPr id="24" name="Text 20"/>
          <p:cNvSpPr txBox="1"/>
          <p:nvPr/>
        </p:nvSpPr>
        <p:spPr>
          <a:xfrm>
            <a:off x="7680960" y="2468880"/>
            <a:ext cx="868680" cy="411480"/>
          </a:xfrm>
          <a:prstGeom prst="rect">
            <a:avLst/>
          </a:prstGeom>
          <a:noFill/>
          <a:ln/>
        </p:spPr>
        <p:txBody>
          <a:bodyPr wrap="square" lIns="0" tIns="0" rIns="0" bIns="0" rtlCol="0" anchor="t"/>
          <a:lstStyle/>
          <a:p>
            <a:pPr algn="l" indent="0" marL="0">
              <a:lnSpc>
                <a:spcPct val="120000"/>
              </a:lnSpc>
              <a:buNone/>
            </a:pPr>
            <a:r>
              <a:rPr lang="en-US" sz="650" dirty="0">
                <a:solidFill>
                  <a:srgbClr val="666666"/>
                </a:solidFill>
                <a:latin typeface="Meiryo" pitchFamily="34" charset="0"/>
                <a:ea typeface="Meiryo" pitchFamily="34" charset="-122"/>
                <a:cs typeface="Meiryo" pitchFamily="34" charset="-120"/>
              </a:rPr>
              <a:t>最終的な承諾数</a:t>
            </a:r>
            <a:endParaRPr lang="en-US" sz="650" dirty="0"/>
          </a:p>
        </p:txBody>
      </p:sp>
      <p:sp>
        <p:nvSpPr>
          <p:cNvPr id="25" name="Shape 21"/>
          <p:cNvSpPr/>
          <p:nvPr/>
        </p:nvSpPr>
        <p:spPr>
          <a:xfrm>
            <a:off x="5486400" y="3063240"/>
            <a:ext cx="3108960" cy="960120"/>
          </a:xfrm>
          <a:prstGeom prst="rect">
            <a:avLst/>
          </a:prstGeom>
          <a:solidFill>
            <a:srgbClr val="FFFFFF"/>
          </a:solidFill>
          <a:ln w="12700">
            <a:solidFill>
              <a:srgbClr val="FF7611"/>
            </a:solidFill>
            <a:prstDash val="solid"/>
          </a:ln>
        </p:spPr>
      </p:sp>
      <p:sp>
        <p:nvSpPr>
          <p:cNvPr id="26" name="Text 22"/>
          <p:cNvSpPr txBox="1"/>
          <p:nvPr/>
        </p:nvSpPr>
        <p:spPr>
          <a:xfrm>
            <a:off x="5623560" y="3127248"/>
            <a:ext cx="2834640" cy="685800"/>
          </a:xfrm>
          <a:prstGeom prst="rect">
            <a:avLst/>
          </a:prstGeom>
          <a:noFill/>
          <a:ln/>
        </p:spPr>
        <p:txBody>
          <a:bodyPr wrap="square" lIns="0" tIns="0" rIns="0" bIns="0" rtlCol="0" anchor="t"/>
          <a:lstStyle/>
          <a:p>
            <a:pPr algn="l" indent="0" marL="0">
              <a:lnSpc>
                <a:spcPct val="135000"/>
              </a:lnSpc>
              <a:buNone/>
            </a:pPr>
            <a:r>
              <a:rPr lang="en-US" sz="800" dirty="0">
                <a:solidFill>
                  <a:srgbClr val="222222"/>
                </a:solidFill>
                <a:latin typeface="Meiryo" pitchFamily="34" charset="0"/>
                <a:ea typeface="Meiryo" pitchFamily="34" charset="-122"/>
                <a:cs typeface="Meiryo" pitchFamily="34" charset="-120"/>
              </a:rPr>
              <a:t>「実際会ったり喋ったりすると、選考への移行率がすごく高い。いかにその最初に会えるか。そこまでがすごく課題。」</a:t>
            </a:r>
            <a:endParaRPr lang="en-US" sz="800" dirty="0"/>
          </a:p>
        </p:txBody>
      </p:sp>
      <p:sp>
        <p:nvSpPr>
          <p:cNvPr id="27" name="Text 23"/>
          <p:cNvSpPr txBox="1"/>
          <p:nvPr/>
        </p:nvSpPr>
        <p:spPr>
          <a:xfrm>
            <a:off x="5623560" y="3794760"/>
            <a:ext cx="2834640" cy="182880"/>
          </a:xfrm>
          <a:prstGeom prst="rect">
            <a:avLst/>
          </a:prstGeom>
          <a:noFill/>
          <a:ln/>
        </p:spPr>
        <p:txBody>
          <a:bodyPr wrap="square" lIns="0" tIns="0" rIns="0" bIns="0" rtlCol="0" anchor="t"/>
          <a:lstStyle/>
          <a:p>
            <a:pPr algn="l" indent="0" marL="0">
              <a:buNone/>
            </a:pPr>
            <a:r>
              <a:rPr lang="en-US" sz="650" dirty="0">
                <a:solidFill>
                  <a:srgbClr val="8C8C8C"/>
                </a:solidFill>
                <a:latin typeface="Meiryo" pitchFamily="34" charset="0"/>
                <a:ea typeface="Meiryo" pitchFamily="34" charset="-122"/>
                <a:cs typeface="Meiryo" pitchFamily="34" charset="-120"/>
              </a:rPr>
              <a:t>― お打ち合わせでの鈴木様のお言葉より</a:t>
            </a:r>
            <a:endParaRPr lang="en-US" sz="650" dirty="0"/>
          </a:p>
        </p:txBody>
      </p:sp>
      <p:sp>
        <p:nvSpPr>
          <p:cNvPr id="28" name="Shape 24"/>
          <p:cNvSpPr/>
          <p:nvPr/>
        </p:nvSpPr>
        <p:spPr>
          <a:xfrm>
            <a:off x="548640" y="4206240"/>
            <a:ext cx="8046720" cy="502920"/>
          </a:xfrm>
          <a:prstGeom prst="rect">
            <a:avLst/>
          </a:prstGeom>
          <a:solidFill>
            <a:srgbClr val="2C2C2C"/>
          </a:solidFill>
          <a:ln w="12700">
            <a:solidFill>
              <a:srgbClr val="2C2C2C"/>
            </a:solidFill>
            <a:prstDash val="solid"/>
          </a:ln>
        </p:spPr>
      </p:sp>
      <p:sp>
        <p:nvSpPr>
          <p:cNvPr id="29" name="Text 25"/>
          <p:cNvSpPr txBox="1"/>
          <p:nvPr/>
        </p:nvSpPr>
        <p:spPr>
          <a:xfrm>
            <a:off x="777240" y="4206240"/>
            <a:ext cx="1554480" cy="502920"/>
          </a:xfrm>
          <a:prstGeom prst="rect">
            <a:avLst/>
          </a:prstGeom>
          <a:noFill/>
          <a:ln/>
        </p:spPr>
        <p:txBody>
          <a:bodyPr wrap="square" lIns="0" tIns="0" rIns="0" bIns="0" rtlCol="0" anchor="ctr"/>
          <a:lstStyle/>
          <a:p>
            <a:pPr algn="l" indent="0" marL="0">
              <a:buNone/>
            </a:pPr>
            <a:r>
              <a:rPr lang="en-US" sz="900" b="1" dirty="0">
                <a:solidFill>
                  <a:srgbClr val="FF7611"/>
                </a:solidFill>
                <a:latin typeface="Meiryo" pitchFamily="34" charset="0"/>
                <a:ea typeface="Meiryo" pitchFamily="34" charset="-122"/>
                <a:cs typeface="Meiryo" pitchFamily="34" charset="-120"/>
              </a:rPr>
              <a:t>私たちの理解</a:t>
            </a:r>
            <a:endParaRPr lang="en-US" sz="900" dirty="0"/>
          </a:p>
        </p:txBody>
      </p:sp>
      <p:sp>
        <p:nvSpPr>
          <p:cNvPr id="30" name="Text 26"/>
          <p:cNvSpPr txBox="1"/>
          <p:nvPr/>
        </p:nvSpPr>
        <p:spPr>
          <a:xfrm>
            <a:off x="2377440" y="4206240"/>
            <a:ext cx="6035040" cy="502920"/>
          </a:xfrm>
          <a:prstGeom prst="rect">
            <a:avLst/>
          </a:prstGeom>
          <a:noFill/>
          <a:ln/>
        </p:spPr>
        <p:txBody>
          <a:bodyPr wrap="square" lIns="0" tIns="0" rIns="0" bIns="0" rtlCol="0" anchor="ctr"/>
          <a:lstStyle/>
          <a:p>
            <a:pPr algn="l" indent="0" marL="0">
              <a:buNone/>
            </a:pPr>
            <a:r>
              <a:rPr lang="en-US" sz="950" dirty="0">
                <a:solidFill>
                  <a:srgbClr val="FFFFFF"/>
                </a:solidFill>
                <a:latin typeface="Meiryo" pitchFamily="34" charset="0"/>
                <a:ea typeface="Meiryo" pitchFamily="34" charset="-122"/>
                <a:cs typeface="Meiryo" pitchFamily="34" charset="-120"/>
              </a:rPr>
              <a:t>60名を70〜80名に増やすことではなく、この60名の中に「採りたい層」を増やすこと。</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03｜STRUCTURE</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打ち出しのジレンマ。どちらに振っても、欲しい層の手前で止まる</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27卒・28卒の打ち出しと、集まった層の変化。</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4</a:t>
            </a:r>
            <a:endParaRPr lang="en-US" sz="750" dirty="0"/>
          </a:p>
        </p:txBody>
      </p:sp>
      <p:sp>
        <p:nvSpPr>
          <p:cNvPr id="8" name="Shape 5"/>
          <p:cNvSpPr/>
          <p:nvPr/>
        </p:nvSpPr>
        <p:spPr>
          <a:xfrm>
            <a:off x="548640" y="1417320"/>
            <a:ext cx="2788920" cy="1554480"/>
          </a:xfrm>
          <a:prstGeom prst="rect">
            <a:avLst/>
          </a:prstGeom>
          <a:solidFill>
            <a:srgbClr val="FFFFFF"/>
          </a:solidFill>
          <a:ln w="12700">
            <a:solidFill>
              <a:srgbClr val="FFFFFF"/>
            </a:solidFill>
            <a:prstDash val="solid"/>
          </a:ln>
        </p:spPr>
      </p:sp>
      <p:sp>
        <p:nvSpPr>
          <p:cNvPr id="9" name="Shape 6"/>
          <p:cNvSpPr/>
          <p:nvPr/>
        </p:nvSpPr>
        <p:spPr>
          <a:xfrm>
            <a:off x="548640" y="1417320"/>
            <a:ext cx="2788920" cy="41148"/>
          </a:xfrm>
          <a:prstGeom prst="rect">
            <a:avLst/>
          </a:prstGeom>
          <a:solidFill>
            <a:srgbClr val="FF7611"/>
          </a:solidFill>
          <a:ln w="12700">
            <a:solidFill>
              <a:srgbClr val="FF7611"/>
            </a:solidFill>
            <a:prstDash val="solid"/>
          </a:ln>
        </p:spPr>
      </p:sp>
      <p:sp>
        <p:nvSpPr>
          <p:cNvPr id="10" name="Text 7"/>
          <p:cNvSpPr txBox="1"/>
          <p:nvPr/>
        </p:nvSpPr>
        <p:spPr>
          <a:xfrm>
            <a:off x="731520" y="1554480"/>
            <a:ext cx="2468880" cy="228600"/>
          </a:xfrm>
          <a:prstGeom prst="rect">
            <a:avLst/>
          </a:prstGeom>
          <a:noFill/>
          <a:ln/>
        </p:spPr>
        <p:txBody>
          <a:bodyPr wrap="square" lIns="0" tIns="0" rIns="0" bIns="0" rtlCol="0" anchor="t"/>
          <a:lstStyle/>
          <a:p>
            <a:pPr algn="l" indent="0" marL="0">
              <a:buNone/>
            </a:pPr>
            <a:r>
              <a:rPr lang="en-US" sz="950" b="1" dirty="0">
                <a:solidFill>
                  <a:srgbClr val="222222"/>
                </a:solidFill>
                <a:latin typeface="Meiryo" pitchFamily="34" charset="0"/>
                <a:ea typeface="Meiryo" pitchFamily="34" charset="-122"/>
                <a:cs typeface="Meiryo" pitchFamily="34" charset="-120"/>
              </a:rPr>
              <a:t>「社会課題・業界を変える」を強く出す</a:t>
            </a:r>
            <a:endParaRPr lang="en-US" sz="950" dirty="0"/>
          </a:p>
        </p:txBody>
      </p:sp>
      <p:sp>
        <p:nvSpPr>
          <p:cNvPr id="11" name="Text 8"/>
          <p:cNvSpPr txBox="1"/>
          <p:nvPr/>
        </p:nvSpPr>
        <p:spPr>
          <a:xfrm>
            <a:off x="731520" y="1810512"/>
            <a:ext cx="2468880" cy="182880"/>
          </a:xfrm>
          <a:prstGeom prst="rect">
            <a:avLst/>
          </a:prstGeom>
          <a:noFill/>
          <a:ln/>
        </p:spPr>
        <p:txBody>
          <a:bodyPr wrap="square" lIns="0" tIns="0" rIns="0" bIns="0" rtlCol="0" anchor="t"/>
          <a:lstStyle/>
          <a:p>
            <a:pPr algn="l" indent="0" marL="0">
              <a:buNone/>
            </a:pPr>
            <a:r>
              <a:rPr lang="en-US" sz="750" dirty="0">
                <a:solidFill>
                  <a:srgbClr val="8C8C8C"/>
                </a:solidFill>
                <a:latin typeface="Meiryo" pitchFamily="34" charset="0"/>
                <a:ea typeface="Meiryo" pitchFamily="34" charset="-122"/>
                <a:cs typeface="Meiryo" pitchFamily="34" charset="-120"/>
              </a:rPr>
              <a:t>27卒前半の打ち出し</a:t>
            </a:r>
            <a:endParaRPr lang="en-US" sz="750" dirty="0"/>
          </a:p>
        </p:txBody>
      </p:sp>
      <p:sp>
        <p:nvSpPr>
          <p:cNvPr id="12" name="Text 9"/>
          <p:cNvSpPr txBox="1"/>
          <p:nvPr/>
        </p:nvSpPr>
        <p:spPr>
          <a:xfrm>
            <a:off x="731520" y="2029968"/>
            <a:ext cx="2468880" cy="411480"/>
          </a:xfrm>
          <a:prstGeom prst="rect">
            <a:avLst/>
          </a:prstGeom>
          <a:noFill/>
          <a:ln/>
        </p:spPr>
        <p:txBody>
          <a:bodyPr wrap="square" lIns="0" tIns="0" rIns="0" bIns="0" rtlCol="0" anchor="t"/>
          <a:lstStyle/>
          <a:p>
            <a:pPr algn="l" indent="0" marL="0">
              <a:lnSpc>
                <a:spcPct val="130000"/>
              </a:lnSpc>
              <a:buNone/>
            </a:pPr>
            <a:r>
              <a:rPr lang="en-US" sz="850" dirty="0">
                <a:solidFill>
                  <a:srgbClr val="222222"/>
                </a:solidFill>
                <a:latin typeface="Meiryo" pitchFamily="34" charset="0"/>
                <a:ea typeface="Meiryo" pitchFamily="34" charset="-122"/>
                <a:cs typeface="Meiryo" pitchFamily="34" charset="-120"/>
              </a:rPr>
              <a:t>集まる層：構造を変えたい／大きいことがしたい／顧客志向が弱い</a:t>
            </a:r>
            <a:endParaRPr lang="en-US" sz="850" dirty="0"/>
          </a:p>
        </p:txBody>
      </p:sp>
      <p:sp>
        <p:nvSpPr>
          <p:cNvPr id="13" name="Text 10"/>
          <p:cNvSpPr txBox="1"/>
          <p:nvPr/>
        </p:nvSpPr>
        <p:spPr>
          <a:xfrm>
            <a:off x="731520" y="2514600"/>
            <a:ext cx="2468880" cy="365760"/>
          </a:xfrm>
          <a:prstGeom prst="rect">
            <a:avLst/>
          </a:prstGeom>
          <a:noFill/>
          <a:ln/>
        </p:spPr>
        <p:txBody>
          <a:bodyPr wrap="square" lIns="0" tIns="0" rIns="0" bIns="0" rtlCol="0" anchor="t"/>
          <a:lstStyle/>
          <a:p>
            <a:pPr algn="l" indent="0" marL="0">
              <a:buNone/>
            </a:pPr>
            <a:r>
              <a:rPr lang="en-US" sz="800" b="1" dirty="0">
                <a:solidFill>
                  <a:srgbClr val="B65124"/>
                </a:solidFill>
                <a:latin typeface="Meiryo" pitchFamily="34" charset="0"/>
                <a:ea typeface="Meiryo" pitchFamily="34" charset="-122"/>
                <a:cs typeface="Meiryo" pitchFamily="34" charset="-120"/>
              </a:rPr>
              <a:t>→ 一人ひとりのお客様に寄り添う業務とミスマッチ</a:t>
            </a:r>
            <a:endParaRPr lang="en-US" sz="800" dirty="0"/>
          </a:p>
        </p:txBody>
      </p:sp>
      <p:sp>
        <p:nvSpPr>
          <p:cNvPr id="14" name="Shape 11"/>
          <p:cNvSpPr/>
          <p:nvPr/>
        </p:nvSpPr>
        <p:spPr>
          <a:xfrm>
            <a:off x="3474720" y="1417320"/>
            <a:ext cx="2194560" cy="1554480"/>
          </a:xfrm>
          <a:prstGeom prst="rect">
            <a:avLst/>
          </a:prstGeom>
          <a:solidFill>
            <a:srgbClr val="2C2C2C"/>
          </a:solidFill>
          <a:ln w="12700">
            <a:solidFill>
              <a:srgbClr val="2C2C2C"/>
            </a:solidFill>
            <a:prstDash val="solid"/>
          </a:ln>
        </p:spPr>
      </p:sp>
      <p:sp>
        <p:nvSpPr>
          <p:cNvPr id="15" name="Text 12"/>
          <p:cNvSpPr txBox="1"/>
          <p:nvPr/>
        </p:nvSpPr>
        <p:spPr>
          <a:xfrm>
            <a:off x="3566160" y="1554480"/>
            <a:ext cx="2011680" cy="274320"/>
          </a:xfrm>
          <a:prstGeom prst="rect">
            <a:avLst/>
          </a:prstGeom>
          <a:noFill/>
          <a:ln/>
        </p:spPr>
        <p:txBody>
          <a:bodyPr wrap="square" lIns="0" tIns="0" rIns="0" bIns="0" rtlCol="0" anchor="t"/>
          <a:lstStyle/>
          <a:p>
            <a:pPr algn="ctr" indent="0" marL="0">
              <a:buNone/>
            </a:pPr>
            <a:r>
              <a:rPr lang="en-US" sz="1100" b="1" dirty="0">
                <a:solidFill>
                  <a:srgbClr val="FF7611"/>
                </a:solidFill>
                <a:latin typeface="Meiryo" pitchFamily="34" charset="0"/>
                <a:ea typeface="Meiryo" pitchFamily="34" charset="-122"/>
                <a:cs typeface="Meiryo" pitchFamily="34" charset="-120"/>
              </a:rPr>
              <a:t>採りたい層</a:t>
            </a:r>
            <a:endParaRPr lang="en-US" sz="1100" dirty="0"/>
          </a:p>
        </p:txBody>
      </p:sp>
      <p:sp>
        <p:nvSpPr>
          <p:cNvPr id="16" name="Text 13"/>
          <p:cNvSpPr txBox="1"/>
          <p:nvPr/>
        </p:nvSpPr>
        <p:spPr>
          <a:xfrm>
            <a:off x="3566160" y="1874520"/>
            <a:ext cx="2011680" cy="685800"/>
          </a:xfrm>
          <a:prstGeom prst="rect">
            <a:avLst/>
          </a:prstGeom>
          <a:noFill/>
          <a:ln/>
        </p:spPr>
        <p:txBody>
          <a:bodyPr wrap="square" lIns="0" tIns="0" rIns="0" bIns="0" rtlCol="0" anchor="t"/>
          <a:lstStyle/>
          <a:p>
            <a:pPr algn="ctr" indent="0" marL="0">
              <a:lnSpc>
                <a:spcPct val="130000"/>
              </a:lnSpc>
              <a:buNone/>
            </a:pPr>
            <a:r>
              <a:rPr lang="en-US" sz="900" b="1" dirty="0">
                <a:solidFill>
                  <a:srgbClr val="FFFFFF"/>
                </a:solidFill>
                <a:latin typeface="Meiryo" pitchFamily="34" charset="0"/>
                <a:ea typeface="Meiryo" pitchFamily="34" charset="-122"/>
                <a:cs typeface="Meiryo" pitchFamily="34" charset="-120"/>
              </a:rPr>
              <a:t>一人ひとりに寄り添い、</a:t>
            </a:r>
            <a:endParaRPr lang="en-US" sz="900" dirty="0"/>
          </a:p>
          <a:p>
            <a:pPr algn="ctr" indent="0" marL="0">
              <a:lnSpc>
                <a:spcPct val="130000"/>
              </a:lnSpc>
              <a:buNone/>
            </a:pPr>
            <a:r>
              <a:rPr lang="en-US" sz="900" b="1" dirty="0">
                <a:solidFill>
                  <a:srgbClr val="FFFFFF"/>
                </a:solidFill>
                <a:latin typeface="Meiryo" pitchFamily="34" charset="0"/>
                <a:ea typeface="Meiryo" pitchFamily="34" charset="-122"/>
                <a:cs typeface="Meiryo" pitchFamily="34" charset="-120"/>
              </a:rPr>
              <a:t>その先の未来まで</a:t>
            </a:r>
            <a:endParaRPr lang="en-US" sz="900" dirty="0"/>
          </a:p>
          <a:p>
            <a:pPr algn="ctr" indent="0" marL="0">
              <a:lnSpc>
                <a:spcPct val="130000"/>
              </a:lnSpc>
              <a:buNone/>
            </a:pPr>
            <a:r>
              <a:rPr lang="en-US" sz="900" b="1" dirty="0">
                <a:solidFill>
                  <a:srgbClr val="FFFFFF"/>
                </a:solidFill>
                <a:latin typeface="Meiryo" pitchFamily="34" charset="0"/>
                <a:ea typeface="Meiryo" pitchFamily="34" charset="-122"/>
                <a:cs typeface="Meiryo" pitchFamily="34" charset="-120"/>
              </a:rPr>
              <a:t>推進・実践できる人</a:t>
            </a:r>
            <a:endParaRPr lang="en-US" sz="900" dirty="0"/>
          </a:p>
        </p:txBody>
      </p:sp>
      <p:sp>
        <p:nvSpPr>
          <p:cNvPr id="17" name="Text 14"/>
          <p:cNvSpPr txBox="1"/>
          <p:nvPr/>
        </p:nvSpPr>
        <p:spPr>
          <a:xfrm>
            <a:off x="3566160" y="2606040"/>
            <a:ext cx="2011680" cy="274320"/>
          </a:xfrm>
          <a:prstGeom prst="rect">
            <a:avLst/>
          </a:prstGeom>
          <a:noFill/>
          <a:ln/>
        </p:spPr>
        <p:txBody>
          <a:bodyPr wrap="square" lIns="0" tIns="0" rIns="0" bIns="0" rtlCol="0" anchor="t"/>
          <a:lstStyle/>
          <a:p>
            <a:pPr algn="ctr" indent="0" marL="0">
              <a:buNone/>
            </a:pPr>
            <a:r>
              <a:rPr lang="en-US" sz="750" dirty="0">
                <a:solidFill>
                  <a:srgbClr val="CCCCCC"/>
                </a:solidFill>
                <a:latin typeface="Meiryo" pitchFamily="34" charset="0"/>
                <a:ea typeface="Meiryo" pitchFamily="34" charset="-122"/>
                <a:cs typeface="Meiryo" pitchFamily="34" charset="-120"/>
              </a:rPr>
              <a:t>＝ どちらの訴求でも届ききっていない</a:t>
            </a:r>
            <a:endParaRPr lang="en-US" sz="750" dirty="0"/>
          </a:p>
        </p:txBody>
      </p:sp>
      <p:sp>
        <p:nvSpPr>
          <p:cNvPr id="18" name="Shape 15"/>
          <p:cNvSpPr/>
          <p:nvPr/>
        </p:nvSpPr>
        <p:spPr>
          <a:xfrm>
            <a:off x="5806440" y="1417320"/>
            <a:ext cx="2788920" cy="1554480"/>
          </a:xfrm>
          <a:prstGeom prst="rect">
            <a:avLst/>
          </a:prstGeom>
          <a:solidFill>
            <a:srgbClr val="FFFFFF"/>
          </a:solidFill>
          <a:ln w="12700">
            <a:solidFill>
              <a:srgbClr val="FFFFFF"/>
            </a:solidFill>
            <a:prstDash val="solid"/>
          </a:ln>
        </p:spPr>
      </p:sp>
      <p:sp>
        <p:nvSpPr>
          <p:cNvPr id="19" name="Shape 16"/>
          <p:cNvSpPr/>
          <p:nvPr/>
        </p:nvSpPr>
        <p:spPr>
          <a:xfrm>
            <a:off x="5806440" y="1417320"/>
            <a:ext cx="2788920" cy="41148"/>
          </a:xfrm>
          <a:prstGeom prst="rect">
            <a:avLst/>
          </a:prstGeom>
          <a:solidFill>
            <a:srgbClr val="FF7611"/>
          </a:solidFill>
          <a:ln w="12700">
            <a:solidFill>
              <a:srgbClr val="FF7611"/>
            </a:solidFill>
            <a:prstDash val="solid"/>
          </a:ln>
        </p:spPr>
      </p:sp>
      <p:sp>
        <p:nvSpPr>
          <p:cNvPr id="20" name="Text 17"/>
          <p:cNvSpPr txBox="1"/>
          <p:nvPr/>
        </p:nvSpPr>
        <p:spPr>
          <a:xfrm>
            <a:off x="5989320" y="1554480"/>
            <a:ext cx="2468880" cy="228600"/>
          </a:xfrm>
          <a:prstGeom prst="rect">
            <a:avLst/>
          </a:prstGeom>
          <a:noFill/>
          <a:ln/>
        </p:spPr>
        <p:txBody>
          <a:bodyPr wrap="square" lIns="0" tIns="0" rIns="0" bIns="0" rtlCol="0" anchor="t"/>
          <a:lstStyle/>
          <a:p>
            <a:pPr algn="l" indent="0" marL="0">
              <a:buNone/>
            </a:pPr>
            <a:r>
              <a:rPr lang="en-US" sz="950" b="1" dirty="0">
                <a:solidFill>
                  <a:srgbClr val="222222"/>
                </a:solidFill>
                <a:latin typeface="Meiryo" pitchFamily="34" charset="0"/>
                <a:ea typeface="Meiryo" pitchFamily="34" charset="-122"/>
                <a:cs typeface="Meiryo" pitchFamily="34" charset="-120"/>
              </a:rPr>
              <a:t>「誰かのため・寄り添う」を強く出す</a:t>
            </a:r>
            <a:endParaRPr lang="en-US" sz="950" dirty="0"/>
          </a:p>
        </p:txBody>
      </p:sp>
      <p:sp>
        <p:nvSpPr>
          <p:cNvPr id="21" name="Text 18"/>
          <p:cNvSpPr txBox="1"/>
          <p:nvPr/>
        </p:nvSpPr>
        <p:spPr>
          <a:xfrm>
            <a:off x="5989320" y="1810512"/>
            <a:ext cx="2468880" cy="182880"/>
          </a:xfrm>
          <a:prstGeom prst="rect">
            <a:avLst/>
          </a:prstGeom>
          <a:noFill/>
          <a:ln/>
        </p:spPr>
        <p:txBody>
          <a:bodyPr wrap="square" lIns="0" tIns="0" rIns="0" bIns="0" rtlCol="0" anchor="t"/>
          <a:lstStyle/>
          <a:p>
            <a:pPr algn="l" indent="0" marL="0">
              <a:buNone/>
            </a:pPr>
            <a:r>
              <a:rPr lang="en-US" sz="750" dirty="0">
                <a:solidFill>
                  <a:srgbClr val="8C8C8C"/>
                </a:solidFill>
                <a:latin typeface="Meiryo" pitchFamily="34" charset="0"/>
                <a:ea typeface="Meiryo" pitchFamily="34" charset="-122"/>
                <a:cs typeface="Meiryo" pitchFamily="34" charset="-120"/>
              </a:rPr>
              <a:t>27卒後半〜28卒の打ち出し</a:t>
            </a:r>
            <a:endParaRPr lang="en-US" sz="750" dirty="0"/>
          </a:p>
        </p:txBody>
      </p:sp>
      <p:sp>
        <p:nvSpPr>
          <p:cNvPr id="22" name="Text 19"/>
          <p:cNvSpPr txBox="1"/>
          <p:nvPr/>
        </p:nvSpPr>
        <p:spPr>
          <a:xfrm>
            <a:off x="5989320" y="2029968"/>
            <a:ext cx="2468880" cy="411480"/>
          </a:xfrm>
          <a:prstGeom prst="rect">
            <a:avLst/>
          </a:prstGeom>
          <a:noFill/>
          <a:ln/>
        </p:spPr>
        <p:txBody>
          <a:bodyPr wrap="square" lIns="0" tIns="0" rIns="0" bIns="0" rtlCol="0" anchor="t"/>
          <a:lstStyle/>
          <a:p>
            <a:pPr algn="l" indent="0" marL="0">
              <a:lnSpc>
                <a:spcPct val="130000"/>
              </a:lnSpc>
              <a:buNone/>
            </a:pPr>
            <a:r>
              <a:rPr lang="en-US" sz="850" dirty="0">
                <a:solidFill>
                  <a:srgbClr val="222222"/>
                </a:solidFill>
                <a:latin typeface="Meiryo" pitchFamily="34" charset="0"/>
                <a:ea typeface="Meiryo" pitchFamily="34" charset="-122"/>
                <a:cs typeface="Meiryo" pitchFamily="34" charset="-120"/>
              </a:rPr>
              <a:t>集まる層：寄り添いたい“が目的”の、やや弱めの学生</a:t>
            </a:r>
            <a:endParaRPr lang="en-US" sz="850" dirty="0"/>
          </a:p>
        </p:txBody>
      </p:sp>
      <p:sp>
        <p:nvSpPr>
          <p:cNvPr id="23" name="Text 20"/>
          <p:cNvSpPr txBox="1"/>
          <p:nvPr/>
        </p:nvSpPr>
        <p:spPr>
          <a:xfrm>
            <a:off x="5989320" y="2514600"/>
            <a:ext cx="2468880" cy="365760"/>
          </a:xfrm>
          <a:prstGeom prst="rect">
            <a:avLst/>
          </a:prstGeom>
          <a:noFill/>
          <a:ln/>
        </p:spPr>
        <p:txBody>
          <a:bodyPr wrap="square" lIns="0" tIns="0" rIns="0" bIns="0" rtlCol="0" anchor="t"/>
          <a:lstStyle/>
          <a:p>
            <a:pPr algn="l" indent="0" marL="0">
              <a:buNone/>
            </a:pPr>
            <a:r>
              <a:rPr lang="en-US" sz="800" b="1" dirty="0">
                <a:solidFill>
                  <a:srgbClr val="B65124"/>
                </a:solidFill>
                <a:latin typeface="Meiryo" pitchFamily="34" charset="0"/>
                <a:ea typeface="Meiryo" pitchFamily="34" charset="-122"/>
                <a:cs typeface="Meiryo" pitchFamily="34" charset="-120"/>
              </a:rPr>
              <a:t>→ 力強さ・ベンチャー志向が足りない</a:t>
            </a:r>
            <a:endParaRPr lang="en-US" sz="800" dirty="0"/>
          </a:p>
        </p:txBody>
      </p:sp>
      <p:sp>
        <p:nvSpPr>
          <p:cNvPr id="24" name="Text 21"/>
          <p:cNvSpPr txBox="1"/>
          <p:nvPr/>
        </p:nvSpPr>
        <p:spPr>
          <a:xfrm>
            <a:off x="548640" y="3200400"/>
            <a:ext cx="3840480" cy="228600"/>
          </a:xfrm>
          <a:prstGeom prst="rect">
            <a:avLst/>
          </a:prstGeom>
          <a:noFill/>
          <a:ln/>
        </p:spPr>
        <p:txBody>
          <a:bodyPr wrap="square" lIns="0" tIns="0" rIns="0" bIns="0" rtlCol="0" anchor="t"/>
          <a:lstStyle/>
          <a:p>
            <a:pPr algn="l" indent="0" marL="0">
              <a:buNone/>
            </a:pPr>
            <a:r>
              <a:rPr lang="en-US" sz="950" b="1" dirty="0">
                <a:solidFill>
                  <a:srgbClr val="222222"/>
                </a:solidFill>
                <a:latin typeface="Meiryo" pitchFamily="34" charset="0"/>
                <a:ea typeface="Meiryo" pitchFamily="34" charset="-122"/>
                <a:cs typeface="Meiryo" pitchFamily="34" charset="-120"/>
              </a:rPr>
              <a:t>もう一つの軸：建築と文系で認知がまったく違う</a:t>
            </a:r>
            <a:endParaRPr lang="en-US" sz="950" dirty="0"/>
          </a:p>
        </p:txBody>
      </p:sp>
      <p:sp>
        <p:nvSpPr>
          <p:cNvPr id="25" name="Text 22"/>
          <p:cNvSpPr txBox="1"/>
          <p:nvPr/>
        </p:nvSpPr>
        <p:spPr>
          <a:xfrm>
            <a:off x="548640" y="3474720"/>
            <a:ext cx="3840480" cy="1280160"/>
          </a:xfrm>
          <a:prstGeom prst="rect">
            <a:avLst/>
          </a:prstGeom>
          <a:noFill/>
          <a:ln/>
        </p:spPr>
        <p:txBody>
          <a:bodyPr wrap="square" lIns="0" tIns="0" rIns="0" bIns="0" rtlCol="0" anchor="t"/>
          <a:lstStyle/>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建築学生：リノベルの事業を深く知っており、母集団形成に困っていない</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文系学生：認知が弱い。イベント・インターンへの接触そのものが課題</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「まちづくり」の言葉に惹かれる層は大手デベロッパーへ流れ、リノベルにはヒットしない</a:t>
            </a:r>
            <a:endParaRPr lang="en-US" sz="8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0" y="3200400"/>
          <a:ext cx="4023360" cy="914400"/>
        </p:xfrm>
        <a:graphic>
          <a:graphicData uri="http://schemas.openxmlformats.org/drawingml/2006/table">
            <a:tbl>
              <a:tblPr/>
              <a:tblGrid>
                <a:gridCol w="1371600"/>
                <a:gridCol w="2651760"/>
              </a:tblGrid>
              <a:tr h="0">
                <a:tc>
                  <a:txBody>
                    <a:bodyPr/>
                    <a:lstStyle/>
                    <a:p>
                      <a:pPr indent="0" marL="0">
                        <a:buNone/>
                      </a:pPr>
                      <a:r>
                        <a:rPr lang="en-US" sz="700" b="1" dirty="0">
                          <a:solidFill>
                            <a:srgbClr val="8C8C8C"/>
                          </a:solidFill>
                          <a:latin typeface="Meiryo" pitchFamily="34" charset="0"/>
                          <a:ea typeface="Meiryo" pitchFamily="34" charset="-122"/>
                          <a:cs typeface="Meiryo" pitchFamily="34" charset="-120"/>
                        </a:rPr>
                        <a:t>これまでのチャネル</a:t>
                      </a:r>
                      <a:endParaRPr lang="en-US" sz="700" dirty="0">
                        <a:latin typeface="Meiryo" charset="0"/>
                        <a:ea typeface="Meiryo" charset="0"/>
                        <a:cs typeface="Meiryo" charset="0"/>
                      </a:endParaRPr>
                    </a:p>
                  </a:txBody>
                  <a:tcPr marL="45720" marR="45720" marT="27432" marB="2743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00" b="1" dirty="0">
                          <a:solidFill>
                            <a:srgbClr val="8C8C8C"/>
                          </a:solidFill>
                          <a:latin typeface="Meiryo" pitchFamily="34" charset="0"/>
                          <a:ea typeface="Meiryo" pitchFamily="34" charset="-122"/>
                          <a:cs typeface="Meiryo" pitchFamily="34" charset="-120"/>
                        </a:rPr>
                        <a:t>結果</a:t>
                      </a:r>
                      <a:endParaRPr lang="en-US" sz="700" dirty="0">
                        <a:latin typeface="Meiryo" charset="0"/>
                        <a:ea typeface="Meiryo" charset="0"/>
                        <a:cs typeface="Meiryo" charset="0"/>
                      </a:endParaRPr>
                    </a:p>
                  </a:txBody>
                  <a:tcPr marL="45720" marR="45720" marT="27432" marB="2743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750" b="1" dirty="0">
                          <a:solidFill>
                            <a:srgbClr val="84300F"/>
                          </a:solidFill>
                          <a:latin typeface="Meiryo" pitchFamily="34" charset="0"/>
                          <a:ea typeface="Meiryo" pitchFamily="34" charset="-122"/>
                          <a:cs typeface="Meiryo" pitchFamily="34" charset="-120"/>
                        </a:rPr>
                        <a:t>マイナビ</a:t>
                      </a:r>
                      <a:endParaRPr lang="en-US" sz="750" dirty="0">
                        <a:latin typeface="Meiryo" charset="0"/>
                        <a:ea typeface="Meiryo" charset="0"/>
                        <a:cs typeface="Meiryo" charset="0"/>
                      </a:endParaRPr>
                    </a:p>
                  </a:txBody>
                  <a:tcPr marL="45720" marR="45720" marT="27432" marB="2743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50" dirty="0">
                          <a:solidFill>
                            <a:srgbClr val="222222"/>
                          </a:solidFill>
                          <a:latin typeface="Meiryo" pitchFamily="34" charset="0"/>
                          <a:ea typeface="Meiryo" pitchFamily="34" charset="-122"/>
                          <a:cs typeface="Meiryo" pitchFamily="34" charset="-120"/>
                        </a:rPr>
                        <a:t>継続中。ただし「ターゲットがマイナビにいない気がする」</a:t>
                      </a:r>
                      <a:endParaRPr lang="en-US" sz="750" dirty="0">
                        <a:latin typeface="Meiryo" charset="0"/>
                        <a:ea typeface="Meiryo" charset="0"/>
                        <a:cs typeface="Meiryo" charset="0"/>
                      </a:endParaRPr>
                    </a:p>
                  </a:txBody>
                  <a:tcPr marL="45720" marR="45720" marT="27432" marB="2743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750" b="1" dirty="0">
                          <a:solidFill>
                            <a:srgbClr val="84300F"/>
                          </a:solidFill>
                          <a:latin typeface="Meiryo" pitchFamily="34" charset="0"/>
                          <a:ea typeface="Meiryo" pitchFamily="34" charset="-122"/>
                          <a:cs typeface="Meiryo" pitchFamily="34" charset="-120"/>
                        </a:rPr>
                        <a:t>エンカレッジ（27卒）</a:t>
                      </a:r>
                      <a:endParaRPr lang="en-US" sz="750" dirty="0">
                        <a:latin typeface="Meiryo" charset="0"/>
                        <a:ea typeface="Meiryo" charset="0"/>
                        <a:cs typeface="Meiryo" charset="0"/>
                      </a:endParaRPr>
                    </a:p>
                  </a:txBody>
                  <a:tcPr marL="45720" marR="45720" marT="27432" marB="2743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50" dirty="0">
                          <a:solidFill>
                            <a:srgbClr val="222222"/>
                          </a:solidFill>
                          <a:latin typeface="Meiryo" pitchFamily="34" charset="0"/>
                          <a:ea typeface="Meiryo" pitchFamily="34" charset="-122"/>
                          <a:cs typeface="Meiryo" pitchFamily="34" charset="-120"/>
                        </a:rPr>
                        <a:t>エントリー約1,800 → 選考・内定 0。費用対効果が合わず終了</a:t>
                      </a:r>
                      <a:endParaRPr lang="en-US" sz="750" dirty="0">
                        <a:latin typeface="Meiryo" charset="0"/>
                        <a:ea typeface="Meiryo" charset="0"/>
                        <a:cs typeface="Meiryo" charset="0"/>
                      </a:endParaRPr>
                    </a:p>
                  </a:txBody>
                  <a:tcPr marL="45720" marR="45720" marT="27432" marB="2743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750" b="1" dirty="0">
                          <a:solidFill>
                            <a:srgbClr val="84300F"/>
                          </a:solidFill>
                          <a:latin typeface="Meiryo" pitchFamily="34" charset="0"/>
                          <a:ea typeface="Meiryo" pitchFamily="34" charset="-122"/>
                          <a:cs typeface="Meiryo" pitchFamily="34" charset="-120"/>
                        </a:rPr>
                        <a:t>人材紹介（27卒 年明け）</a:t>
                      </a:r>
                      <a:endParaRPr lang="en-US" sz="750" dirty="0">
                        <a:latin typeface="Meiryo" charset="0"/>
                        <a:ea typeface="Meiryo" charset="0"/>
                        <a:cs typeface="Meiryo" charset="0"/>
                      </a:endParaRPr>
                    </a:p>
                  </a:txBody>
                  <a:tcPr marL="45720" marR="45720" marT="27432" marB="2743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50" dirty="0">
                          <a:solidFill>
                            <a:srgbClr val="222222"/>
                          </a:solidFill>
                          <a:latin typeface="Meiryo" pitchFamily="34" charset="0"/>
                          <a:ea typeface="Meiryo" pitchFamily="34" charset="-122"/>
                          <a:cs typeface="Meiryo" pitchFamily="34" charset="-120"/>
                        </a:rPr>
                        <a:t>約80万円/名。時期が遅く、合う学生に出会えず</a:t>
                      </a:r>
                      <a:endParaRPr lang="en-US" sz="750" dirty="0">
                        <a:latin typeface="Meiryo" charset="0"/>
                        <a:ea typeface="Meiryo" charset="0"/>
                        <a:cs typeface="Meiryo" charset="0"/>
                      </a:endParaRPr>
                    </a:p>
                  </a:txBody>
                  <a:tcPr marL="45720" marR="45720" marT="27432" marB="2743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750" b="1" dirty="0">
                          <a:solidFill>
                            <a:srgbClr val="84300F"/>
                          </a:solidFill>
                          <a:latin typeface="Meiryo" pitchFamily="34" charset="0"/>
                          <a:ea typeface="Meiryo" pitchFamily="34" charset="-122"/>
                          <a:cs typeface="Meiryo" pitchFamily="34" charset="-120"/>
                        </a:rPr>
                        <a:t>OpenWork スカウト</a:t>
                      </a:r>
                      <a:endParaRPr lang="en-US" sz="750" dirty="0">
                        <a:latin typeface="Meiryo" charset="0"/>
                        <a:ea typeface="Meiryo" charset="0"/>
                        <a:cs typeface="Meiryo" charset="0"/>
                      </a:endParaRPr>
                    </a:p>
                  </a:txBody>
                  <a:tcPr marL="45720" marR="45720" marT="27432" marB="2743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50" dirty="0">
                          <a:solidFill>
                            <a:srgbClr val="222222"/>
                          </a:solidFill>
                          <a:latin typeface="Meiryo" pitchFamily="34" charset="0"/>
                          <a:ea typeface="Meiryo" pitchFamily="34" charset="-122"/>
                          <a:cs typeface="Meiryo" pitchFamily="34" charset="-120"/>
                        </a:rPr>
                        <a:t>12月実施で1名決定。2〜3周目の学生には有効</a:t>
                      </a:r>
                      <a:endParaRPr lang="en-US" sz="750" dirty="0">
                        <a:latin typeface="Meiryo" charset="0"/>
                        <a:ea typeface="Meiryo" charset="0"/>
                        <a:cs typeface="Meiryo" charset="0"/>
                      </a:endParaRPr>
                    </a:p>
                  </a:txBody>
                  <a:tcPr marL="45720" marR="45720" marT="27432" marB="2743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750" b="1" dirty="0">
                          <a:solidFill>
                            <a:srgbClr val="84300F"/>
                          </a:solidFill>
                          <a:latin typeface="Meiryo" pitchFamily="34" charset="0"/>
                          <a:ea typeface="Meiryo" pitchFamily="34" charset="-122"/>
                          <a:cs typeface="Meiryo" pitchFamily="34" charset="-120"/>
                        </a:rPr>
                        <a:t>キャリアチケット（28卒）</a:t>
                      </a:r>
                      <a:endParaRPr lang="en-US" sz="750" dirty="0">
                        <a:latin typeface="Meiryo" charset="0"/>
                        <a:ea typeface="Meiryo" charset="0"/>
                        <a:cs typeface="Meiryo" charset="0"/>
                      </a:endParaRPr>
                    </a:p>
                  </a:txBody>
                  <a:tcPr marL="45720" marR="45720" marT="27432" marB="2743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50" dirty="0">
                          <a:solidFill>
                            <a:srgbClr val="222222"/>
                          </a:solidFill>
                          <a:latin typeface="Meiryo" pitchFamily="34" charset="0"/>
                          <a:ea typeface="Meiryo" pitchFamily="34" charset="-122"/>
                          <a:cs typeface="Meiryo" pitchFamily="34" charset="-120"/>
                        </a:rPr>
                        <a:t>開始したばかり</a:t>
                      </a:r>
                      <a:endParaRPr lang="en-US" sz="750" dirty="0">
                        <a:latin typeface="Meiryo" charset="0"/>
                        <a:ea typeface="Meiryo" charset="0"/>
                        <a:cs typeface="Meiryo" charset="0"/>
                      </a:endParaRPr>
                    </a:p>
                  </a:txBody>
                  <a:tcPr marL="45720" marR="45720" marT="27432" marB="2743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04｜PERSONA</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「リノベル人」を、学生を選ぶ基準として3つに言語化しました</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お打ち合わせでお伺いした「自分ごと化する力」を中心に整理しています。</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5</a:t>
            </a:r>
            <a:endParaRPr lang="en-US" sz="750" dirty="0"/>
          </a:p>
        </p:txBody>
      </p:sp>
      <p:sp>
        <p:nvSpPr>
          <p:cNvPr id="8" name="Shape 5"/>
          <p:cNvSpPr/>
          <p:nvPr/>
        </p:nvSpPr>
        <p:spPr>
          <a:xfrm>
            <a:off x="548640" y="1417320"/>
            <a:ext cx="2560320" cy="1920240"/>
          </a:xfrm>
          <a:prstGeom prst="rect">
            <a:avLst/>
          </a:prstGeom>
          <a:solidFill>
            <a:srgbClr val="FFFFFF"/>
          </a:solidFill>
          <a:ln w="12700">
            <a:solidFill>
              <a:srgbClr val="FFFFFF"/>
            </a:solidFill>
            <a:prstDash val="solid"/>
          </a:ln>
        </p:spPr>
      </p:sp>
      <p:sp>
        <p:nvSpPr>
          <p:cNvPr id="9" name="Shape 6"/>
          <p:cNvSpPr/>
          <p:nvPr/>
        </p:nvSpPr>
        <p:spPr>
          <a:xfrm>
            <a:off x="548640" y="1417320"/>
            <a:ext cx="2560320" cy="41148"/>
          </a:xfrm>
          <a:prstGeom prst="rect">
            <a:avLst/>
          </a:prstGeom>
          <a:solidFill>
            <a:srgbClr val="FF7611"/>
          </a:solidFill>
          <a:ln w="12700">
            <a:solidFill>
              <a:srgbClr val="FF7611"/>
            </a:solidFill>
            <a:prstDash val="solid"/>
          </a:ln>
        </p:spPr>
      </p:sp>
      <p:sp>
        <p:nvSpPr>
          <p:cNvPr id="10" name="Shape 7"/>
          <p:cNvSpPr/>
          <p:nvPr/>
        </p:nvSpPr>
        <p:spPr>
          <a:xfrm>
            <a:off x="731520" y="1600200"/>
            <a:ext cx="310896" cy="310896"/>
          </a:xfrm>
          <a:prstGeom prst="ellipse">
            <a:avLst/>
          </a:prstGeom>
          <a:solidFill>
            <a:srgbClr val="FF7611"/>
          </a:solidFill>
          <a:ln w="12700">
            <a:solidFill>
              <a:srgbClr val="FF7611"/>
            </a:solidFill>
            <a:prstDash val="solid"/>
          </a:ln>
        </p:spPr>
      </p:sp>
      <p:sp>
        <p:nvSpPr>
          <p:cNvPr id="11" name="Text 8"/>
          <p:cNvSpPr txBox="1"/>
          <p:nvPr/>
        </p:nvSpPr>
        <p:spPr>
          <a:xfrm>
            <a:off x="731520" y="1600200"/>
            <a:ext cx="310896"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Meiryo" pitchFamily="34" charset="0"/>
                <a:ea typeface="Meiryo" pitchFamily="34" charset="-122"/>
                <a:cs typeface="Meiryo" pitchFamily="34" charset="-120"/>
              </a:rPr>
              <a:t>01</a:t>
            </a:r>
            <a:endParaRPr lang="en-US" sz="900" dirty="0"/>
          </a:p>
        </p:txBody>
      </p:sp>
      <p:sp>
        <p:nvSpPr>
          <p:cNvPr id="12" name="Text 9"/>
          <p:cNvSpPr txBox="1"/>
          <p:nvPr/>
        </p:nvSpPr>
        <p:spPr>
          <a:xfrm>
            <a:off x="1143000" y="1572768"/>
            <a:ext cx="1828800" cy="457200"/>
          </a:xfrm>
          <a:prstGeom prst="rect">
            <a:avLst/>
          </a:prstGeom>
          <a:noFill/>
          <a:ln/>
        </p:spPr>
        <p:txBody>
          <a:bodyPr wrap="square" lIns="0" tIns="0" rIns="0" bIns="0" rtlCol="0" anchor="ctr"/>
          <a:lstStyle/>
          <a:p>
            <a:pPr algn="l" indent="0" marL="0">
              <a:lnSpc>
                <a:spcPct val="115000"/>
              </a:lnSpc>
              <a:buNone/>
            </a:pPr>
            <a:r>
              <a:rPr lang="en-US" sz="1000" b="1" dirty="0">
                <a:solidFill>
                  <a:srgbClr val="222222"/>
                </a:solidFill>
                <a:latin typeface="Meiryo" pitchFamily="34" charset="0"/>
                <a:ea typeface="Meiryo" pitchFamily="34" charset="-122"/>
                <a:cs typeface="Meiryo" pitchFamily="34" charset="-120"/>
              </a:rPr>
              <a:t>寄り添う × 成果を出す</a:t>
            </a:r>
            <a:endParaRPr lang="en-US" sz="1000" dirty="0"/>
          </a:p>
        </p:txBody>
      </p:sp>
      <p:sp>
        <p:nvSpPr>
          <p:cNvPr id="13" name="Text 10"/>
          <p:cNvSpPr txBox="1"/>
          <p:nvPr/>
        </p:nvSpPr>
        <p:spPr>
          <a:xfrm>
            <a:off x="731520" y="2121408"/>
            <a:ext cx="2194560" cy="1143000"/>
          </a:xfrm>
          <a:prstGeom prst="rect">
            <a:avLst/>
          </a:prstGeom>
          <a:noFill/>
          <a:ln/>
        </p:spPr>
        <p:txBody>
          <a:bodyPr wrap="square" lIns="0" tIns="0" rIns="0" bIns="0" rtlCol="0" anchor="t"/>
          <a:lstStyle/>
          <a:p>
            <a:pPr algn="l" indent="0" marL="0">
              <a:lnSpc>
                <a:spcPct val="135000"/>
              </a:lnSpc>
              <a:buNone/>
            </a:pPr>
            <a:r>
              <a:rPr lang="en-US" sz="850" dirty="0">
                <a:solidFill>
                  <a:srgbClr val="666666"/>
                </a:solidFill>
                <a:latin typeface="Meiryo" pitchFamily="34" charset="0"/>
                <a:ea typeface="Meiryo" pitchFamily="34" charset="-122"/>
                <a:cs typeface="Meiryo" pitchFamily="34" charset="-120"/>
              </a:rPr>
              <a:t>寄り添いは目的ではなく、お客様の暮らしを実際に変えるための手段。数千万円の意思決定に伴走し、価値観を変えるところまで推進できる。</a:t>
            </a:r>
            <a:endParaRPr lang="en-US" sz="850" dirty="0"/>
          </a:p>
        </p:txBody>
      </p:sp>
      <p:sp>
        <p:nvSpPr>
          <p:cNvPr id="14" name="Shape 11"/>
          <p:cNvSpPr/>
          <p:nvPr/>
        </p:nvSpPr>
        <p:spPr>
          <a:xfrm>
            <a:off x="3291840" y="1417320"/>
            <a:ext cx="2560320" cy="1920240"/>
          </a:xfrm>
          <a:prstGeom prst="rect">
            <a:avLst/>
          </a:prstGeom>
          <a:solidFill>
            <a:srgbClr val="FFFFFF"/>
          </a:solidFill>
          <a:ln w="12700">
            <a:solidFill>
              <a:srgbClr val="FFFFFF"/>
            </a:solidFill>
            <a:prstDash val="solid"/>
          </a:ln>
        </p:spPr>
      </p:sp>
      <p:sp>
        <p:nvSpPr>
          <p:cNvPr id="15" name="Shape 12"/>
          <p:cNvSpPr/>
          <p:nvPr/>
        </p:nvSpPr>
        <p:spPr>
          <a:xfrm>
            <a:off x="3291840" y="1417320"/>
            <a:ext cx="2560320" cy="41148"/>
          </a:xfrm>
          <a:prstGeom prst="rect">
            <a:avLst/>
          </a:prstGeom>
          <a:solidFill>
            <a:srgbClr val="FF7611"/>
          </a:solidFill>
          <a:ln w="12700">
            <a:solidFill>
              <a:srgbClr val="FF7611"/>
            </a:solidFill>
            <a:prstDash val="solid"/>
          </a:ln>
        </p:spPr>
      </p:sp>
      <p:sp>
        <p:nvSpPr>
          <p:cNvPr id="16" name="Shape 13"/>
          <p:cNvSpPr/>
          <p:nvPr/>
        </p:nvSpPr>
        <p:spPr>
          <a:xfrm>
            <a:off x="3474720" y="1600200"/>
            <a:ext cx="310896" cy="310896"/>
          </a:xfrm>
          <a:prstGeom prst="ellipse">
            <a:avLst/>
          </a:prstGeom>
          <a:solidFill>
            <a:srgbClr val="FF7611"/>
          </a:solidFill>
          <a:ln w="12700">
            <a:solidFill>
              <a:srgbClr val="FF7611"/>
            </a:solidFill>
            <a:prstDash val="solid"/>
          </a:ln>
        </p:spPr>
      </p:sp>
      <p:sp>
        <p:nvSpPr>
          <p:cNvPr id="17" name="Text 14"/>
          <p:cNvSpPr txBox="1"/>
          <p:nvPr/>
        </p:nvSpPr>
        <p:spPr>
          <a:xfrm>
            <a:off x="3474720" y="1600200"/>
            <a:ext cx="310896"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Meiryo" pitchFamily="34" charset="0"/>
                <a:ea typeface="Meiryo" pitchFamily="34" charset="-122"/>
                <a:cs typeface="Meiryo" pitchFamily="34" charset="-120"/>
              </a:rPr>
              <a:t>02</a:t>
            </a:r>
            <a:endParaRPr lang="en-US" sz="900" dirty="0"/>
          </a:p>
        </p:txBody>
      </p:sp>
      <p:sp>
        <p:nvSpPr>
          <p:cNvPr id="18" name="Text 15"/>
          <p:cNvSpPr txBox="1"/>
          <p:nvPr/>
        </p:nvSpPr>
        <p:spPr>
          <a:xfrm>
            <a:off x="3886200" y="1572768"/>
            <a:ext cx="1828800" cy="457200"/>
          </a:xfrm>
          <a:prstGeom prst="rect">
            <a:avLst/>
          </a:prstGeom>
          <a:noFill/>
          <a:ln/>
        </p:spPr>
        <p:txBody>
          <a:bodyPr wrap="square" lIns="0" tIns="0" rIns="0" bIns="0" rtlCol="0" anchor="ctr"/>
          <a:lstStyle/>
          <a:p>
            <a:pPr algn="l" indent="0" marL="0">
              <a:lnSpc>
                <a:spcPct val="115000"/>
              </a:lnSpc>
              <a:buNone/>
            </a:pPr>
            <a:r>
              <a:rPr lang="en-US" sz="1000" b="1" dirty="0">
                <a:solidFill>
                  <a:srgbClr val="222222"/>
                </a:solidFill>
                <a:latin typeface="Meiryo" pitchFamily="34" charset="0"/>
                <a:ea typeface="Meiryo" pitchFamily="34" charset="-122"/>
                <a:cs typeface="Meiryo" pitchFamily="34" charset="-120"/>
              </a:rPr>
              <a:t>自分ごと化する力（事業家的）</a:t>
            </a:r>
            <a:endParaRPr lang="en-US" sz="1000" dirty="0"/>
          </a:p>
        </p:txBody>
      </p:sp>
      <p:sp>
        <p:nvSpPr>
          <p:cNvPr id="19" name="Text 16"/>
          <p:cNvSpPr txBox="1"/>
          <p:nvPr/>
        </p:nvSpPr>
        <p:spPr>
          <a:xfrm>
            <a:off x="3474720" y="2121408"/>
            <a:ext cx="2194560" cy="1143000"/>
          </a:xfrm>
          <a:prstGeom prst="rect">
            <a:avLst/>
          </a:prstGeom>
          <a:noFill/>
          <a:ln/>
        </p:spPr>
        <p:txBody>
          <a:bodyPr wrap="square" lIns="0" tIns="0" rIns="0" bIns="0" rtlCol="0" anchor="t"/>
          <a:lstStyle/>
          <a:p>
            <a:pPr algn="l" indent="0" marL="0">
              <a:lnSpc>
                <a:spcPct val="135000"/>
              </a:lnSpc>
              <a:buNone/>
            </a:pPr>
            <a:r>
              <a:rPr lang="en-US" sz="850" dirty="0">
                <a:solidFill>
                  <a:srgbClr val="666666"/>
                </a:solidFill>
                <a:latin typeface="Meiryo" pitchFamily="34" charset="0"/>
                <a:ea typeface="Meiryo" pitchFamily="34" charset="-122"/>
                <a:cs typeface="Meiryo" pitchFamily="34" charset="-120"/>
              </a:rPr>
              <a:t>自分のなりたい姿が整理されていて、その延長線上にリノベルのミッションが連鎖する。会社のためではなく自分のために働き、「だからリノベル」と腹落ちしている。</a:t>
            </a:r>
            <a:endParaRPr lang="en-US" sz="850" dirty="0"/>
          </a:p>
        </p:txBody>
      </p:sp>
      <p:sp>
        <p:nvSpPr>
          <p:cNvPr id="20" name="Shape 17"/>
          <p:cNvSpPr/>
          <p:nvPr/>
        </p:nvSpPr>
        <p:spPr>
          <a:xfrm>
            <a:off x="6035040" y="1417320"/>
            <a:ext cx="2560320" cy="1920240"/>
          </a:xfrm>
          <a:prstGeom prst="rect">
            <a:avLst/>
          </a:prstGeom>
          <a:solidFill>
            <a:srgbClr val="FFFFFF"/>
          </a:solidFill>
          <a:ln w="12700">
            <a:solidFill>
              <a:srgbClr val="FFFFFF"/>
            </a:solidFill>
            <a:prstDash val="solid"/>
          </a:ln>
        </p:spPr>
      </p:sp>
      <p:sp>
        <p:nvSpPr>
          <p:cNvPr id="21" name="Shape 18"/>
          <p:cNvSpPr/>
          <p:nvPr/>
        </p:nvSpPr>
        <p:spPr>
          <a:xfrm>
            <a:off x="6035040" y="1417320"/>
            <a:ext cx="2560320" cy="41148"/>
          </a:xfrm>
          <a:prstGeom prst="rect">
            <a:avLst/>
          </a:prstGeom>
          <a:solidFill>
            <a:srgbClr val="FF7611"/>
          </a:solidFill>
          <a:ln w="12700">
            <a:solidFill>
              <a:srgbClr val="FF7611"/>
            </a:solidFill>
            <a:prstDash val="solid"/>
          </a:ln>
        </p:spPr>
      </p:sp>
      <p:sp>
        <p:nvSpPr>
          <p:cNvPr id="22" name="Shape 19"/>
          <p:cNvSpPr/>
          <p:nvPr/>
        </p:nvSpPr>
        <p:spPr>
          <a:xfrm>
            <a:off x="6217920" y="1600200"/>
            <a:ext cx="310896" cy="310896"/>
          </a:xfrm>
          <a:prstGeom prst="ellipse">
            <a:avLst/>
          </a:prstGeom>
          <a:solidFill>
            <a:srgbClr val="FF7611"/>
          </a:solidFill>
          <a:ln w="12700">
            <a:solidFill>
              <a:srgbClr val="FF7611"/>
            </a:solidFill>
            <a:prstDash val="solid"/>
          </a:ln>
        </p:spPr>
      </p:sp>
      <p:sp>
        <p:nvSpPr>
          <p:cNvPr id="23" name="Text 20"/>
          <p:cNvSpPr txBox="1"/>
          <p:nvPr/>
        </p:nvSpPr>
        <p:spPr>
          <a:xfrm>
            <a:off x="6217920" y="1600200"/>
            <a:ext cx="310896"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Meiryo" pitchFamily="34" charset="0"/>
                <a:ea typeface="Meiryo" pitchFamily="34" charset="-122"/>
                <a:cs typeface="Meiryo" pitchFamily="34" charset="-120"/>
              </a:rPr>
              <a:t>03</a:t>
            </a:r>
            <a:endParaRPr lang="en-US" sz="900" dirty="0"/>
          </a:p>
        </p:txBody>
      </p:sp>
      <p:sp>
        <p:nvSpPr>
          <p:cNvPr id="24" name="Text 21"/>
          <p:cNvSpPr txBox="1"/>
          <p:nvPr/>
        </p:nvSpPr>
        <p:spPr>
          <a:xfrm>
            <a:off x="6629400" y="1572768"/>
            <a:ext cx="1828800" cy="457200"/>
          </a:xfrm>
          <a:prstGeom prst="rect">
            <a:avLst/>
          </a:prstGeom>
          <a:noFill/>
          <a:ln/>
        </p:spPr>
        <p:txBody>
          <a:bodyPr wrap="square" lIns="0" tIns="0" rIns="0" bIns="0" rtlCol="0" anchor="ctr"/>
          <a:lstStyle/>
          <a:p>
            <a:pPr algn="l" indent="0" marL="0">
              <a:lnSpc>
                <a:spcPct val="115000"/>
              </a:lnSpc>
              <a:buNone/>
            </a:pPr>
            <a:r>
              <a:rPr lang="en-US" sz="1000" b="1" dirty="0">
                <a:solidFill>
                  <a:srgbClr val="222222"/>
                </a:solidFill>
                <a:latin typeface="Meiryo" pitchFamily="34" charset="0"/>
                <a:ea typeface="Meiryo" pitchFamily="34" charset="-122"/>
                <a:cs typeface="Meiryo" pitchFamily="34" charset="-120"/>
              </a:rPr>
              <a:t>「暮らし」への課題意識と原体験</a:t>
            </a:r>
            <a:endParaRPr lang="en-US" sz="1000" dirty="0"/>
          </a:p>
        </p:txBody>
      </p:sp>
      <p:sp>
        <p:nvSpPr>
          <p:cNvPr id="25" name="Text 22"/>
          <p:cNvSpPr txBox="1"/>
          <p:nvPr/>
        </p:nvSpPr>
        <p:spPr>
          <a:xfrm>
            <a:off x="6217920" y="2121408"/>
            <a:ext cx="2194560" cy="1143000"/>
          </a:xfrm>
          <a:prstGeom prst="rect">
            <a:avLst/>
          </a:prstGeom>
          <a:noFill/>
          <a:ln/>
        </p:spPr>
        <p:txBody>
          <a:bodyPr wrap="square" lIns="0" tIns="0" rIns="0" bIns="0" rtlCol="0" anchor="t"/>
          <a:lstStyle/>
          <a:p>
            <a:pPr algn="l" indent="0" marL="0">
              <a:lnSpc>
                <a:spcPct val="135000"/>
              </a:lnSpc>
              <a:buNone/>
            </a:pPr>
            <a:r>
              <a:rPr lang="en-US" sz="850" dirty="0">
                <a:solidFill>
                  <a:srgbClr val="666666"/>
                </a:solidFill>
                <a:latin typeface="Meiryo" pitchFamily="34" charset="0"/>
                <a:ea typeface="Meiryo" pitchFamily="34" charset="-122"/>
                <a:cs typeface="Meiryo" pitchFamily="34" charset="-120"/>
              </a:rPr>
              <a:t>多様な価値観を受け入れたい。暮らしは人生の基盤で、住まいが変わると考え方や家族のあり方が変わる、という感覚を自分の経験から持っている。</a:t>
            </a:r>
            <a:endParaRPr lang="en-US" sz="850" dirty="0"/>
          </a:p>
        </p:txBody>
      </p:sp>
      <p:sp>
        <p:nvSpPr>
          <p:cNvPr id="26" name="Shape 23"/>
          <p:cNvSpPr/>
          <p:nvPr/>
        </p:nvSpPr>
        <p:spPr>
          <a:xfrm>
            <a:off x="548640" y="3520440"/>
            <a:ext cx="4754880" cy="1234440"/>
          </a:xfrm>
          <a:prstGeom prst="rect">
            <a:avLst/>
          </a:prstGeom>
          <a:solidFill>
            <a:srgbClr val="FFFFFF"/>
          </a:solidFill>
          <a:ln w="12700">
            <a:solidFill>
              <a:srgbClr val="FF7611"/>
            </a:solidFill>
            <a:prstDash val="solid"/>
          </a:ln>
        </p:spPr>
      </p:sp>
      <p:sp>
        <p:nvSpPr>
          <p:cNvPr id="27" name="Text 24"/>
          <p:cNvSpPr txBox="1"/>
          <p:nvPr/>
        </p:nvSpPr>
        <p:spPr>
          <a:xfrm>
            <a:off x="731520" y="3611880"/>
            <a:ext cx="4389120" cy="868680"/>
          </a:xfrm>
          <a:prstGeom prst="rect">
            <a:avLst/>
          </a:prstGeom>
          <a:noFill/>
          <a:ln/>
        </p:spPr>
        <p:txBody>
          <a:bodyPr wrap="square" lIns="0" tIns="0" rIns="0" bIns="0" rtlCol="0" anchor="t"/>
          <a:lstStyle/>
          <a:p>
            <a:pPr algn="l" indent="0" marL="0">
              <a:lnSpc>
                <a:spcPct val="140000"/>
              </a:lnSpc>
              <a:buNone/>
            </a:pPr>
            <a:r>
              <a:rPr lang="en-US" sz="850" dirty="0">
                <a:solidFill>
                  <a:srgbClr val="222222"/>
                </a:solidFill>
                <a:latin typeface="Meiryo" pitchFamily="34" charset="0"/>
                <a:ea typeface="Meiryo" pitchFamily="34" charset="-122"/>
                <a:cs typeface="Meiryo" pitchFamily="34" charset="-120"/>
              </a:rPr>
              <a:t>「自分のミッションとリノベルのミッションの方向性が一致しているかどうか。自分のなりたい姿がちゃんと整理されていて、その先にリノベルのミッションが連鎖する。その落としどころを紐づけられる人。」</a:t>
            </a:r>
            <a:endParaRPr lang="en-US" sz="850" dirty="0"/>
          </a:p>
        </p:txBody>
      </p:sp>
      <p:sp>
        <p:nvSpPr>
          <p:cNvPr id="28" name="Text 25"/>
          <p:cNvSpPr txBox="1"/>
          <p:nvPr/>
        </p:nvSpPr>
        <p:spPr>
          <a:xfrm>
            <a:off x="731520" y="4526280"/>
            <a:ext cx="4389120" cy="182880"/>
          </a:xfrm>
          <a:prstGeom prst="rect">
            <a:avLst/>
          </a:prstGeom>
          <a:noFill/>
          <a:ln/>
        </p:spPr>
        <p:txBody>
          <a:bodyPr wrap="square" lIns="0" tIns="0" rIns="0" bIns="0" rtlCol="0" anchor="t"/>
          <a:lstStyle/>
          <a:p>
            <a:pPr algn="l" indent="0" marL="0">
              <a:buNone/>
            </a:pPr>
            <a:r>
              <a:rPr lang="en-US" sz="650" dirty="0">
                <a:solidFill>
                  <a:srgbClr val="8C8C8C"/>
                </a:solidFill>
                <a:latin typeface="Meiryo" pitchFamily="34" charset="0"/>
                <a:ea typeface="Meiryo" pitchFamily="34" charset="-122"/>
                <a:cs typeface="Meiryo" pitchFamily="34" charset="-120"/>
              </a:rPr>
              <a:t>― お打ち合わせでの鈴木様のお言葉より</a:t>
            </a:r>
            <a:endParaRPr lang="en-US" sz="650" dirty="0"/>
          </a:p>
        </p:txBody>
      </p:sp>
      <p:sp>
        <p:nvSpPr>
          <p:cNvPr id="29" name="Text 26"/>
          <p:cNvSpPr txBox="1"/>
          <p:nvPr/>
        </p:nvSpPr>
        <p:spPr>
          <a:xfrm>
            <a:off x="5577840" y="3520440"/>
            <a:ext cx="3017520" cy="228600"/>
          </a:xfrm>
          <a:prstGeom prst="rect">
            <a:avLst/>
          </a:prstGeom>
          <a:noFill/>
          <a:ln/>
        </p:spPr>
        <p:txBody>
          <a:bodyPr wrap="square" lIns="0" tIns="0" rIns="0" bIns="0" rtlCol="0" anchor="t"/>
          <a:lstStyle/>
          <a:p>
            <a:pPr algn="l" indent="0" marL="0">
              <a:buNone/>
            </a:pPr>
            <a:r>
              <a:rPr lang="en-US" sz="950" b="1" dirty="0">
                <a:solidFill>
                  <a:srgbClr val="222222"/>
                </a:solidFill>
                <a:latin typeface="Meiryo" pitchFamily="34" charset="0"/>
                <a:ea typeface="Meiryo" pitchFamily="34" charset="-122"/>
                <a:cs typeface="Meiryo" pitchFamily="34" charset="-120"/>
              </a:rPr>
              <a:t>今回は「送客しない」層</a:t>
            </a:r>
            <a:endParaRPr lang="en-US" sz="950" dirty="0"/>
          </a:p>
        </p:txBody>
      </p:sp>
      <p:sp>
        <p:nvSpPr>
          <p:cNvPr id="30" name="Text 27"/>
          <p:cNvSpPr txBox="1"/>
          <p:nvPr/>
        </p:nvSpPr>
        <p:spPr>
          <a:xfrm>
            <a:off x="5577840" y="3794760"/>
            <a:ext cx="3017520" cy="1005840"/>
          </a:xfrm>
          <a:prstGeom prst="rect">
            <a:avLst/>
          </a:prstGeom>
          <a:noFill/>
          <a:ln/>
        </p:spPr>
        <p:txBody>
          <a:bodyPr wrap="square" lIns="0" tIns="0" rIns="0" bIns="0" rtlCol="0" anchor="t"/>
          <a:lstStyle/>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地図に残る仕事・大きなことがしたい（構造志向）</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「寄り添いたい」が目的で、結果へのこだわりが薄い</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就活を始めたばかりで、自己分析が進んでいない</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05｜WHERE THEY ARE</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「暮らし」にまだ辿り着いていない、ドーナツの外側にいる学生</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テーマは重なるのに、「不動産」「リノベーション」と聞いた瞬間に一線を引いてしまう層。</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6</a:t>
            </a:r>
            <a:endParaRPr lang="en-US" sz="750" dirty="0"/>
          </a:p>
        </p:txBody>
      </p:sp>
      <p:sp>
        <p:nvSpPr>
          <p:cNvPr id="8" name="Shape 5"/>
          <p:cNvSpPr/>
          <p:nvPr/>
        </p:nvSpPr>
        <p:spPr>
          <a:xfrm>
            <a:off x="960120" y="1463040"/>
            <a:ext cx="2286000" cy="2286000"/>
          </a:xfrm>
          <a:prstGeom prst="ellipse">
            <a:avLst/>
          </a:prstGeom>
          <a:solidFill>
            <a:srgbClr val="FDF1E6"/>
          </a:solidFill>
          <a:ln w="15875">
            <a:solidFill>
              <a:srgbClr val="FF7611"/>
            </a:solidFill>
            <a:prstDash val="solid"/>
          </a:ln>
        </p:spPr>
      </p:sp>
      <p:sp>
        <p:nvSpPr>
          <p:cNvPr id="9" name="Shape 6"/>
          <p:cNvSpPr/>
          <p:nvPr/>
        </p:nvSpPr>
        <p:spPr>
          <a:xfrm>
            <a:off x="1536192" y="2039112"/>
            <a:ext cx="1133856" cy="1133856"/>
          </a:xfrm>
          <a:prstGeom prst="ellipse">
            <a:avLst/>
          </a:prstGeom>
          <a:solidFill>
            <a:srgbClr val="2C2C2C"/>
          </a:solidFill>
          <a:ln w="12700">
            <a:solidFill>
              <a:srgbClr val="2C2C2C"/>
            </a:solidFill>
            <a:prstDash val="solid"/>
          </a:ln>
        </p:spPr>
      </p:sp>
      <p:sp>
        <p:nvSpPr>
          <p:cNvPr id="10" name="Text 7"/>
          <p:cNvSpPr txBox="1"/>
          <p:nvPr/>
        </p:nvSpPr>
        <p:spPr>
          <a:xfrm>
            <a:off x="1536192" y="2331720"/>
            <a:ext cx="1133856" cy="228600"/>
          </a:xfrm>
          <a:prstGeom prst="rect">
            <a:avLst/>
          </a:prstGeom>
          <a:noFill/>
          <a:ln/>
        </p:spPr>
        <p:txBody>
          <a:bodyPr wrap="square" lIns="0" tIns="0" rIns="0" bIns="0" rtlCol="0" anchor="t"/>
          <a:lstStyle/>
          <a:p>
            <a:pPr algn="ctr" indent="0" marL="0">
              <a:buNone/>
            </a:pPr>
            <a:r>
              <a:rPr lang="en-US" sz="900" b="1" dirty="0">
                <a:solidFill>
                  <a:srgbClr val="FF7611"/>
                </a:solidFill>
                <a:latin typeface="Meiryo" pitchFamily="34" charset="0"/>
                <a:ea typeface="Meiryo" pitchFamily="34" charset="-122"/>
                <a:cs typeface="Meiryo" pitchFamily="34" charset="-120"/>
              </a:rPr>
              <a:t>住まい・暮らし</a:t>
            </a:r>
            <a:endParaRPr lang="en-US" sz="900" dirty="0"/>
          </a:p>
        </p:txBody>
      </p:sp>
      <p:sp>
        <p:nvSpPr>
          <p:cNvPr id="11" name="Text 8"/>
          <p:cNvSpPr txBox="1"/>
          <p:nvPr/>
        </p:nvSpPr>
        <p:spPr>
          <a:xfrm>
            <a:off x="1536192" y="2587752"/>
            <a:ext cx="1133856" cy="365760"/>
          </a:xfrm>
          <a:prstGeom prst="rect">
            <a:avLst/>
          </a:prstGeom>
          <a:noFill/>
          <a:ln/>
        </p:spPr>
        <p:txBody>
          <a:bodyPr wrap="square" lIns="0" tIns="0" rIns="0" bIns="0" rtlCol="0" anchor="t"/>
          <a:lstStyle/>
          <a:p>
            <a:pPr algn="ctr" indent="0" marL="0">
              <a:lnSpc>
                <a:spcPct val="120000"/>
              </a:lnSpc>
              <a:buNone/>
            </a:pPr>
            <a:r>
              <a:rPr lang="en-US" sz="650" dirty="0">
                <a:solidFill>
                  <a:srgbClr val="FFFFFF"/>
                </a:solidFill>
                <a:latin typeface="Meiryo" pitchFamily="34" charset="0"/>
                <a:ea typeface="Meiryo" pitchFamily="34" charset="-122"/>
                <a:cs typeface="Meiryo" pitchFamily="34" charset="-120"/>
              </a:rPr>
              <a:t>建築学生など</a:t>
            </a:r>
            <a:endParaRPr lang="en-US" sz="650" dirty="0"/>
          </a:p>
          <a:p>
            <a:pPr algn="ctr" indent="0" marL="0">
              <a:lnSpc>
                <a:spcPct val="120000"/>
              </a:lnSpc>
              <a:buNone/>
            </a:pPr>
            <a:r>
              <a:rPr lang="en-US" sz="650" dirty="0">
                <a:solidFill>
                  <a:srgbClr val="FFFFFF"/>
                </a:solidFill>
                <a:latin typeface="Meiryo" pitchFamily="34" charset="0"/>
                <a:ea typeface="Meiryo" pitchFamily="34" charset="-122"/>
                <a:cs typeface="Meiryo" pitchFamily="34" charset="-120"/>
              </a:rPr>
              <a:t>認知あり・困っていない</a:t>
            </a:r>
            <a:endParaRPr lang="en-US" sz="650" dirty="0"/>
          </a:p>
        </p:txBody>
      </p:sp>
      <p:sp>
        <p:nvSpPr>
          <p:cNvPr id="12" name="Text 9"/>
          <p:cNvSpPr txBox="1"/>
          <p:nvPr/>
        </p:nvSpPr>
        <p:spPr>
          <a:xfrm>
            <a:off x="1554480" y="1554480"/>
            <a:ext cx="1097280" cy="228600"/>
          </a:xfrm>
          <a:prstGeom prst="rect">
            <a:avLst/>
          </a:prstGeom>
          <a:noFill/>
          <a:ln/>
        </p:spPr>
        <p:txBody>
          <a:bodyPr wrap="square" lIns="0" tIns="0" rIns="0" bIns="0" rtlCol="0" anchor="t"/>
          <a:lstStyle/>
          <a:p>
            <a:pPr algn="ctr" indent="0" marL="0">
              <a:buNone/>
            </a:pPr>
            <a:r>
              <a:rPr lang="en-US" sz="800" b="1" dirty="0">
                <a:solidFill>
                  <a:srgbClr val="84300F"/>
                </a:solidFill>
                <a:latin typeface="Meiryo" pitchFamily="34" charset="0"/>
                <a:ea typeface="Meiryo" pitchFamily="34" charset="-122"/>
                <a:cs typeface="Meiryo" pitchFamily="34" charset="-120"/>
              </a:rPr>
              <a:t>地方創生</a:t>
            </a:r>
            <a:endParaRPr lang="en-US" sz="800" dirty="0"/>
          </a:p>
        </p:txBody>
      </p:sp>
      <p:sp>
        <p:nvSpPr>
          <p:cNvPr id="13" name="Text 10"/>
          <p:cNvSpPr txBox="1"/>
          <p:nvPr/>
        </p:nvSpPr>
        <p:spPr>
          <a:xfrm>
            <a:off x="2514600" y="1920240"/>
            <a:ext cx="1097280" cy="228600"/>
          </a:xfrm>
          <a:prstGeom prst="rect">
            <a:avLst/>
          </a:prstGeom>
          <a:noFill/>
          <a:ln/>
        </p:spPr>
        <p:txBody>
          <a:bodyPr wrap="square" lIns="0" tIns="0" rIns="0" bIns="0" rtlCol="0" anchor="t"/>
          <a:lstStyle/>
          <a:p>
            <a:pPr algn="ctr" indent="0" marL="0">
              <a:buNone/>
            </a:pPr>
            <a:r>
              <a:rPr lang="en-US" sz="800" b="1" dirty="0">
                <a:solidFill>
                  <a:srgbClr val="84300F"/>
                </a:solidFill>
                <a:latin typeface="Meiryo" pitchFamily="34" charset="0"/>
                <a:ea typeface="Meiryo" pitchFamily="34" charset="-122"/>
                <a:cs typeface="Meiryo" pitchFamily="34" charset="-120"/>
              </a:rPr>
              <a:t>まちづくり</a:t>
            </a:r>
            <a:endParaRPr lang="en-US" sz="800" dirty="0"/>
          </a:p>
        </p:txBody>
      </p:sp>
      <p:sp>
        <p:nvSpPr>
          <p:cNvPr id="14" name="Text 11"/>
          <p:cNvSpPr txBox="1"/>
          <p:nvPr/>
        </p:nvSpPr>
        <p:spPr>
          <a:xfrm>
            <a:off x="2423160" y="3108960"/>
            <a:ext cx="1097280" cy="228600"/>
          </a:xfrm>
          <a:prstGeom prst="rect">
            <a:avLst/>
          </a:prstGeom>
          <a:noFill/>
          <a:ln/>
        </p:spPr>
        <p:txBody>
          <a:bodyPr wrap="square" lIns="0" tIns="0" rIns="0" bIns="0" rtlCol="0" anchor="t"/>
          <a:lstStyle/>
          <a:p>
            <a:pPr algn="ctr" indent="0" marL="0">
              <a:buNone/>
            </a:pPr>
            <a:r>
              <a:rPr lang="en-US" sz="800" b="1" dirty="0">
                <a:solidFill>
                  <a:srgbClr val="84300F"/>
                </a:solidFill>
                <a:latin typeface="Meiryo" pitchFamily="34" charset="0"/>
                <a:ea typeface="Meiryo" pitchFamily="34" charset="-122"/>
                <a:cs typeface="Meiryo" pitchFamily="34" charset="-120"/>
              </a:rPr>
              <a:t>日常の豊かさ</a:t>
            </a:r>
            <a:endParaRPr lang="en-US" sz="800" dirty="0"/>
          </a:p>
        </p:txBody>
      </p:sp>
      <p:sp>
        <p:nvSpPr>
          <p:cNvPr id="15" name="Text 12"/>
          <p:cNvSpPr txBox="1"/>
          <p:nvPr/>
        </p:nvSpPr>
        <p:spPr>
          <a:xfrm>
            <a:off x="731520" y="3108960"/>
            <a:ext cx="1097280" cy="228600"/>
          </a:xfrm>
          <a:prstGeom prst="rect">
            <a:avLst/>
          </a:prstGeom>
          <a:noFill/>
          <a:ln/>
        </p:spPr>
        <p:txBody>
          <a:bodyPr wrap="square" lIns="0" tIns="0" rIns="0" bIns="0" rtlCol="0" anchor="t"/>
          <a:lstStyle/>
          <a:p>
            <a:pPr algn="ctr" indent="0" marL="0">
              <a:buNone/>
            </a:pPr>
            <a:r>
              <a:rPr lang="en-US" sz="800" b="1" dirty="0">
                <a:solidFill>
                  <a:srgbClr val="84300F"/>
                </a:solidFill>
                <a:latin typeface="Meiryo" pitchFamily="34" charset="0"/>
                <a:ea typeface="Meiryo" pitchFamily="34" charset="-122"/>
                <a:cs typeface="Meiryo" pitchFamily="34" charset="-120"/>
              </a:rPr>
              <a:t>人生に伴走</a:t>
            </a:r>
            <a:endParaRPr lang="en-US" sz="800" dirty="0"/>
          </a:p>
        </p:txBody>
      </p:sp>
      <p:sp>
        <p:nvSpPr>
          <p:cNvPr id="16" name="Text 13"/>
          <p:cNvSpPr txBox="1"/>
          <p:nvPr/>
        </p:nvSpPr>
        <p:spPr>
          <a:xfrm>
            <a:off x="594360" y="1920240"/>
            <a:ext cx="1097280" cy="228600"/>
          </a:xfrm>
          <a:prstGeom prst="rect">
            <a:avLst/>
          </a:prstGeom>
          <a:noFill/>
          <a:ln/>
        </p:spPr>
        <p:txBody>
          <a:bodyPr wrap="square" lIns="0" tIns="0" rIns="0" bIns="0" rtlCol="0" anchor="t"/>
          <a:lstStyle/>
          <a:p>
            <a:pPr algn="ctr" indent="0" marL="0">
              <a:buNone/>
            </a:pPr>
            <a:r>
              <a:rPr lang="en-US" sz="800" b="1" dirty="0">
                <a:solidFill>
                  <a:srgbClr val="84300F"/>
                </a:solidFill>
                <a:latin typeface="Meiryo" pitchFamily="34" charset="0"/>
                <a:ea typeface="Meiryo" pitchFamily="34" charset="-122"/>
                <a:cs typeface="Meiryo" pitchFamily="34" charset="-120"/>
              </a:rPr>
              <a:t>サステナブル</a:t>
            </a:r>
            <a:endParaRPr lang="en-US" sz="800" dirty="0"/>
          </a:p>
        </p:txBody>
      </p:sp>
      <p:sp>
        <p:nvSpPr>
          <p:cNvPr id="17" name="Text 14"/>
          <p:cNvSpPr txBox="1"/>
          <p:nvPr/>
        </p:nvSpPr>
        <p:spPr>
          <a:xfrm>
            <a:off x="548640" y="3794760"/>
            <a:ext cx="3200400" cy="228600"/>
          </a:xfrm>
          <a:prstGeom prst="rect">
            <a:avLst/>
          </a:prstGeom>
          <a:noFill/>
          <a:ln/>
        </p:spPr>
        <p:txBody>
          <a:bodyPr wrap="square" lIns="0" tIns="0" rIns="0" bIns="0" rtlCol="0" anchor="t"/>
          <a:lstStyle/>
          <a:p>
            <a:pPr algn="ctr" indent="0" marL="0">
              <a:buNone/>
            </a:pPr>
            <a:r>
              <a:rPr lang="en-US" sz="750" dirty="0">
                <a:solidFill>
                  <a:srgbClr val="B65124"/>
                </a:solidFill>
                <a:latin typeface="Meiryo" pitchFamily="34" charset="0"/>
                <a:ea typeface="Meiryo" pitchFamily="34" charset="-122"/>
                <a:cs typeface="Meiryo" pitchFamily="34" charset="-120"/>
              </a:rPr>
              <a:t>「不動産・リノベは私じゃない」と線を引いている層</a:t>
            </a:r>
            <a:endParaRPr lang="en-US" sz="750" dirty="0"/>
          </a:p>
        </p:txBody>
      </p:sp>
      <p:sp>
        <p:nvSpPr>
          <p:cNvPr id="18" name="Shape 15"/>
          <p:cNvSpPr/>
          <p:nvPr/>
        </p:nvSpPr>
        <p:spPr>
          <a:xfrm>
            <a:off x="4114800" y="1435608"/>
            <a:ext cx="256032" cy="256032"/>
          </a:xfrm>
          <a:prstGeom prst="ellipse">
            <a:avLst/>
          </a:prstGeom>
          <a:solidFill>
            <a:srgbClr val="FF7611"/>
          </a:solidFill>
          <a:ln w="12700">
            <a:solidFill>
              <a:srgbClr val="FF7611"/>
            </a:solidFill>
            <a:prstDash val="solid"/>
          </a:ln>
        </p:spPr>
      </p:sp>
      <p:sp>
        <p:nvSpPr>
          <p:cNvPr id="19" name="Text 16"/>
          <p:cNvSpPr txBox="1"/>
          <p:nvPr/>
        </p:nvSpPr>
        <p:spPr>
          <a:xfrm>
            <a:off x="4114800" y="14356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eiryo" pitchFamily="34" charset="0"/>
                <a:ea typeface="Meiryo" pitchFamily="34" charset="-122"/>
                <a:cs typeface="Meiryo" pitchFamily="34" charset="-120"/>
              </a:rPr>
              <a:t>1</a:t>
            </a:r>
            <a:endParaRPr lang="en-US" sz="900" dirty="0"/>
          </a:p>
        </p:txBody>
      </p:sp>
      <p:sp>
        <p:nvSpPr>
          <p:cNvPr id="20" name="Text 17"/>
          <p:cNvSpPr txBox="1"/>
          <p:nvPr/>
        </p:nvSpPr>
        <p:spPr>
          <a:xfrm>
            <a:off x="4480560" y="1417320"/>
            <a:ext cx="4114800" cy="777240"/>
          </a:xfrm>
          <a:prstGeom prst="rect">
            <a:avLst/>
          </a:prstGeom>
          <a:noFill/>
          <a:ln/>
        </p:spPr>
        <p:txBody>
          <a:bodyPr wrap="square" lIns="0" tIns="0" rIns="0" bIns="0" rtlCol="0" anchor="t"/>
          <a:lstStyle/>
          <a:p>
            <a:pPr algn="l" indent="0" marL="0">
              <a:lnSpc>
                <a:spcPct val="135000"/>
              </a:lnSpc>
              <a:buNone/>
            </a:pPr>
            <a:r>
              <a:rPr lang="en-US" sz="850" b="1" dirty="0">
                <a:solidFill>
                  <a:srgbClr val="B65124"/>
                </a:solidFill>
                <a:latin typeface="Meiryo" pitchFamily="34" charset="0"/>
                <a:ea typeface="Meiryo" pitchFamily="34" charset="-122"/>
                <a:cs typeface="Meiryo" pitchFamily="34" charset="-120"/>
              </a:rPr>
              <a:t>関心の言葉が違う。</a:t>
            </a:r>
            <a:pPr algn="l" indent="0" marL="0">
              <a:lnSpc>
                <a:spcPct val="135000"/>
              </a:lnSpc>
              <a:buNone/>
            </a:pPr>
            <a:r>
              <a:rPr lang="en-US" sz="850" dirty="0">
                <a:solidFill>
                  <a:srgbClr val="222222"/>
                </a:solidFill>
                <a:latin typeface="Meiryo" pitchFamily="34" charset="0"/>
                <a:ea typeface="Meiryo" pitchFamily="34" charset="-122"/>
                <a:cs typeface="Meiryo" pitchFamily="34" charset="-120"/>
              </a:rPr>
              <a:t>地方創生、まちづくり、日常を豊かにする、サステナブルな暮らし。テーマは重なるのに、「不動産」「リノベーション」と聞いた瞬間に一線を引いてしまう。</a:t>
            </a:r>
            <a:endParaRPr lang="en-US" sz="850" dirty="0"/>
          </a:p>
        </p:txBody>
      </p:sp>
      <p:sp>
        <p:nvSpPr>
          <p:cNvPr id="21" name="Shape 18"/>
          <p:cNvSpPr/>
          <p:nvPr/>
        </p:nvSpPr>
        <p:spPr>
          <a:xfrm>
            <a:off x="4114800" y="2258568"/>
            <a:ext cx="256032" cy="256032"/>
          </a:xfrm>
          <a:prstGeom prst="ellipse">
            <a:avLst/>
          </a:prstGeom>
          <a:solidFill>
            <a:srgbClr val="FF7611"/>
          </a:solidFill>
          <a:ln w="12700">
            <a:solidFill>
              <a:srgbClr val="FF7611"/>
            </a:solidFill>
            <a:prstDash val="solid"/>
          </a:ln>
        </p:spPr>
      </p:sp>
      <p:sp>
        <p:nvSpPr>
          <p:cNvPr id="22" name="Text 19"/>
          <p:cNvSpPr txBox="1"/>
          <p:nvPr/>
        </p:nvSpPr>
        <p:spPr>
          <a:xfrm>
            <a:off x="4114800" y="225856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eiryo" pitchFamily="34" charset="0"/>
                <a:ea typeface="Meiryo" pitchFamily="34" charset="-122"/>
                <a:cs typeface="Meiryo" pitchFamily="34" charset="-120"/>
              </a:rPr>
              <a:t>2</a:t>
            </a:r>
            <a:endParaRPr lang="en-US" sz="900" dirty="0"/>
          </a:p>
        </p:txBody>
      </p:sp>
      <p:sp>
        <p:nvSpPr>
          <p:cNvPr id="23" name="Text 20"/>
          <p:cNvSpPr txBox="1"/>
          <p:nvPr/>
        </p:nvSpPr>
        <p:spPr>
          <a:xfrm>
            <a:off x="4480560" y="2240280"/>
            <a:ext cx="4114800" cy="777240"/>
          </a:xfrm>
          <a:prstGeom prst="rect">
            <a:avLst/>
          </a:prstGeom>
          <a:noFill/>
          <a:ln/>
        </p:spPr>
        <p:txBody>
          <a:bodyPr wrap="square" lIns="0" tIns="0" rIns="0" bIns="0" rtlCol="0" anchor="t"/>
          <a:lstStyle/>
          <a:p>
            <a:pPr algn="l" indent="0" marL="0">
              <a:lnSpc>
                <a:spcPct val="135000"/>
              </a:lnSpc>
              <a:buNone/>
            </a:pPr>
            <a:r>
              <a:rPr lang="en-US" sz="850" b="1" dirty="0">
                <a:solidFill>
                  <a:srgbClr val="B65124"/>
                </a:solidFill>
                <a:latin typeface="Meiryo" pitchFamily="34" charset="0"/>
                <a:ea typeface="Meiryo" pitchFamily="34" charset="-122"/>
                <a:cs typeface="Meiryo" pitchFamily="34" charset="-120"/>
              </a:rPr>
              <a:t>会えば変わる。</a:t>
            </a:r>
            <a:pPr algn="l" indent="0" marL="0">
              <a:lnSpc>
                <a:spcPct val="135000"/>
              </a:lnSpc>
              <a:buNone/>
            </a:pPr>
            <a:r>
              <a:rPr lang="en-US" sz="850" dirty="0">
                <a:solidFill>
                  <a:srgbClr val="222222"/>
                </a:solidFill>
                <a:latin typeface="Meiryo" pitchFamily="34" charset="0"/>
                <a:ea typeface="Meiryo" pitchFamily="34" charset="-122"/>
                <a:cs typeface="Meiryo" pitchFamily="34" charset="-120"/>
              </a:rPr>
              <a:t>「住むところって絶対そうだよね」と話していくと「確かに」になる。業界イメージを崩す入口（企画のタイトル・言葉）が鍵。</a:t>
            </a:r>
            <a:endParaRPr lang="en-US" sz="850" dirty="0"/>
          </a:p>
        </p:txBody>
      </p:sp>
      <p:sp>
        <p:nvSpPr>
          <p:cNvPr id="24" name="Shape 21"/>
          <p:cNvSpPr/>
          <p:nvPr/>
        </p:nvSpPr>
        <p:spPr>
          <a:xfrm>
            <a:off x="4114800" y="3081528"/>
            <a:ext cx="256032" cy="256032"/>
          </a:xfrm>
          <a:prstGeom prst="ellipse">
            <a:avLst/>
          </a:prstGeom>
          <a:solidFill>
            <a:srgbClr val="FF7611"/>
          </a:solidFill>
          <a:ln w="12700">
            <a:solidFill>
              <a:srgbClr val="FF7611"/>
            </a:solidFill>
            <a:prstDash val="solid"/>
          </a:ln>
        </p:spPr>
      </p:sp>
      <p:sp>
        <p:nvSpPr>
          <p:cNvPr id="25" name="Text 22"/>
          <p:cNvSpPr txBox="1"/>
          <p:nvPr/>
        </p:nvSpPr>
        <p:spPr>
          <a:xfrm>
            <a:off x="4114800" y="30815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eiryo" pitchFamily="34" charset="0"/>
                <a:ea typeface="Meiryo" pitchFamily="34" charset="-122"/>
                <a:cs typeface="Meiryo" pitchFamily="34" charset="-120"/>
              </a:rPr>
              <a:t>3</a:t>
            </a:r>
            <a:endParaRPr lang="en-US" sz="900" dirty="0"/>
          </a:p>
        </p:txBody>
      </p:sp>
      <p:sp>
        <p:nvSpPr>
          <p:cNvPr id="26" name="Text 23"/>
          <p:cNvSpPr txBox="1"/>
          <p:nvPr/>
        </p:nvSpPr>
        <p:spPr>
          <a:xfrm>
            <a:off x="4480560" y="3063240"/>
            <a:ext cx="4114800" cy="777240"/>
          </a:xfrm>
          <a:prstGeom prst="rect">
            <a:avLst/>
          </a:prstGeom>
          <a:noFill/>
          <a:ln/>
        </p:spPr>
        <p:txBody>
          <a:bodyPr wrap="square" lIns="0" tIns="0" rIns="0" bIns="0" rtlCol="0" anchor="t"/>
          <a:lstStyle/>
          <a:p>
            <a:pPr algn="l" indent="0" marL="0">
              <a:lnSpc>
                <a:spcPct val="135000"/>
              </a:lnSpc>
              <a:buNone/>
            </a:pPr>
            <a:r>
              <a:rPr lang="en-US" sz="850" b="1" dirty="0">
                <a:solidFill>
                  <a:srgbClr val="B65124"/>
                </a:solidFill>
                <a:latin typeface="Meiryo" pitchFamily="34" charset="0"/>
                <a:ea typeface="Meiryo" pitchFamily="34" charset="-122"/>
                <a:cs typeface="Meiryo" pitchFamily="34" charset="-120"/>
              </a:rPr>
              <a:t>ナビ媒体にいない。</a:t>
            </a:r>
            <a:pPr algn="l" indent="0" marL="0">
              <a:lnSpc>
                <a:spcPct val="135000"/>
              </a:lnSpc>
              <a:buNone/>
            </a:pPr>
            <a:r>
              <a:rPr lang="en-US" sz="850" dirty="0">
                <a:solidFill>
                  <a:srgbClr val="222222"/>
                </a:solidFill>
                <a:latin typeface="Meiryo" pitchFamily="34" charset="0"/>
                <a:ea typeface="Meiryo" pitchFamily="34" charset="-122"/>
                <a:cs typeface="Meiryo" pitchFamily="34" charset="-120"/>
              </a:rPr>
              <a:t>この層は1・2年生の時点で自己分析や企業研究を済ませ、情報を自分で取りに行く。今から28卒就活を始める層とは動きが違う。</a:t>
            </a:r>
            <a:endParaRPr lang="en-US" sz="850" dirty="0"/>
          </a:p>
        </p:txBody>
      </p:sp>
      <p:sp>
        <p:nvSpPr>
          <p:cNvPr id="27" name="Shape 24"/>
          <p:cNvSpPr/>
          <p:nvPr/>
        </p:nvSpPr>
        <p:spPr>
          <a:xfrm>
            <a:off x="548640" y="4069080"/>
            <a:ext cx="8046720" cy="731520"/>
          </a:xfrm>
          <a:prstGeom prst="rect">
            <a:avLst/>
          </a:prstGeom>
          <a:solidFill>
            <a:srgbClr val="2C2C2C"/>
          </a:solidFill>
          <a:ln w="12700">
            <a:solidFill>
              <a:srgbClr val="2C2C2C"/>
            </a:solidFill>
            <a:prstDash val="solid"/>
          </a:ln>
        </p:spPr>
      </p:sp>
      <p:sp>
        <p:nvSpPr>
          <p:cNvPr id="28" name="Text 25"/>
          <p:cNvSpPr txBox="1"/>
          <p:nvPr/>
        </p:nvSpPr>
        <p:spPr>
          <a:xfrm>
            <a:off x="777240" y="4069080"/>
            <a:ext cx="1554480" cy="731520"/>
          </a:xfrm>
          <a:prstGeom prst="rect">
            <a:avLst/>
          </a:prstGeom>
          <a:noFill/>
          <a:ln/>
        </p:spPr>
        <p:txBody>
          <a:bodyPr wrap="square" lIns="0" tIns="0" rIns="0" bIns="0" rtlCol="0" anchor="ctr"/>
          <a:lstStyle/>
          <a:p>
            <a:pPr algn="l" indent="0" marL="0">
              <a:buNone/>
            </a:pPr>
            <a:r>
              <a:rPr lang="en-US" sz="900" b="1" dirty="0">
                <a:solidFill>
                  <a:srgbClr val="FF7611"/>
                </a:solidFill>
                <a:latin typeface="Meiryo" pitchFamily="34" charset="0"/>
                <a:ea typeface="Meiryo" pitchFamily="34" charset="-122"/>
                <a:cs typeface="Meiryo" pitchFamily="34" charset="-120"/>
              </a:rPr>
              <a:t>私たちにできること</a:t>
            </a:r>
            <a:endParaRPr lang="en-US" sz="900" dirty="0"/>
          </a:p>
        </p:txBody>
      </p:sp>
      <p:sp>
        <p:nvSpPr>
          <p:cNvPr id="29" name="Text 26"/>
          <p:cNvSpPr txBox="1"/>
          <p:nvPr/>
        </p:nvSpPr>
        <p:spPr>
          <a:xfrm>
            <a:off x="2377440" y="4069080"/>
            <a:ext cx="6035040" cy="731520"/>
          </a:xfrm>
          <a:prstGeom prst="rect">
            <a:avLst/>
          </a:prstGeom>
          <a:noFill/>
          <a:ln/>
        </p:spPr>
        <p:txBody>
          <a:bodyPr wrap="square" lIns="0" tIns="0" rIns="0" bIns="0" rtlCol="0" anchor="ctr"/>
          <a:lstStyle/>
          <a:p>
            <a:pPr algn="l" indent="0" marL="0">
              <a:buNone/>
            </a:pPr>
            <a:r>
              <a:rPr lang="en-US" sz="950" dirty="0">
                <a:solidFill>
                  <a:srgbClr val="FFFFFF"/>
                </a:solidFill>
                <a:latin typeface="Meiryo" pitchFamily="34" charset="0"/>
                <a:ea typeface="Meiryo" pitchFamily="34" charset="-122"/>
                <a:cs typeface="Meiryo" pitchFamily="34" charset="-120"/>
              </a:rPr>
              <a:t>学生団体・ソーシャル領域の学生と日常的に接しています。「ソーシャル」が細分化した今だからこそ、数百名ではなく価値観ベースで十数名を選んで送客できます。</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06｜OVERVIEW</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28卒で検証し、その結果で29卒・30卒の設計を決める</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いま動ける「1階」と、来年度以降の「2階」でご提案します。</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7</a:t>
            </a:r>
            <a:endParaRPr lang="en-US" sz="750" dirty="0"/>
          </a:p>
        </p:txBody>
      </p:sp>
      <p:sp>
        <p:nvSpPr>
          <p:cNvPr id="8" name="Shape 5"/>
          <p:cNvSpPr/>
          <p:nvPr/>
        </p:nvSpPr>
        <p:spPr>
          <a:xfrm>
            <a:off x="548640" y="1417320"/>
            <a:ext cx="3931920" cy="2240280"/>
          </a:xfrm>
          <a:prstGeom prst="rect">
            <a:avLst/>
          </a:prstGeom>
          <a:solidFill>
            <a:srgbClr val="FFFFFF"/>
          </a:solidFill>
          <a:ln w="12700">
            <a:solidFill>
              <a:srgbClr val="FFFFFF"/>
            </a:solidFill>
            <a:prstDash val="solid"/>
          </a:ln>
        </p:spPr>
      </p:sp>
      <p:sp>
        <p:nvSpPr>
          <p:cNvPr id="9" name="Shape 6"/>
          <p:cNvSpPr/>
          <p:nvPr/>
        </p:nvSpPr>
        <p:spPr>
          <a:xfrm>
            <a:off x="548640" y="1417320"/>
            <a:ext cx="3931920" cy="41148"/>
          </a:xfrm>
          <a:prstGeom prst="rect">
            <a:avLst/>
          </a:prstGeom>
          <a:solidFill>
            <a:srgbClr val="FF7611"/>
          </a:solidFill>
          <a:ln w="12700">
            <a:solidFill>
              <a:srgbClr val="FF7611"/>
            </a:solidFill>
            <a:prstDash val="solid"/>
          </a:ln>
        </p:spPr>
      </p:sp>
      <p:sp>
        <p:nvSpPr>
          <p:cNvPr id="10" name="Text 7"/>
          <p:cNvSpPr txBox="1"/>
          <p:nvPr/>
        </p:nvSpPr>
        <p:spPr>
          <a:xfrm>
            <a:off x="777240" y="1572768"/>
            <a:ext cx="3566160" cy="182880"/>
          </a:xfrm>
          <a:prstGeom prst="rect">
            <a:avLst/>
          </a:prstGeom>
          <a:noFill/>
          <a:ln/>
        </p:spPr>
        <p:txBody>
          <a:bodyPr wrap="square" lIns="0" tIns="0" rIns="0" bIns="0" rtlCol="0" anchor="t"/>
          <a:lstStyle/>
          <a:p>
            <a:pPr algn="l" indent="0" marL="0">
              <a:buNone/>
            </a:pPr>
            <a:r>
              <a:rPr lang="en-US" sz="750" b="1" spc="100" kern="0" dirty="0">
                <a:solidFill>
                  <a:srgbClr val="FF7611"/>
                </a:solidFill>
                <a:latin typeface="Meiryo" pitchFamily="34" charset="0"/>
                <a:ea typeface="Meiryo" pitchFamily="34" charset="-122"/>
                <a:cs typeface="Meiryo" pitchFamily="34" charset="-120"/>
              </a:rPr>
              <a:t>STEP 1｜2026年10月〜12月</a:t>
            </a:r>
            <a:endParaRPr lang="en-US" sz="750" dirty="0"/>
          </a:p>
        </p:txBody>
      </p:sp>
      <p:sp>
        <p:nvSpPr>
          <p:cNvPr id="11" name="Text 8"/>
          <p:cNvSpPr txBox="1"/>
          <p:nvPr/>
        </p:nvSpPr>
        <p:spPr>
          <a:xfrm>
            <a:off x="777240" y="1783080"/>
            <a:ext cx="3566160" cy="320040"/>
          </a:xfrm>
          <a:prstGeom prst="rect">
            <a:avLst/>
          </a:prstGeom>
          <a:noFill/>
          <a:ln/>
        </p:spPr>
        <p:txBody>
          <a:bodyPr wrap="square" lIns="0" tIns="0" rIns="0" bIns="0" rtlCol="0" anchor="t"/>
          <a:lstStyle/>
          <a:p>
            <a:pPr algn="l" indent="0" marL="0">
              <a:buNone/>
            </a:pPr>
            <a:r>
              <a:rPr lang="en-US" sz="1200" b="1" dirty="0">
                <a:solidFill>
                  <a:srgbClr val="222222"/>
                </a:solidFill>
                <a:latin typeface="Meiryo" pitchFamily="34" charset="0"/>
                <a:ea typeface="Meiryo" pitchFamily="34" charset="-122"/>
                <a:cs typeface="Meiryo" pitchFamily="34" charset="-120"/>
              </a:rPr>
              <a:t>28卒 検証フェーズ「自由研究の3ヶ月」</a:t>
            </a:r>
            <a:endParaRPr lang="en-US" sz="1200" dirty="0"/>
          </a:p>
        </p:txBody>
      </p:sp>
      <p:sp>
        <p:nvSpPr>
          <p:cNvPr id="12" name="Text 9"/>
          <p:cNvSpPr txBox="1"/>
          <p:nvPr/>
        </p:nvSpPr>
        <p:spPr>
          <a:xfrm>
            <a:off x="777240" y="2194560"/>
            <a:ext cx="3520440" cy="1417320"/>
          </a:xfrm>
          <a:prstGeom prst="rect">
            <a:avLst/>
          </a:prstGeom>
          <a:noFill/>
          <a:ln/>
        </p:spPr>
        <p:txBody>
          <a:bodyPr wrap="square" lIns="0" tIns="0" rIns="0" bIns="0" rtlCol="0" anchor="t"/>
          <a:lstStyle/>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既存コンテンツをそのまま2回開催（新規制作なし）</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各回10名程度、Social Act Careerが合いそうな学生を着席</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参加後インタビュー・アンケートで「刺さった言葉／属性」を検証</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合う学生はそのまま本選考へ接続</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年内に検証レポートと29卒向け企画案をご提出</a:t>
            </a:r>
            <a:endParaRPr lang="en-US" sz="850" dirty="0"/>
          </a:p>
        </p:txBody>
      </p:sp>
      <p:sp>
        <p:nvSpPr>
          <p:cNvPr id="13" name="Shape 10"/>
          <p:cNvSpPr/>
          <p:nvPr/>
        </p:nvSpPr>
        <p:spPr>
          <a:xfrm>
            <a:off x="4663440" y="1417320"/>
            <a:ext cx="3931920" cy="2240280"/>
          </a:xfrm>
          <a:prstGeom prst="rect">
            <a:avLst/>
          </a:prstGeom>
          <a:solidFill>
            <a:srgbClr val="FFFFFF"/>
          </a:solidFill>
          <a:ln w="12700">
            <a:solidFill>
              <a:srgbClr val="FFFFFF"/>
            </a:solidFill>
            <a:prstDash val="solid"/>
          </a:ln>
        </p:spPr>
      </p:sp>
      <p:sp>
        <p:nvSpPr>
          <p:cNvPr id="14" name="Shape 11"/>
          <p:cNvSpPr/>
          <p:nvPr/>
        </p:nvSpPr>
        <p:spPr>
          <a:xfrm>
            <a:off x="4663440" y="1417320"/>
            <a:ext cx="3931920" cy="41148"/>
          </a:xfrm>
          <a:prstGeom prst="rect">
            <a:avLst/>
          </a:prstGeom>
          <a:solidFill>
            <a:srgbClr val="DDDCD4"/>
          </a:solidFill>
          <a:ln w="12700">
            <a:solidFill>
              <a:srgbClr val="DDDCD4"/>
            </a:solidFill>
            <a:prstDash val="solid"/>
          </a:ln>
        </p:spPr>
      </p:sp>
      <p:sp>
        <p:nvSpPr>
          <p:cNvPr id="15" name="Text 12"/>
          <p:cNvSpPr txBox="1"/>
          <p:nvPr/>
        </p:nvSpPr>
        <p:spPr>
          <a:xfrm>
            <a:off x="4892040" y="1572768"/>
            <a:ext cx="3566160" cy="182880"/>
          </a:xfrm>
          <a:prstGeom prst="rect">
            <a:avLst/>
          </a:prstGeom>
          <a:noFill/>
          <a:ln/>
        </p:spPr>
        <p:txBody>
          <a:bodyPr wrap="square" lIns="0" tIns="0" rIns="0" bIns="0" rtlCol="0" anchor="t"/>
          <a:lstStyle/>
          <a:p>
            <a:pPr algn="l" indent="0" marL="0">
              <a:buNone/>
            </a:pPr>
            <a:r>
              <a:rPr lang="en-US" sz="750" b="1" spc="100" kern="0" dirty="0">
                <a:solidFill>
                  <a:srgbClr val="FF7611"/>
                </a:solidFill>
                <a:latin typeface="Meiryo" pitchFamily="34" charset="0"/>
                <a:ea typeface="Meiryo" pitchFamily="34" charset="-122"/>
                <a:cs typeface="Meiryo" pitchFamily="34" charset="-120"/>
              </a:rPr>
              <a:t>STEP 2｜2027年〜（検証結果をもとに別途ご提案）</a:t>
            </a:r>
            <a:endParaRPr lang="en-US" sz="750" dirty="0"/>
          </a:p>
        </p:txBody>
      </p:sp>
      <p:sp>
        <p:nvSpPr>
          <p:cNvPr id="16" name="Text 13"/>
          <p:cNvSpPr txBox="1"/>
          <p:nvPr/>
        </p:nvSpPr>
        <p:spPr>
          <a:xfrm>
            <a:off x="4892040" y="1783080"/>
            <a:ext cx="3566160" cy="320040"/>
          </a:xfrm>
          <a:prstGeom prst="rect">
            <a:avLst/>
          </a:prstGeom>
          <a:noFill/>
          <a:ln/>
        </p:spPr>
        <p:txBody>
          <a:bodyPr wrap="square" lIns="0" tIns="0" rIns="0" bIns="0" rtlCol="0" anchor="t"/>
          <a:lstStyle/>
          <a:p>
            <a:pPr algn="l" indent="0" marL="0">
              <a:buNone/>
            </a:pPr>
            <a:r>
              <a:rPr lang="en-US" sz="1200" b="1" dirty="0">
                <a:solidFill>
                  <a:srgbClr val="222222"/>
                </a:solidFill>
                <a:latin typeface="Meiryo" pitchFamily="34" charset="0"/>
                <a:ea typeface="Meiryo" pitchFamily="34" charset="-122"/>
                <a:cs typeface="Meiryo" pitchFamily="34" charset="-120"/>
              </a:rPr>
              <a:t>29卒・30卒 早期母集団形成</a:t>
            </a:r>
            <a:endParaRPr lang="en-US" sz="1200" dirty="0"/>
          </a:p>
        </p:txBody>
      </p:sp>
      <p:sp>
        <p:nvSpPr>
          <p:cNvPr id="17" name="Text 14"/>
          <p:cNvSpPr txBox="1"/>
          <p:nvPr/>
        </p:nvSpPr>
        <p:spPr>
          <a:xfrm>
            <a:off x="4892040" y="2194560"/>
            <a:ext cx="3520440" cy="1417320"/>
          </a:xfrm>
          <a:prstGeom prst="rect">
            <a:avLst/>
          </a:prstGeom>
          <a:noFill/>
          <a:ln/>
        </p:spPr>
        <p:txBody>
          <a:bodyPr wrap="square" lIns="0" tIns="0" rIns="0" bIns="0" rtlCol="0" anchor="t"/>
          <a:lstStyle/>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1・2年生向けの選抜型プログラムと報告会で、次の母集団を作る</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「暮らし」「まち」「人生に伴走」から入る企画タイトルで業界イメージを崩す</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社員・OBOGの声を含む、ビジョンと現場の一貫性が伝わる発信</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「ピーク時に次年度を仕込む」負担を通年の接点に分散</a:t>
            </a:r>
            <a:endParaRPr lang="en-US" sz="850" dirty="0"/>
          </a:p>
        </p:txBody>
      </p:sp>
      <p:sp>
        <p:nvSpPr>
          <p:cNvPr id="18" name="Shape 15"/>
          <p:cNvSpPr/>
          <p:nvPr/>
        </p:nvSpPr>
        <p:spPr>
          <a:xfrm>
            <a:off x="548640" y="3886200"/>
            <a:ext cx="8046720" cy="548640"/>
          </a:xfrm>
          <a:prstGeom prst="rect">
            <a:avLst/>
          </a:prstGeom>
          <a:solidFill>
            <a:srgbClr val="FFFFFF"/>
          </a:solidFill>
          <a:ln w="15875">
            <a:solidFill>
              <a:srgbClr val="FF7611"/>
            </a:solidFill>
            <a:prstDash val="solid"/>
          </a:ln>
        </p:spPr>
      </p:sp>
      <p:sp>
        <p:nvSpPr>
          <p:cNvPr id="19" name="Text 16"/>
          <p:cNvSpPr txBox="1"/>
          <p:nvPr/>
        </p:nvSpPr>
        <p:spPr>
          <a:xfrm>
            <a:off x="731520" y="3886200"/>
            <a:ext cx="7680960" cy="548640"/>
          </a:xfrm>
          <a:prstGeom prst="rect">
            <a:avLst/>
          </a:prstGeom>
          <a:noFill/>
          <a:ln/>
        </p:spPr>
        <p:txBody>
          <a:bodyPr wrap="square" lIns="0" tIns="0" rIns="0" bIns="0" rtlCol="0" anchor="ctr"/>
          <a:lstStyle/>
          <a:p>
            <a:pPr algn="ctr" indent="0" marL="0">
              <a:buNone/>
            </a:pPr>
            <a:r>
              <a:rPr lang="en-US" sz="1150" b="1" dirty="0">
                <a:solidFill>
                  <a:srgbClr val="B65124"/>
                </a:solidFill>
                <a:latin typeface="Meiryo" pitchFamily="34" charset="0"/>
                <a:ea typeface="Meiryo" pitchFamily="34" charset="-122"/>
                <a:cs typeface="Meiryo" pitchFamily="34" charset="-120"/>
              </a:rPr>
              <a:t>「リノベルの人事を一人増やす」感覚でご一緒します。貴社側の追加工数は、既存コンテンツの開催と選考のみ。</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07｜STEP 1 PROCESS</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5つの工程。3つをSocial Act Careerが担います</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既存コンテンツを活かし、学生側の窓口・ヒアリング・企画の下書きをこちらで持ちます。</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8</a:t>
            </a:r>
            <a:endParaRPr lang="en-US" sz="750" dirty="0"/>
          </a:p>
        </p:txBody>
      </p:sp>
      <p:sp>
        <p:nvSpPr>
          <p:cNvPr id="8" name="Shape 5"/>
          <p:cNvSpPr/>
          <p:nvPr/>
        </p:nvSpPr>
        <p:spPr>
          <a:xfrm>
            <a:off x="548640" y="1417320"/>
            <a:ext cx="1536192" cy="2148840"/>
          </a:xfrm>
          <a:prstGeom prst="rect">
            <a:avLst/>
          </a:prstGeom>
          <a:solidFill>
            <a:srgbClr val="FFFFFF"/>
          </a:solidFill>
          <a:ln w="12700">
            <a:solidFill>
              <a:srgbClr val="FFFFFF"/>
            </a:solidFill>
            <a:prstDash val="solid"/>
          </a:ln>
        </p:spPr>
      </p:sp>
      <p:sp>
        <p:nvSpPr>
          <p:cNvPr id="9" name="Shape 6"/>
          <p:cNvSpPr/>
          <p:nvPr/>
        </p:nvSpPr>
        <p:spPr>
          <a:xfrm>
            <a:off x="548640" y="1417320"/>
            <a:ext cx="1536192" cy="41148"/>
          </a:xfrm>
          <a:prstGeom prst="rect">
            <a:avLst/>
          </a:prstGeom>
          <a:solidFill>
            <a:srgbClr val="FF7611"/>
          </a:solidFill>
          <a:ln w="12700">
            <a:solidFill>
              <a:srgbClr val="FF7611"/>
            </a:solidFill>
            <a:prstDash val="solid"/>
          </a:ln>
        </p:spPr>
      </p:sp>
      <p:sp>
        <p:nvSpPr>
          <p:cNvPr id="10" name="Text 7"/>
          <p:cNvSpPr txBox="1"/>
          <p:nvPr/>
        </p:nvSpPr>
        <p:spPr>
          <a:xfrm>
            <a:off x="658368" y="1554480"/>
            <a:ext cx="1316736" cy="182880"/>
          </a:xfrm>
          <a:prstGeom prst="rect">
            <a:avLst/>
          </a:prstGeom>
          <a:noFill/>
          <a:ln/>
        </p:spPr>
        <p:txBody>
          <a:bodyPr wrap="square" lIns="0" tIns="0" rIns="0" bIns="0" rtlCol="0" anchor="t"/>
          <a:lstStyle/>
          <a:p>
            <a:pPr algn="l" indent="0" marL="0">
              <a:buNone/>
            </a:pPr>
            <a:r>
              <a:rPr lang="en-US" sz="650" b="1" spc="50" kern="0" dirty="0">
                <a:solidFill>
                  <a:srgbClr val="FF7611"/>
                </a:solidFill>
                <a:latin typeface="Meiryo" pitchFamily="34" charset="0"/>
                <a:ea typeface="Meiryo" pitchFamily="34" charset="-122"/>
                <a:cs typeface="Meiryo" pitchFamily="34" charset="-120"/>
              </a:rPr>
              <a:t>SOCIAL ACT CAREER</a:t>
            </a:r>
            <a:endParaRPr lang="en-US" sz="650" dirty="0"/>
          </a:p>
        </p:txBody>
      </p:sp>
      <p:sp>
        <p:nvSpPr>
          <p:cNvPr id="11" name="Text 8"/>
          <p:cNvSpPr txBox="1"/>
          <p:nvPr/>
        </p:nvSpPr>
        <p:spPr>
          <a:xfrm>
            <a:off x="658368" y="1764792"/>
            <a:ext cx="1316736" cy="457200"/>
          </a:xfrm>
          <a:prstGeom prst="rect">
            <a:avLst/>
          </a:prstGeom>
          <a:noFill/>
          <a:ln/>
        </p:spPr>
        <p:txBody>
          <a:bodyPr wrap="square" lIns="0" tIns="0" rIns="0" bIns="0" rtlCol="0" anchor="t"/>
          <a:lstStyle/>
          <a:p>
            <a:pPr algn="l" indent="0" marL="0">
              <a:lnSpc>
                <a:spcPct val="120000"/>
              </a:lnSpc>
              <a:buNone/>
            </a:pPr>
            <a:r>
              <a:rPr lang="en-US" sz="950" b="1" dirty="0">
                <a:solidFill>
                  <a:srgbClr val="222222"/>
                </a:solidFill>
                <a:latin typeface="Meiryo" pitchFamily="34" charset="0"/>
                <a:ea typeface="Meiryo" pitchFamily="34" charset="-122"/>
                <a:cs typeface="Meiryo" pitchFamily="34" charset="-120"/>
              </a:rPr>
              <a:t>1. 学生の選定・声かけ</a:t>
            </a:r>
            <a:endParaRPr lang="en-US" sz="950" dirty="0"/>
          </a:p>
        </p:txBody>
      </p:sp>
      <p:sp>
        <p:nvSpPr>
          <p:cNvPr id="12" name="Text 9"/>
          <p:cNvSpPr txBox="1"/>
          <p:nvPr/>
        </p:nvSpPr>
        <p:spPr>
          <a:xfrm>
            <a:off x="658368" y="2267712"/>
            <a:ext cx="1316736" cy="1280160"/>
          </a:xfrm>
          <a:prstGeom prst="rect">
            <a:avLst/>
          </a:prstGeom>
          <a:noFill/>
          <a:ln/>
        </p:spPr>
        <p:txBody>
          <a:bodyPr wrap="square" lIns="0" tIns="0" rIns="0" bIns="0" rtlCol="0" anchor="t"/>
          <a:lstStyle/>
          <a:p>
            <a:pPr algn="l" indent="0" marL="0">
              <a:lnSpc>
                <a:spcPct val="135000"/>
              </a:lnSpc>
              <a:buNone/>
            </a:pPr>
            <a:r>
              <a:rPr lang="en-US" sz="750" dirty="0">
                <a:solidFill>
                  <a:srgbClr val="666666"/>
                </a:solidFill>
                <a:latin typeface="Meiryo" pitchFamily="34" charset="0"/>
                <a:ea typeface="Meiryo" pitchFamily="34" charset="-122"/>
                <a:cs typeface="Meiryo" pitchFamily="34" charset="-120"/>
              </a:rPr>
              <a:t>「リノベル人」3条件に沿って、各回10名程度を個別に声かけ。案内文はこちらでドラフトし、貴社に確認いただきます。</a:t>
            </a:r>
            <a:endParaRPr lang="en-US" sz="750" dirty="0"/>
          </a:p>
        </p:txBody>
      </p:sp>
      <p:sp>
        <p:nvSpPr>
          <p:cNvPr id="13" name="Shape 10"/>
          <p:cNvSpPr/>
          <p:nvPr/>
        </p:nvSpPr>
        <p:spPr>
          <a:xfrm>
            <a:off x="2176272" y="1417320"/>
            <a:ext cx="1536192" cy="2148840"/>
          </a:xfrm>
          <a:prstGeom prst="rect">
            <a:avLst/>
          </a:prstGeom>
          <a:solidFill>
            <a:srgbClr val="FFFFFF"/>
          </a:solidFill>
          <a:ln w="12700">
            <a:solidFill>
              <a:srgbClr val="FFFFFF"/>
            </a:solidFill>
            <a:prstDash val="solid"/>
          </a:ln>
        </p:spPr>
      </p:sp>
      <p:sp>
        <p:nvSpPr>
          <p:cNvPr id="14" name="Shape 11"/>
          <p:cNvSpPr/>
          <p:nvPr/>
        </p:nvSpPr>
        <p:spPr>
          <a:xfrm>
            <a:off x="2176272" y="1417320"/>
            <a:ext cx="1536192" cy="41148"/>
          </a:xfrm>
          <a:prstGeom prst="rect">
            <a:avLst/>
          </a:prstGeom>
          <a:solidFill>
            <a:srgbClr val="DDDCD4"/>
          </a:solidFill>
          <a:ln w="12700">
            <a:solidFill>
              <a:srgbClr val="DDDCD4"/>
            </a:solidFill>
            <a:prstDash val="solid"/>
          </a:ln>
        </p:spPr>
      </p:sp>
      <p:sp>
        <p:nvSpPr>
          <p:cNvPr id="15" name="Text 12"/>
          <p:cNvSpPr txBox="1"/>
          <p:nvPr/>
        </p:nvSpPr>
        <p:spPr>
          <a:xfrm>
            <a:off x="2286000" y="1554480"/>
            <a:ext cx="1316736" cy="182880"/>
          </a:xfrm>
          <a:prstGeom prst="rect">
            <a:avLst/>
          </a:prstGeom>
          <a:noFill/>
          <a:ln/>
        </p:spPr>
        <p:txBody>
          <a:bodyPr wrap="square" lIns="0" tIns="0" rIns="0" bIns="0" rtlCol="0" anchor="t"/>
          <a:lstStyle/>
          <a:p>
            <a:pPr algn="l" indent="0" marL="0">
              <a:buNone/>
            </a:pPr>
            <a:r>
              <a:rPr lang="en-US" sz="650" b="1" spc="50" kern="0" dirty="0">
                <a:solidFill>
                  <a:srgbClr val="8C8C8C"/>
                </a:solidFill>
                <a:latin typeface="Meiryo" pitchFamily="34" charset="0"/>
                <a:ea typeface="Meiryo" pitchFamily="34" charset="-122"/>
                <a:cs typeface="Meiryo" pitchFamily="34" charset="-120"/>
              </a:rPr>
              <a:t>リノベル様</a:t>
            </a:r>
            <a:endParaRPr lang="en-US" sz="650" dirty="0"/>
          </a:p>
        </p:txBody>
      </p:sp>
      <p:sp>
        <p:nvSpPr>
          <p:cNvPr id="16" name="Text 13"/>
          <p:cNvSpPr txBox="1"/>
          <p:nvPr/>
        </p:nvSpPr>
        <p:spPr>
          <a:xfrm>
            <a:off x="2286000" y="1764792"/>
            <a:ext cx="1316736" cy="457200"/>
          </a:xfrm>
          <a:prstGeom prst="rect">
            <a:avLst/>
          </a:prstGeom>
          <a:noFill/>
          <a:ln/>
        </p:spPr>
        <p:txBody>
          <a:bodyPr wrap="square" lIns="0" tIns="0" rIns="0" bIns="0" rtlCol="0" anchor="t"/>
          <a:lstStyle/>
          <a:p>
            <a:pPr algn="l" indent="0" marL="0">
              <a:lnSpc>
                <a:spcPct val="120000"/>
              </a:lnSpc>
              <a:buNone/>
            </a:pPr>
            <a:r>
              <a:rPr lang="en-US" sz="950" b="1" dirty="0">
                <a:solidFill>
                  <a:srgbClr val="222222"/>
                </a:solidFill>
                <a:latin typeface="Meiryo" pitchFamily="34" charset="0"/>
                <a:ea typeface="Meiryo" pitchFamily="34" charset="-122"/>
                <a:cs typeface="Meiryo" pitchFamily="34" charset="-120"/>
              </a:rPr>
              <a:t>2. 既存コンテンツの開催</a:t>
            </a:r>
            <a:endParaRPr lang="en-US" sz="950" dirty="0"/>
          </a:p>
        </p:txBody>
      </p:sp>
      <p:sp>
        <p:nvSpPr>
          <p:cNvPr id="17" name="Text 14"/>
          <p:cNvSpPr txBox="1"/>
          <p:nvPr/>
        </p:nvSpPr>
        <p:spPr>
          <a:xfrm>
            <a:off x="2286000" y="2267712"/>
            <a:ext cx="1316736" cy="1280160"/>
          </a:xfrm>
          <a:prstGeom prst="rect">
            <a:avLst/>
          </a:prstGeom>
          <a:noFill/>
          <a:ln/>
        </p:spPr>
        <p:txBody>
          <a:bodyPr wrap="square" lIns="0" tIns="0" rIns="0" bIns="0" rtlCol="0" anchor="t"/>
          <a:lstStyle/>
          <a:p>
            <a:pPr algn="l" indent="0" marL="0">
              <a:lnSpc>
                <a:spcPct val="135000"/>
              </a:lnSpc>
              <a:buNone/>
            </a:pPr>
            <a:r>
              <a:rPr lang="en-US" sz="750" dirty="0">
                <a:solidFill>
                  <a:srgbClr val="666666"/>
                </a:solidFill>
                <a:latin typeface="Meiryo" pitchFamily="34" charset="0"/>
                <a:ea typeface="Meiryo" pitchFamily="34" charset="-122"/>
                <a:cs typeface="Meiryo" pitchFamily="34" charset="-120"/>
              </a:rPr>
              <a:t>10/1の都市創造ワーク（半日）への枠追加と、半日ワークの再演。1dayは工数が大きいため、枠に余裕があれば数名参加。</a:t>
            </a:r>
            <a:endParaRPr lang="en-US" sz="750" dirty="0"/>
          </a:p>
        </p:txBody>
      </p:sp>
      <p:sp>
        <p:nvSpPr>
          <p:cNvPr id="18" name="Shape 15"/>
          <p:cNvSpPr/>
          <p:nvPr/>
        </p:nvSpPr>
        <p:spPr>
          <a:xfrm>
            <a:off x="3803904" y="1417320"/>
            <a:ext cx="1536192" cy="2148840"/>
          </a:xfrm>
          <a:prstGeom prst="rect">
            <a:avLst/>
          </a:prstGeom>
          <a:solidFill>
            <a:srgbClr val="FFFFFF"/>
          </a:solidFill>
          <a:ln w="12700">
            <a:solidFill>
              <a:srgbClr val="FFFFFF"/>
            </a:solidFill>
            <a:prstDash val="solid"/>
          </a:ln>
        </p:spPr>
      </p:sp>
      <p:sp>
        <p:nvSpPr>
          <p:cNvPr id="19" name="Shape 16"/>
          <p:cNvSpPr/>
          <p:nvPr/>
        </p:nvSpPr>
        <p:spPr>
          <a:xfrm>
            <a:off x="3803904" y="1417320"/>
            <a:ext cx="1536192" cy="41148"/>
          </a:xfrm>
          <a:prstGeom prst="rect">
            <a:avLst/>
          </a:prstGeom>
          <a:solidFill>
            <a:srgbClr val="FF7611"/>
          </a:solidFill>
          <a:ln w="12700">
            <a:solidFill>
              <a:srgbClr val="FF7611"/>
            </a:solidFill>
            <a:prstDash val="solid"/>
          </a:ln>
        </p:spPr>
      </p:sp>
      <p:sp>
        <p:nvSpPr>
          <p:cNvPr id="20" name="Text 17"/>
          <p:cNvSpPr txBox="1"/>
          <p:nvPr/>
        </p:nvSpPr>
        <p:spPr>
          <a:xfrm>
            <a:off x="3913632" y="1554480"/>
            <a:ext cx="1316736" cy="182880"/>
          </a:xfrm>
          <a:prstGeom prst="rect">
            <a:avLst/>
          </a:prstGeom>
          <a:noFill/>
          <a:ln/>
        </p:spPr>
        <p:txBody>
          <a:bodyPr wrap="square" lIns="0" tIns="0" rIns="0" bIns="0" rtlCol="0" anchor="t"/>
          <a:lstStyle/>
          <a:p>
            <a:pPr algn="l" indent="0" marL="0">
              <a:buNone/>
            </a:pPr>
            <a:r>
              <a:rPr lang="en-US" sz="650" b="1" spc="50" kern="0" dirty="0">
                <a:solidFill>
                  <a:srgbClr val="FF7611"/>
                </a:solidFill>
                <a:latin typeface="Meiryo" pitchFamily="34" charset="0"/>
                <a:ea typeface="Meiryo" pitchFamily="34" charset="-122"/>
                <a:cs typeface="Meiryo" pitchFamily="34" charset="-120"/>
              </a:rPr>
              <a:t>SOCIAL ACT CAREER</a:t>
            </a:r>
            <a:endParaRPr lang="en-US" sz="650" dirty="0"/>
          </a:p>
        </p:txBody>
      </p:sp>
      <p:sp>
        <p:nvSpPr>
          <p:cNvPr id="21" name="Text 18"/>
          <p:cNvSpPr txBox="1"/>
          <p:nvPr/>
        </p:nvSpPr>
        <p:spPr>
          <a:xfrm>
            <a:off x="3913632" y="1764792"/>
            <a:ext cx="1316736" cy="457200"/>
          </a:xfrm>
          <a:prstGeom prst="rect">
            <a:avLst/>
          </a:prstGeom>
          <a:noFill/>
          <a:ln/>
        </p:spPr>
        <p:txBody>
          <a:bodyPr wrap="square" lIns="0" tIns="0" rIns="0" bIns="0" rtlCol="0" anchor="t"/>
          <a:lstStyle/>
          <a:p>
            <a:pPr algn="l" indent="0" marL="0">
              <a:lnSpc>
                <a:spcPct val="120000"/>
              </a:lnSpc>
              <a:buNone/>
            </a:pPr>
            <a:r>
              <a:rPr lang="en-US" sz="950" b="1" dirty="0">
                <a:solidFill>
                  <a:srgbClr val="222222"/>
                </a:solidFill>
                <a:latin typeface="Meiryo" pitchFamily="34" charset="0"/>
                <a:ea typeface="Meiryo" pitchFamily="34" charset="-122"/>
                <a:cs typeface="Meiryo" pitchFamily="34" charset="-120"/>
              </a:rPr>
              <a:t>3. 参加後インタビュー</a:t>
            </a:r>
            <a:endParaRPr lang="en-US" sz="950" dirty="0"/>
          </a:p>
        </p:txBody>
      </p:sp>
      <p:sp>
        <p:nvSpPr>
          <p:cNvPr id="22" name="Text 19"/>
          <p:cNvSpPr txBox="1"/>
          <p:nvPr/>
        </p:nvSpPr>
        <p:spPr>
          <a:xfrm>
            <a:off x="3913632" y="2267712"/>
            <a:ext cx="1316736" cy="1280160"/>
          </a:xfrm>
          <a:prstGeom prst="rect">
            <a:avLst/>
          </a:prstGeom>
          <a:noFill/>
          <a:ln/>
        </p:spPr>
        <p:txBody>
          <a:bodyPr wrap="square" lIns="0" tIns="0" rIns="0" bIns="0" rtlCol="0" anchor="t"/>
          <a:lstStyle/>
          <a:p>
            <a:pPr algn="l" indent="0" marL="0">
              <a:lnSpc>
                <a:spcPct val="135000"/>
              </a:lnSpc>
              <a:buNone/>
            </a:pPr>
            <a:r>
              <a:rPr lang="en-US" sz="750" dirty="0">
                <a:solidFill>
                  <a:srgbClr val="666666"/>
                </a:solidFill>
                <a:latin typeface="Meiryo" pitchFamily="34" charset="0"/>
                <a:ea typeface="Meiryo" pitchFamily="34" charset="-122"/>
                <a:cs typeface="Meiryo" pitchFamily="34" charset="-120"/>
              </a:rPr>
              <a:t>どの言葉で来たか、toC／toBのどちらに反応したか、業界イメージがどこで変わったかを個別に聞きます。</a:t>
            </a:r>
            <a:endParaRPr lang="en-US" sz="750" dirty="0"/>
          </a:p>
        </p:txBody>
      </p:sp>
      <p:sp>
        <p:nvSpPr>
          <p:cNvPr id="23" name="Shape 20"/>
          <p:cNvSpPr/>
          <p:nvPr/>
        </p:nvSpPr>
        <p:spPr>
          <a:xfrm>
            <a:off x="5431536" y="1417320"/>
            <a:ext cx="1536192" cy="2148840"/>
          </a:xfrm>
          <a:prstGeom prst="rect">
            <a:avLst/>
          </a:prstGeom>
          <a:solidFill>
            <a:srgbClr val="FFFFFF"/>
          </a:solidFill>
          <a:ln w="12700">
            <a:solidFill>
              <a:srgbClr val="FFFFFF"/>
            </a:solidFill>
            <a:prstDash val="solid"/>
          </a:ln>
        </p:spPr>
      </p:sp>
      <p:sp>
        <p:nvSpPr>
          <p:cNvPr id="24" name="Shape 21"/>
          <p:cNvSpPr/>
          <p:nvPr/>
        </p:nvSpPr>
        <p:spPr>
          <a:xfrm>
            <a:off x="5431536" y="1417320"/>
            <a:ext cx="1536192" cy="41148"/>
          </a:xfrm>
          <a:prstGeom prst="rect">
            <a:avLst/>
          </a:prstGeom>
          <a:solidFill>
            <a:srgbClr val="FF7611"/>
          </a:solidFill>
          <a:ln w="12700">
            <a:solidFill>
              <a:srgbClr val="FF7611"/>
            </a:solidFill>
            <a:prstDash val="solid"/>
          </a:ln>
        </p:spPr>
      </p:sp>
      <p:sp>
        <p:nvSpPr>
          <p:cNvPr id="25" name="Text 22"/>
          <p:cNvSpPr txBox="1"/>
          <p:nvPr/>
        </p:nvSpPr>
        <p:spPr>
          <a:xfrm>
            <a:off x="5541264" y="1554480"/>
            <a:ext cx="1316736" cy="182880"/>
          </a:xfrm>
          <a:prstGeom prst="rect">
            <a:avLst/>
          </a:prstGeom>
          <a:noFill/>
          <a:ln/>
        </p:spPr>
        <p:txBody>
          <a:bodyPr wrap="square" lIns="0" tIns="0" rIns="0" bIns="0" rtlCol="0" anchor="t"/>
          <a:lstStyle/>
          <a:p>
            <a:pPr algn="l" indent="0" marL="0">
              <a:buNone/>
            </a:pPr>
            <a:r>
              <a:rPr lang="en-US" sz="650" b="1" spc="50" kern="0" dirty="0">
                <a:solidFill>
                  <a:srgbClr val="FF7611"/>
                </a:solidFill>
                <a:latin typeface="Meiryo" pitchFamily="34" charset="0"/>
                <a:ea typeface="Meiryo" pitchFamily="34" charset="-122"/>
                <a:cs typeface="Meiryo" pitchFamily="34" charset="-120"/>
              </a:rPr>
              <a:t>SOCIAL ACT CAREER</a:t>
            </a:r>
            <a:endParaRPr lang="en-US" sz="650" dirty="0"/>
          </a:p>
        </p:txBody>
      </p:sp>
      <p:sp>
        <p:nvSpPr>
          <p:cNvPr id="26" name="Text 23"/>
          <p:cNvSpPr txBox="1"/>
          <p:nvPr/>
        </p:nvSpPr>
        <p:spPr>
          <a:xfrm>
            <a:off x="5541264" y="1764792"/>
            <a:ext cx="1316736" cy="457200"/>
          </a:xfrm>
          <a:prstGeom prst="rect">
            <a:avLst/>
          </a:prstGeom>
          <a:noFill/>
          <a:ln/>
        </p:spPr>
        <p:txBody>
          <a:bodyPr wrap="square" lIns="0" tIns="0" rIns="0" bIns="0" rtlCol="0" anchor="t"/>
          <a:lstStyle/>
          <a:p>
            <a:pPr algn="l" indent="0" marL="0">
              <a:lnSpc>
                <a:spcPct val="120000"/>
              </a:lnSpc>
              <a:buNone/>
            </a:pPr>
            <a:r>
              <a:rPr lang="en-US" sz="950" b="1" dirty="0">
                <a:solidFill>
                  <a:srgbClr val="222222"/>
                </a:solidFill>
                <a:latin typeface="Meiryo" pitchFamily="34" charset="0"/>
                <a:ea typeface="Meiryo" pitchFamily="34" charset="-122"/>
                <a:cs typeface="Meiryo" pitchFamily="34" charset="-120"/>
              </a:rPr>
              <a:t>4. レポートと企画提案</a:t>
            </a:r>
            <a:endParaRPr lang="en-US" sz="950" dirty="0"/>
          </a:p>
        </p:txBody>
      </p:sp>
      <p:sp>
        <p:nvSpPr>
          <p:cNvPr id="27" name="Text 24"/>
          <p:cNvSpPr txBox="1"/>
          <p:nvPr/>
        </p:nvSpPr>
        <p:spPr>
          <a:xfrm>
            <a:off x="5541264" y="2267712"/>
            <a:ext cx="1316736" cy="1280160"/>
          </a:xfrm>
          <a:prstGeom prst="rect">
            <a:avLst/>
          </a:prstGeom>
          <a:noFill/>
          <a:ln/>
        </p:spPr>
        <p:txBody>
          <a:bodyPr wrap="square" lIns="0" tIns="0" rIns="0" bIns="0" rtlCol="0" anchor="t"/>
          <a:lstStyle/>
          <a:p>
            <a:pPr algn="l" indent="0" marL="0">
              <a:lnSpc>
                <a:spcPct val="135000"/>
              </a:lnSpc>
              <a:buNone/>
            </a:pPr>
            <a:r>
              <a:rPr lang="en-US" sz="750" dirty="0">
                <a:solidFill>
                  <a:srgbClr val="666666"/>
                </a:solidFill>
                <a:latin typeface="Meiryo" pitchFamily="34" charset="0"/>
                <a:ea typeface="Meiryo" pitchFamily="34" charset="-122"/>
                <a:cs typeface="Meiryo" pitchFamily="34" charset="-120"/>
              </a:rPr>
              <a:t>刺さったメッセージ、企画タイトル案、29卒・30卒の接点設計をご提出。既存コンテンツの「残す／変える」も整理。</a:t>
            </a:r>
            <a:endParaRPr lang="en-US" sz="750" dirty="0"/>
          </a:p>
        </p:txBody>
      </p:sp>
      <p:sp>
        <p:nvSpPr>
          <p:cNvPr id="28" name="Shape 25"/>
          <p:cNvSpPr/>
          <p:nvPr/>
        </p:nvSpPr>
        <p:spPr>
          <a:xfrm>
            <a:off x="7059168" y="1417320"/>
            <a:ext cx="1536192" cy="2148840"/>
          </a:xfrm>
          <a:prstGeom prst="rect">
            <a:avLst/>
          </a:prstGeom>
          <a:solidFill>
            <a:srgbClr val="FFFFFF"/>
          </a:solidFill>
          <a:ln w="12700">
            <a:solidFill>
              <a:srgbClr val="FFFFFF"/>
            </a:solidFill>
            <a:prstDash val="solid"/>
          </a:ln>
        </p:spPr>
      </p:sp>
      <p:sp>
        <p:nvSpPr>
          <p:cNvPr id="29" name="Shape 26"/>
          <p:cNvSpPr/>
          <p:nvPr/>
        </p:nvSpPr>
        <p:spPr>
          <a:xfrm>
            <a:off x="7059168" y="1417320"/>
            <a:ext cx="1536192" cy="41148"/>
          </a:xfrm>
          <a:prstGeom prst="rect">
            <a:avLst/>
          </a:prstGeom>
          <a:solidFill>
            <a:srgbClr val="DDDCD4"/>
          </a:solidFill>
          <a:ln w="12700">
            <a:solidFill>
              <a:srgbClr val="DDDCD4"/>
            </a:solidFill>
            <a:prstDash val="solid"/>
          </a:ln>
        </p:spPr>
      </p:sp>
      <p:sp>
        <p:nvSpPr>
          <p:cNvPr id="30" name="Text 27"/>
          <p:cNvSpPr txBox="1"/>
          <p:nvPr/>
        </p:nvSpPr>
        <p:spPr>
          <a:xfrm>
            <a:off x="7168896" y="1554480"/>
            <a:ext cx="1316736" cy="182880"/>
          </a:xfrm>
          <a:prstGeom prst="rect">
            <a:avLst/>
          </a:prstGeom>
          <a:noFill/>
          <a:ln/>
        </p:spPr>
        <p:txBody>
          <a:bodyPr wrap="square" lIns="0" tIns="0" rIns="0" bIns="0" rtlCol="0" anchor="t"/>
          <a:lstStyle/>
          <a:p>
            <a:pPr algn="l" indent="0" marL="0">
              <a:buNone/>
            </a:pPr>
            <a:r>
              <a:rPr lang="en-US" sz="650" b="1" spc="50" kern="0" dirty="0">
                <a:solidFill>
                  <a:srgbClr val="8C8C8C"/>
                </a:solidFill>
                <a:latin typeface="Meiryo" pitchFamily="34" charset="0"/>
                <a:ea typeface="Meiryo" pitchFamily="34" charset="-122"/>
                <a:cs typeface="Meiryo" pitchFamily="34" charset="-120"/>
              </a:rPr>
              <a:t>リノベル様</a:t>
            </a:r>
            <a:endParaRPr lang="en-US" sz="650" dirty="0"/>
          </a:p>
        </p:txBody>
      </p:sp>
      <p:sp>
        <p:nvSpPr>
          <p:cNvPr id="31" name="Text 28"/>
          <p:cNvSpPr txBox="1"/>
          <p:nvPr/>
        </p:nvSpPr>
        <p:spPr>
          <a:xfrm>
            <a:off x="7168896" y="1764792"/>
            <a:ext cx="1316736" cy="457200"/>
          </a:xfrm>
          <a:prstGeom prst="rect">
            <a:avLst/>
          </a:prstGeom>
          <a:noFill/>
          <a:ln/>
        </p:spPr>
        <p:txBody>
          <a:bodyPr wrap="square" lIns="0" tIns="0" rIns="0" bIns="0" rtlCol="0" anchor="t"/>
          <a:lstStyle/>
          <a:p>
            <a:pPr algn="l" indent="0" marL="0">
              <a:lnSpc>
                <a:spcPct val="120000"/>
              </a:lnSpc>
              <a:buNone/>
            </a:pPr>
            <a:r>
              <a:rPr lang="en-US" sz="950" b="1" dirty="0">
                <a:solidFill>
                  <a:srgbClr val="222222"/>
                </a:solidFill>
                <a:latin typeface="Meiryo" pitchFamily="34" charset="0"/>
                <a:ea typeface="Meiryo" pitchFamily="34" charset="-122"/>
                <a:cs typeface="Meiryo" pitchFamily="34" charset="-120"/>
              </a:rPr>
              <a:t>5. 本選考への接続</a:t>
            </a:r>
            <a:endParaRPr lang="en-US" sz="950" dirty="0"/>
          </a:p>
        </p:txBody>
      </p:sp>
      <p:sp>
        <p:nvSpPr>
          <p:cNvPr id="32" name="Text 29"/>
          <p:cNvSpPr txBox="1"/>
          <p:nvPr/>
        </p:nvSpPr>
        <p:spPr>
          <a:xfrm>
            <a:off x="7168896" y="2267712"/>
            <a:ext cx="1316736" cy="1280160"/>
          </a:xfrm>
          <a:prstGeom prst="rect">
            <a:avLst/>
          </a:prstGeom>
          <a:noFill/>
          <a:ln/>
        </p:spPr>
        <p:txBody>
          <a:bodyPr wrap="square" lIns="0" tIns="0" rIns="0" bIns="0" rtlCol="0" anchor="t"/>
          <a:lstStyle/>
          <a:p>
            <a:pPr algn="l" indent="0" marL="0">
              <a:lnSpc>
                <a:spcPct val="135000"/>
              </a:lnSpc>
              <a:buNone/>
            </a:pPr>
            <a:r>
              <a:rPr lang="en-US" sz="750" dirty="0">
                <a:solidFill>
                  <a:srgbClr val="666666"/>
                </a:solidFill>
                <a:latin typeface="Meiryo" pitchFamily="34" charset="0"/>
                <a:ea typeface="Meiryo" pitchFamily="34" charset="-122"/>
                <a:cs typeface="Meiryo" pitchFamily="34" charset="-120"/>
              </a:rPr>
              <a:t>合う学生は本選考へ。二次以降の人事メンターの伴走に乗せ、こちらも学生の迷いを拾ってフォローします。</a:t>
            </a:r>
            <a:endParaRPr lang="en-US" sz="750" dirty="0"/>
          </a:p>
        </p:txBody>
      </p:sp>
      <p:sp>
        <p:nvSpPr>
          <p:cNvPr id="33" name="Shape 30"/>
          <p:cNvSpPr/>
          <p:nvPr/>
        </p:nvSpPr>
        <p:spPr>
          <a:xfrm>
            <a:off x="548640" y="3749040"/>
            <a:ext cx="3931920" cy="1005840"/>
          </a:xfrm>
          <a:prstGeom prst="rect">
            <a:avLst/>
          </a:prstGeom>
          <a:solidFill>
            <a:srgbClr val="FDF1E6"/>
          </a:solidFill>
          <a:ln w="12700">
            <a:solidFill>
              <a:srgbClr val="FDF1E6"/>
            </a:solidFill>
            <a:prstDash val="solid"/>
          </a:ln>
        </p:spPr>
      </p:sp>
      <p:sp>
        <p:nvSpPr>
          <p:cNvPr id="34" name="Text 31"/>
          <p:cNvSpPr txBox="1"/>
          <p:nvPr/>
        </p:nvSpPr>
        <p:spPr>
          <a:xfrm>
            <a:off x="731520" y="3840480"/>
            <a:ext cx="3566160" cy="228600"/>
          </a:xfrm>
          <a:prstGeom prst="rect">
            <a:avLst/>
          </a:prstGeom>
          <a:noFill/>
          <a:ln/>
        </p:spPr>
        <p:txBody>
          <a:bodyPr wrap="square" lIns="0" tIns="0" rIns="0" bIns="0" rtlCol="0" anchor="t"/>
          <a:lstStyle/>
          <a:p>
            <a:pPr algn="l" indent="0" marL="0">
              <a:buNone/>
            </a:pPr>
            <a:r>
              <a:rPr lang="en-US" sz="900" b="1" dirty="0">
                <a:solidFill>
                  <a:srgbClr val="84300F"/>
                </a:solidFill>
                <a:latin typeface="Meiryo" pitchFamily="34" charset="0"/>
                <a:ea typeface="Meiryo" pitchFamily="34" charset="-122"/>
                <a:cs typeface="Meiryo" pitchFamily="34" charset="-120"/>
              </a:rPr>
              <a:t>なぜ「既存コンテンツをそのまま」なのか</a:t>
            </a:r>
            <a:endParaRPr lang="en-US" sz="900" dirty="0"/>
          </a:p>
        </p:txBody>
      </p:sp>
      <p:sp>
        <p:nvSpPr>
          <p:cNvPr id="35" name="Text 32"/>
          <p:cNvSpPr txBox="1"/>
          <p:nvPr/>
        </p:nvSpPr>
        <p:spPr>
          <a:xfrm>
            <a:off x="731520" y="4087368"/>
            <a:ext cx="3566160" cy="640080"/>
          </a:xfrm>
          <a:prstGeom prst="rect">
            <a:avLst/>
          </a:prstGeom>
          <a:noFill/>
          <a:ln/>
        </p:spPr>
        <p:txBody>
          <a:bodyPr wrap="square" lIns="0" tIns="0" rIns="0" bIns="0" rtlCol="0" anchor="t"/>
          <a:lstStyle/>
          <a:p>
            <a:pPr algn="l" indent="0" marL="0">
              <a:lnSpc>
                <a:spcPct val="135000"/>
              </a:lnSpc>
              <a:buNone/>
            </a:pPr>
            <a:r>
              <a:rPr lang="en-US" sz="750" dirty="0">
                <a:solidFill>
                  <a:srgbClr val="222222"/>
                </a:solidFill>
                <a:latin typeface="Meiryo" pitchFamily="34" charset="0"/>
                <a:ea typeface="Meiryo" pitchFamily="34" charset="-122"/>
                <a:cs typeface="Meiryo" pitchFamily="34" charset="-120"/>
              </a:rPr>
              <a:t>秋以降は選考も始まり、新卒担当2名でコンテンツを新規制作する余裕は大きくありません。半日のワークであれば同じ内容の再演で工数がほぼ増えず、学生側の違いだけを純粋に検証できます。</a:t>
            </a:r>
            <a:endParaRPr lang="en-US" sz="750" dirty="0"/>
          </a:p>
        </p:txBody>
      </p:sp>
      <p:sp>
        <p:nvSpPr>
          <p:cNvPr id="36" name="Shape 33"/>
          <p:cNvSpPr/>
          <p:nvPr/>
        </p:nvSpPr>
        <p:spPr>
          <a:xfrm>
            <a:off x="4663440" y="3749040"/>
            <a:ext cx="3931920" cy="1005840"/>
          </a:xfrm>
          <a:prstGeom prst="rect">
            <a:avLst/>
          </a:prstGeom>
          <a:solidFill>
            <a:srgbClr val="FDF1E6"/>
          </a:solidFill>
          <a:ln w="12700">
            <a:solidFill>
              <a:srgbClr val="FDF1E6"/>
            </a:solidFill>
            <a:prstDash val="solid"/>
          </a:ln>
        </p:spPr>
      </p:sp>
      <p:sp>
        <p:nvSpPr>
          <p:cNvPr id="37" name="Text 34"/>
          <p:cNvSpPr txBox="1"/>
          <p:nvPr/>
        </p:nvSpPr>
        <p:spPr>
          <a:xfrm>
            <a:off x="4846320" y="3840480"/>
            <a:ext cx="3566160" cy="228600"/>
          </a:xfrm>
          <a:prstGeom prst="rect">
            <a:avLst/>
          </a:prstGeom>
          <a:noFill/>
          <a:ln/>
        </p:spPr>
        <p:txBody>
          <a:bodyPr wrap="square" lIns="0" tIns="0" rIns="0" bIns="0" rtlCol="0" anchor="t"/>
          <a:lstStyle/>
          <a:p>
            <a:pPr algn="l" indent="0" marL="0">
              <a:buNone/>
            </a:pPr>
            <a:r>
              <a:rPr lang="en-US" sz="900" b="1" dirty="0">
                <a:solidFill>
                  <a:srgbClr val="84300F"/>
                </a:solidFill>
                <a:latin typeface="Meiryo" pitchFamily="34" charset="0"/>
                <a:ea typeface="Meiryo" pitchFamily="34" charset="-122"/>
                <a:cs typeface="Meiryo" pitchFamily="34" charset="-120"/>
              </a:rPr>
              <a:t>なぜ「ヒアリング」を挟むのか</a:t>
            </a:r>
            <a:endParaRPr lang="en-US" sz="900" dirty="0"/>
          </a:p>
        </p:txBody>
      </p:sp>
      <p:sp>
        <p:nvSpPr>
          <p:cNvPr id="38" name="Text 35"/>
          <p:cNvSpPr txBox="1"/>
          <p:nvPr/>
        </p:nvSpPr>
        <p:spPr>
          <a:xfrm>
            <a:off x="4846320" y="4087368"/>
            <a:ext cx="3566160" cy="640080"/>
          </a:xfrm>
          <a:prstGeom prst="rect">
            <a:avLst/>
          </a:prstGeom>
          <a:noFill/>
          <a:ln/>
        </p:spPr>
        <p:txBody>
          <a:bodyPr wrap="square" lIns="0" tIns="0" rIns="0" bIns="0" rtlCol="0" anchor="t"/>
          <a:lstStyle/>
          <a:p>
            <a:pPr algn="l" indent="0" marL="0">
              <a:lnSpc>
                <a:spcPct val="135000"/>
              </a:lnSpc>
              <a:buNone/>
            </a:pPr>
            <a:r>
              <a:rPr lang="en-US" sz="750" dirty="0">
                <a:solidFill>
                  <a:srgbClr val="222222"/>
                </a:solidFill>
                <a:latin typeface="Meiryo" pitchFamily="34" charset="0"/>
                <a:ea typeface="Meiryo" pitchFamily="34" charset="-122"/>
                <a:cs typeface="Meiryo" pitchFamily="34" charset="-120"/>
              </a:rPr>
              <a:t>自社で取るアンケートより、日頃から関係のある第三者が聞く方が本音が出ます。28卒の採用結果に関わらず、29卒の打ち出しを決める材料が手元に残ります。</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08｜SCHEDULE</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9月に決めて、10月・11月に2回、12月にまとめる</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お打ち合わせで伺った既存イベントの日程（9/17・10/1）を起点にしています。</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9</a:t>
            </a:r>
            <a:endParaRPr lang="en-US" sz="750" dirty="0"/>
          </a:p>
        </p:txBody>
      </p:sp>
      <p:sp>
        <p:nvSpPr>
          <p:cNvPr id="8" name="Shape 5"/>
          <p:cNvSpPr/>
          <p:nvPr/>
        </p:nvSpPr>
        <p:spPr>
          <a:xfrm>
            <a:off x="548640" y="1417320"/>
            <a:ext cx="1920240" cy="384048"/>
          </a:xfrm>
          <a:prstGeom prst="roundRect">
            <a:avLst>
              <a:gd name="adj" fmla="val 14286"/>
            </a:avLst>
          </a:prstGeom>
          <a:solidFill>
            <a:srgbClr val="84300F"/>
          </a:solidFill>
          <a:ln w="12700">
            <a:solidFill>
              <a:srgbClr val="84300F"/>
            </a:solidFill>
            <a:prstDash val="solid"/>
          </a:ln>
        </p:spPr>
      </p:sp>
      <p:sp>
        <p:nvSpPr>
          <p:cNvPr id="9" name="Text 6"/>
          <p:cNvSpPr txBox="1"/>
          <p:nvPr/>
        </p:nvSpPr>
        <p:spPr>
          <a:xfrm>
            <a:off x="548640" y="1417320"/>
            <a:ext cx="19202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9月</a:t>
            </a:r>
            <a:pPr algn="ctr" indent="0" marL="0">
              <a:buNone/>
            </a:pPr>
            <a:r>
              <a:rPr lang="en-US" sz="850" dirty="0">
                <a:solidFill>
                  <a:srgbClr val="FFFFFF"/>
                </a:solidFill>
                <a:latin typeface="Meiryo" pitchFamily="34" charset="0"/>
                <a:ea typeface="Meiryo" pitchFamily="34" charset="-122"/>
                <a:cs typeface="Meiryo" pitchFamily="34" charset="-120"/>
              </a:rPr>
              <a:t>　準備</a:t>
            </a:r>
            <a:endParaRPr lang="en-US" sz="1000" dirty="0"/>
          </a:p>
        </p:txBody>
      </p:sp>
      <p:sp>
        <p:nvSpPr>
          <p:cNvPr id="10" name="Shape 7"/>
          <p:cNvSpPr/>
          <p:nvPr/>
        </p:nvSpPr>
        <p:spPr>
          <a:xfrm>
            <a:off x="548640" y="1920240"/>
            <a:ext cx="1920240" cy="1783080"/>
          </a:xfrm>
          <a:prstGeom prst="roundRect">
            <a:avLst>
              <a:gd name="adj" fmla="val 3077"/>
            </a:avLst>
          </a:prstGeom>
          <a:solidFill>
            <a:srgbClr val="FFFFFF"/>
          </a:solidFill>
          <a:ln w="9525">
            <a:solidFill>
              <a:srgbClr val="DDDCD4"/>
            </a:solidFill>
            <a:prstDash val="solid"/>
          </a:ln>
        </p:spPr>
      </p:sp>
      <p:sp>
        <p:nvSpPr>
          <p:cNvPr id="11" name="Text 8"/>
          <p:cNvSpPr txBox="1"/>
          <p:nvPr/>
        </p:nvSpPr>
        <p:spPr>
          <a:xfrm>
            <a:off x="713232" y="2084832"/>
            <a:ext cx="1591056" cy="1554480"/>
          </a:xfrm>
          <a:prstGeom prst="rect">
            <a:avLst/>
          </a:prstGeom>
          <a:noFill/>
          <a:ln/>
        </p:spPr>
        <p:txBody>
          <a:bodyPr wrap="square" lIns="0" tIns="0" rIns="0" bIns="0" rtlCol="0" anchor="t"/>
          <a:lstStyle/>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本提案のすり合わせ（来週）</a:t>
            </a:r>
            <a:endParaRPr lang="en-US" sz="800" dirty="0"/>
          </a:p>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再演するコンテンツと追加枠の決定</a:t>
            </a:r>
            <a:endParaRPr lang="en-US" sz="800" dirty="0"/>
          </a:p>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学生への案内文・企画タイトルのドラフト</a:t>
            </a:r>
            <a:endParaRPr lang="en-US" sz="800" dirty="0"/>
          </a:p>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9/17 選抜1day：枠に余裕があれば数名参加</a:t>
            </a:r>
            <a:endParaRPr lang="en-US" sz="800" dirty="0"/>
          </a:p>
        </p:txBody>
      </p:sp>
      <p:sp>
        <p:nvSpPr>
          <p:cNvPr id="12" name="Text 9"/>
          <p:cNvSpPr txBox="1"/>
          <p:nvPr/>
        </p:nvSpPr>
        <p:spPr>
          <a:xfrm>
            <a:off x="2450592" y="2651760"/>
            <a:ext cx="155448" cy="274320"/>
          </a:xfrm>
          <a:prstGeom prst="rect">
            <a:avLst/>
          </a:prstGeom>
          <a:noFill/>
          <a:ln/>
        </p:spPr>
        <p:txBody>
          <a:bodyPr wrap="square" lIns="0" tIns="0" rIns="0" bIns="0" rtlCol="0" anchor="t"/>
          <a:lstStyle/>
          <a:p>
            <a:pPr algn="ctr" indent="0" marL="0">
              <a:buNone/>
            </a:pPr>
            <a:r>
              <a:rPr lang="en-US" sz="1100" dirty="0">
                <a:solidFill>
                  <a:srgbClr val="FF7611"/>
                </a:solidFill>
                <a:latin typeface="Meiryo" pitchFamily="34" charset="0"/>
                <a:ea typeface="Meiryo" pitchFamily="34" charset="-122"/>
                <a:cs typeface="Meiryo" pitchFamily="34" charset="-120"/>
              </a:rPr>
              <a:t>→</a:t>
            </a:r>
            <a:endParaRPr lang="en-US" sz="1100" dirty="0"/>
          </a:p>
        </p:txBody>
      </p:sp>
      <p:sp>
        <p:nvSpPr>
          <p:cNvPr id="13" name="Shape 10"/>
          <p:cNvSpPr/>
          <p:nvPr/>
        </p:nvSpPr>
        <p:spPr>
          <a:xfrm>
            <a:off x="2587752" y="1417320"/>
            <a:ext cx="1920240" cy="384048"/>
          </a:xfrm>
          <a:prstGeom prst="roundRect">
            <a:avLst>
              <a:gd name="adj" fmla="val 14286"/>
            </a:avLst>
          </a:prstGeom>
          <a:solidFill>
            <a:srgbClr val="84300F"/>
          </a:solidFill>
          <a:ln w="12700">
            <a:solidFill>
              <a:srgbClr val="84300F"/>
            </a:solidFill>
            <a:prstDash val="solid"/>
          </a:ln>
        </p:spPr>
      </p:sp>
      <p:sp>
        <p:nvSpPr>
          <p:cNvPr id="14" name="Text 11"/>
          <p:cNvSpPr txBox="1"/>
          <p:nvPr/>
        </p:nvSpPr>
        <p:spPr>
          <a:xfrm>
            <a:off x="2587752" y="1417320"/>
            <a:ext cx="19202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10月</a:t>
            </a:r>
            <a:pPr algn="ctr" indent="0" marL="0">
              <a:buNone/>
            </a:pPr>
            <a:r>
              <a:rPr lang="en-US" sz="850" dirty="0">
                <a:solidFill>
                  <a:srgbClr val="FFFFFF"/>
                </a:solidFill>
                <a:latin typeface="Meiryo" pitchFamily="34" charset="0"/>
                <a:ea typeface="Meiryo" pitchFamily="34" charset="-122"/>
                <a:cs typeface="Meiryo" pitchFamily="34" charset="-120"/>
              </a:rPr>
              <a:t>　第1回</a:t>
            </a:r>
            <a:endParaRPr lang="en-US" sz="1000" dirty="0"/>
          </a:p>
        </p:txBody>
      </p:sp>
      <p:sp>
        <p:nvSpPr>
          <p:cNvPr id="15" name="Shape 12"/>
          <p:cNvSpPr/>
          <p:nvPr/>
        </p:nvSpPr>
        <p:spPr>
          <a:xfrm>
            <a:off x="2587752" y="1920240"/>
            <a:ext cx="1920240" cy="1783080"/>
          </a:xfrm>
          <a:prstGeom prst="roundRect">
            <a:avLst>
              <a:gd name="adj" fmla="val 3077"/>
            </a:avLst>
          </a:prstGeom>
          <a:solidFill>
            <a:srgbClr val="FFFFFF"/>
          </a:solidFill>
          <a:ln w="9525">
            <a:solidFill>
              <a:srgbClr val="DDDCD4"/>
            </a:solidFill>
            <a:prstDash val="solid"/>
          </a:ln>
        </p:spPr>
      </p:sp>
      <p:sp>
        <p:nvSpPr>
          <p:cNvPr id="16" name="Text 13"/>
          <p:cNvSpPr txBox="1"/>
          <p:nvPr/>
        </p:nvSpPr>
        <p:spPr>
          <a:xfrm>
            <a:off x="2752344" y="2084832"/>
            <a:ext cx="1591056" cy="1554480"/>
          </a:xfrm>
          <a:prstGeom prst="rect">
            <a:avLst/>
          </a:prstGeom>
          <a:noFill/>
          <a:ln/>
        </p:spPr>
        <p:txBody>
          <a:bodyPr wrap="square" lIns="0" tIns="0" rIns="0" bIns="0" rtlCol="0" anchor="t"/>
          <a:lstStyle/>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10/1 都市創造ワーク（半日）に着席（〜10名）</a:t>
            </a:r>
            <a:endParaRPr lang="en-US" sz="800" dirty="0"/>
          </a:p>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参加後インタビュー 第1回</a:t>
            </a:r>
            <a:endParaRPr lang="en-US" sz="800" dirty="0"/>
          </a:p>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合う学生を本選考へ接続</a:t>
            </a:r>
            <a:endParaRPr lang="en-US" sz="800" dirty="0"/>
          </a:p>
        </p:txBody>
      </p:sp>
      <p:sp>
        <p:nvSpPr>
          <p:cNvPr id="17" name="Text 14"/>
          <p:cNvSpPr txBox="1"/>
          <p:nvPr/>
        </p:nvSpPr>
        <p:spPr>
          <a:xfrm>
            <a:off x="4489704" y="2651760"/>
            <a:ext cx="155448" cy="274320"/>
          </a:xfrm>
          <a:prstGeom prst="rect">
            <a:avLst/>
          </a:prstGeom>
          <a:noFill/>
          <a:ln/>
        </p:spPr>
        <p:txBody>
          <a:bodyPr wrap="square" lIns="0" tIns="0" rIns="0" bIns="0" rtlCol="0" anchor="t"/>
          <a:lstStyle/>
          <a:p>
            <a:pPr algn="ctr" indent="0" marL="0">
              <a:buNone/>
            </a:pPr>
            <a:r>
              <a:rPr lang="en-US" sz="1100" dirty="0">
                <a:solidFill>
                  <a:srgbClr val="FF7611"/>
                </a:solidFill>
                <a:latin typeface="Meiryo" pitchFamily="34" charset="0"/>
                <a:ea typeface="Meiryo" pitchFamily="34" charset="-122"/>
                <a:cs typeface="Meiryo" pitchFamily="34" charset="-120"/>
              </a:rPr>
              <a:t>→</a:t>
            </a:r>
            <a:endParaRPr lang="en-US" sz="1100" dirty="0"/>
          </a:p>
        </p:txBody>
      </p:sp>
      <p:sp>
        <p:nvSpPr>
          <p:cNvPr id="18" name="Shape 15"/>
          <p:cNvSpPr/>
          <p:nvPr/>
        </p:nvSpPr>
        <p:spPr>
          <a:xfrm>
            <a:off x="4626864" y="1417320"/>
            <a:ext cx="1920240" cy="384048"/>
          </a:xfrm>
          <a:prstGeom prst="roundRect">
            <a:avLst>
              <a:gd name="adj" fmla="val 14286"/>
            </a:avLst>
          </a:prstGeom>
          <a:solidFill>
            <a:srgbClr val="84300F"/>
          </a:solidFill>
          <a:ln w="12700">
            <a:solidFill>
              <a:srgbClr val="84300F"/>
            </a:solidFill>
            <a:prstDash val="solid"/>
          </a:ln>
        </p:spPr>
      </p:sp>
      <p:sp>
        <p:nvSpPr>
          <p:cNvPr id="19" name="Text 16"/>
          <p:cNvSpPr txBox="1"/>
          <p:nvPr/>
        </p:nvSpPr>
        <p:spPr>
          <a:xfrm>
            <a:off x="4626864" y="1417320"/>
            <a:ext cx="19202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11月</a:t>
            </a:r>
            <a:pPr algn="ctr" indent="0" marL="0">
              <a:buNone/>
            </a:pPr>
            <a:r>
              <a:rPr lang="en-US" sz="850" dirty="0">
                <a:solidFill>
                  <a:srgbClr val="FFFFFF"/>
                </a:solidFill>
                <a:latin typeface="Meiryo" pitchFamily="34" charset="0"/>
                <a:ea typeface="Meiryo" pitchFamily="34" charset="-122"/>
                <a:cs typeface="Meiryo" pitchFamily="34" charset="-120"/>
              </a:rPr>
              <a:t>　第2回</a:t>
            </a:r>
            <a:endParaRPr lang="en-US" sz="1000" dirty="0"/>
          </a:p>
        </p:txBody>
      </p:sp>
      <p:sp>
        <p:nvSpPr>
          <p:cNvPr id="20" name="Shape 17"/>
          <p:cNvSpPr/>
          <p:nvPr/>
        </p:nvSpPr>
        <p:spPr>
          <a:xfrm>
            <a:off x="4626864" y="1920240"/>
            <a:ext cx="1920240" cy="1783080"/>
          </a:xfrm>
          <a:prstGeom prst="roundRect">
            <a:avLst>
              <a:gd name="adj" fmla="val 3077"/>
            </a:avLst>
          </a:prstGeom>
          <a:solidFill>
            <a:srgbClr val="FFFFFF"/>
          </a:solidFill>
          <a:ln w="9525">
            <a:solidFill>
              <a:srgbClr val="DDDCD4"/>
            </a:solidFill>
            <a:prstDash val="solid"/>
          </a:ln>
        </p:spPr>
      </p:sp>
      <p:sp>
        <p:nvSpPr>
          <p:cNvPr id="21" name="Text 18"/>
          <p:cNvSpPr txBox="1"/>
          <p:nvPr/>
        </p:nvSpPr>
        <p:spPr>
          <a:xfrm>
            <a:off x="4791456" y="2084832"/>
            <a:ext cx="1591056" cy="1554480"/>
          </a:xfrm>
          <a:prstGeom prst="rect">
            <a:avLst/>
          </a:prstGeom>
          <a:noFill/>
          <a:ln/>
        </p:spPr>
        <p:txBody>
          <a:bodyPr wrap="square" lIns="0" tIns="0" rIns="0" bIns="0" rtlCol="0" anchor="t"/>
          <a:lstStyle/>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半日ワークの再演（〜10名）</a:t>
            </a:r>
            <a:endParaRPr lang="en-US" sz="800" dirty="0"/>
          </a:p>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参加後インタビュー 第2回</a:t>
            </a:r>
            <a:endParaRPr lang="en-US" sz="800" dirty="0"/>
          </a:p>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中間共有（刺さった言葉の速報）</a:t>
            </a:r>
            <a:endParaRPr lang="en-US" sz="800" dirty="0"/>
          </a:p>
        </p:txBody>
      </p:sp>
      <p:sp>
        <p:nvSpPr>
          <p:cNvPr id="22" name="Text 19"/>
          <p:cNvSpPr txBox="1"/>
          <p:nvPr/>
        </p:nvSpPr>
        <p:spPr>
          <a:xfrm>
            <a:off x="6528816" y="2651760"/>
            <a:ext cx="155448" cy="274320"/>
          </a:xfrm>
          <a:prstGeom prst="rect">
            <a:avLst/>
          </a:prstGeom>
          <a:noFill/>
          <a:ln/>
        </p:spPr>
        <p:txBody>
          <a:bodyPr wrap="square" lIns="0" tIns="0" rIns="0" bIns="0" rtlCol="0" anchor="t"/>
          <a:lstStyle/>
          <a:p>
            <a:pPr algn="ctr" indent="0" marL="0">
              <a:buNone/>
            </a:pPr>
            <a:r>
              <a:rPr lang="en-US" sz="1100" dirty="0">
                <a:solidFill>
                  <a:srgbClr val="FF7611"/>
                </a:solidFill>
                <a:latin typeface="Meiryo" pitchFamily="34" charset="0"/>
                <a:ea typeface="Meiryo" pitchFamily="34" charset="-122"/>
                <a:cs typeface="Meiryo" pitchFamily="34" charset="-120"/>
              </a:rPr>
              <a:t>→</a:t>
            </a:r>
            <a:endParaRPr lang="en-US" sz="1100" dirty="0"/>
          </a:p>
        </p:txBody>
      </p:sp>
      <p:sp>
        <p:nvSpPr>
          <p:cNvPr id="23" name="Shape 20"/>
          <p:cNvSpPr/>
          <p:nvPr/>
        </p:nvSpPr>
        <p:spPr>
          <a:xfrm>
            <a:off x="6665976" y="1417320"/>
            <a:ext cx="1920240" cy="384048"/>
          </a:xfrm>
          <a:prstGeom prst="roundRect">
            <a:avLst>
              <a:gd name="adj" fmla="val 14286"/>
            </a:avLst>
          </a:prstGeom>
          <a:solidFill>
            <a:srgbClr val="84300F"/>
          </a:solidFill>
          <a:ln w="12700">
            <a:solidFill>
              <a:srgbClr val="84300F"/>
            </a:solidFill>
            <a:prstDash val="solid"/>
          </a:ln>
        </p:spPr>
      </p:sp>
      <p:sp>
        <p:nvSpPr>
          <p:cNvPr id="24" name="Text 21"/>
          <p:cNvSpPr txBox="1"/>
          <p:nvPr/>
        </p:nvSpPr>
        <p:spPr>
          <a:xfrm>
            <a:off x="6665976" y="1417320"/>
            <a:ext cx="19202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12月</a:t>
            </a:r>
            <a:pPr algn="ctr" indent="0" marL="0">
              <a:buNone/>
            </a:pPr>
            <a:r>
              <a:rPr lang="en-US" sz="850" dirty="0">
                <a:solidFill>
                  <a:srgbClr val="FFFFFF"/>
                </a:solidFill>
                <a:latin typeface="Meiryo" pitchFamily="34" charset="0"/>
                <a:ea typeface="Meiryo" pitchFamily="34" charset="-122"/>
                <a:cs typeface="Meiryo" pitchFamily="34" charset="-120"/>
              </a:rPr>
              <a:t>　まとめ</a:t>
            </a:r>
            <a:endParaRPr lang="en-US" sz="1000" dirty="0"/>
          </a:p>
        </p:txBody>
      </p:sp>
      <p:sp>
        <p:nvSpPr>
          <p:cNvPr id="25" name="Shape 22"/>
          <p:cNvSpPr/>
          <p:nvPr/>
        </p:nvSpPr>
        <p:spPr>
          <a:xfrm>
            <a:off x="6665976" y="1920240"/>
            <a:ext cx="1920240" cy="1783080"/>
          </a:xfrm>
          <a:prstGeom prst="roundRect">
            <a:avLst>
              <a:gd name="adj" fmla="val 3077"/>
            </a:avLst>
          </a:prstGeom>
          <a:solidFill>
            <a:srgbClr val="FFFFFF"/>
          </a:solidFill>
          <a:ln w="9525">
            <a:solidFill>
              <a:srgbClr val="DDDCD4"/>
            </a:solidFill>
            <a:prstDash val="solid"/>
          </a:ln>
        </p:spPr>
      </p:sp>
      <p:sp>
        <p:nvSpPr>
          <p:cNvPr id="26" name="Text 23"/>
          <p:cNvSpPr txBox="1"/>
          <p:nvPr/>
        </p:nvSpPr>
        <p:spPr>
          <a:xfrm>
            <a:off x="6830568" y="2084832"/>
            <a:ext cx="1591056" cy="1554480"/>
          </a:xfrm>
          <a:prstGeom prst="rect">
            <a:avLst/>
          </a:prstGeom>
          <a:noFill/>
          <a:ln/>
        </p:spPr>
        <p:txBody>
          <a:bodyPr wrap="square" lIns="0" tIns="0" rIns="0" bIns="0" rtlCol="0" anchor="t"/>
          <a:lstStyle/>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検証レポートのご提出</a:t>
            </a:r>
            <a:endParaRPr lang="en-US" sz="800" dirty="0"/>
          </a:p>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29卒・30卒向け企画のご提案</a:t>
            </a:r>
            <a:endParaRPr lang="en-US" sz="800" dirty="0"/>
          </a:p>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28卒 選考進捗の共有と次年度の判断</a:t>
            </a:r>
            <a:endParaRPr lang="en-US" sz="800" dirty="0"/>
          </a:p>
        </p:txBody>
      </p:sp>
      <p:sp>
        <p:nvSpPr>
          <p:cNvPr id="27" name="Shape 24"/>
          <p:cNvSpPr/>
          <p:nvPr/>
        </p:nvSpPr>
        <p:spPr>
          <a:xfrm>
            <a:off x="548640" y="3886200"/>
            <a:ext cx="8046720" cy="457200"/>
          </a:xfrm>
          <a:prstGeom prst="rect">
            <a:avLst/>
          </a:prstGeom>
          <a:solidFill>
            <a:srgbClr val="84300F"/>
          </a:solidFill>
          <a:ln w="12700">
            <a:solidFill>
              <a:srgbClr val="84300F"/>
            </a:solidFill>
            <a:prstDash val="solid"/>
          </a:ln>
        </p:spPr>
      </p:sp>
      <p:sp>
        <p:nvSpPr>
          <p:cNvPr id="28" name="Text 25"/>
          <p:cNvSpPr txBox="1"/>
          <p:nvPr/>
        </p:nvSpPr>
        <p:spPr>
          <a:xfrm>
            <a:off x="731520" y="3886200"/>
            <a:ext cx="76809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秋の2回で検証し、年内に29卒・30卒の設計へ。9月中に学生への声かけを始めます。</a:t>
            </a:r>
            <a:endParaRPr lang="en-US" sz="1100" dirty="0"/>
          </a:p>
        </p:txBody>
      </p:sp>
      <p:sp>
        <p:nvSpPr>
          <p:cNvPr id="29" name="Text 26"/>
          <p:cNvSpPr txBox="1"/>
          <p:nvPr/>
        </p:nvSpPr>
        <p:spPr>
          <a:xfrm>
            <a:off x="548640" y="4480560"/>
            <a:ext cx="8046720" cy="274320"/>
          </a:xfrm>
          <a:prstGeom prst="rect">
            <a:avLst/>
          </a:prstGeom>
          <a:noFill/>
          <a:ln/>
        </p:spPr>
        <p:txBody>
          <a:bodyPr wrap="square" lIns="0" tIns="0" rIns="0" bIns="0" rtlCol="0" anchor="t"/>
          <a:lstStyle/>
          <a:p>
            <a:pPr algn="l" indent="0" marL="0">
              <a:buNone/>
            </a:pPr>
            <a:r>
              <a:rPr lang="en-US" sz="750" dirty="0">
                <a:solidFill>
                  <a:srgbClr val="666666"/>
                </a:solidFill>
                <a:latin typeface="Meiryo" pitchFamily="34" charset="0"/>
                <a:ea typeface="Meiryo" pitchFamily="34" charset="-122"/>
                <a:cs typeface="Meiryo" pitchFamily="34" charset="-120"/>
              </a:rPr>
              <a:t>※ 9/17は現在フィックス済みと伺っており、増枠の可否は次回ご相談させてください。※ 開始月は貴社の選考スケジュールに合わせて調整します。</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09｜ROLES</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「人事を一人増やす」感覚でご一緒します</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貴社の工数は既存業務の範囲に収め、学生側の動きはSocial Act Careerが持ちます。</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10</a:t>
            </a:r>
            <a:endParaRPr lang="en-US" sz="750" dirty="0"/>
          </a:p>
        </p:txBody>
      </p:sp>
      <p:sp>
        <p:nvSpPr>
          <p:cNvPr id="8" name="Shape 5"/>
          <p:cNvSpPr/>
          <p:nvPr/>
        </p:nvSpPr>
        <p:spPr>
          <a:xfrm>
            <a:off x="548640" y="1417320"/>
            <a:ext cx="3931920" cy="2194560"/>
          </a:xfrm>
          <a:prstGeom prst="rect">
            <a:avLst/>
          </a:prstGeom>
          <a:solidFill>
            <a:srgbClr val="FFFFFF"/>
          </a:solidFill>
          <a:ln w="12700">
            <a:solidFill>
              <a:srgbClr val="FFFFFF"/>
            </a:solidFill>
            <a:prstDash val="solid"/>
          </a:ln>
        </p:spPr>
      </p:sp>
      <p:sp>
        <p:nvSpPr>
          <p:cNvPr id="9" name="Shape 6"/>
          <p:cNvSpPr/>
          <p:nvPr/>
        </p:nvSpPr>
        <p:spPr>
          <a:xfrm>
            <a:off x="548640" y="1417320"/>
            <a:ext cx="3931920" cy="41148"/>
          </a:xfrm>
          <a:prstGeom prst="rect">
            <a:avLst/>
          </a:prstGeom>
          <a:solidFill>
            <a:srgbClr val="DDDCD4"/>
          </a:solidFill>
          <a:ln w="12700">
            <a:solidFill>
              <a:srgbClr val="DDDCD4"/>
            </a:solidFill>
            <a:prstDash val="solid"/>
          </a:ln>
        </p:spPr>
      </p:sp>
      <p:sp>
        <p:nvSpPr>
          <p:cNvPr id="10" name="Text 7"/>
          <p:cNvSpPr txBox="1"/>
          <p:nvPr/>
        </p:nvSpPr>
        <p:spPr>
          <a:xfrm>
            <a:off x="777240" y="1600200"/>
            <a:ext cx="3566160" cy="274320"/>
          </a:xfrm>
          <a:prstGeom prst="rect">
            <a:avLst/>
          </a:prstGeom>
          <a:noFill/>
          <a:ln/>
        </p:spPr>
        <p:txBody>
          <a:bodyPr wrap="square" lIns="0" tIns="0" rIns="0" bIns="0" rtlCol="0" anchor="t"/>
          <a:lstStyle/>
          <a:p>
            <a:pPr algn="l" indent="0" marL="0">
              <a:buNone/>
            </a:pPr>
            <a:r>
              <a:rPr lang="en-US" sz="1200" b="1" dirty="0">
                <a:solidFill>
                  <a:srgbClr val="222222"/>
                </a:solidFill>
                <a:latin typeface="Meiryo" pitchFamily="34" charset="0"/>
                <a:ea typeface="Meiryo" pitchFamily="34" charset="-122"/>
                <a:cs typeface="Meiryo" pitchFamily="34" charset="-120"/>
              </a:rPr>
              <a:t>リノベル様</a:t>
            </a:r>
            <a:endParaRPr lang="en-US" sz="1200" dirty="0"/>
          </a:p>
        </p:txBody>
      </p:sp>
      <p:sp>
        <p:nvSpPr>
          <p:cNvPr id="11" name="Text 8"/>
          <p:cNvSpPr txBox="1"/>
          <p:nvPr/>
        </p:nvSpPr>
        <p:spPr>
          <a:xfrm>
            <a:off x="777240" y="2011680"/>
            <a:ext cx="3520440" cy="1554480"/>
          </a:xfrm>
          <a:prstGeom prst="rect">
            <a:avLst/>
          </a:prstGeom>
          <a:noFill/>
          <a:ln/>
        </p:spPr>
        <p:txBody>
          <a:bodyPr wrap="square" lIns="0" tIns="0" rIns="0" bIns="0" rtlCol="0" anchor="t"/>
          <a:lstStyle/>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既存コンテンツの開催（10/1 の枠追加、半日ワークの再演）</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案内文・企画タイトルのご確認</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面接・選考、二次以降の人事メンターの伴走</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参加学生に関する所感の共有（月1回・30分程度）</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インタビューで聞いてほしいことのご指定</a:t>
            </a:r>
            <a:endParaRPr lang="en-US" sz="850" dirty="0"/>
          </a:p>
        </p:txBody>
      </p:sp>
      <p:sp>
        <p:nvSpPr>
          <p:cNvPr id="12" name="Shape 9"/>
          <p:cNvSpPr/>
          <p:nvPr/>
        </p:nvSpPr>
        <p:spPr>
          <a:xfrm>
            <a:off x="4663440" y="1417320"/>
            <a:ext cx="3931920" cy="2194560"/>
          </a:xfrm>
          <a:prstGeom prst="rect">
            <a:avLst/>
          </a:prstGeom>
          <a:solidFill>
            <a:srgbClr val="FFFFFF"/>
          </a:solidFill>
          <a:ln w="12700">
            <a:solidFill>
              <a:srgbClr val="FFFFFF"/>
            </a:solidFill>
            <a:prstDash val="solid"/>
          </a:ln>
        </p:spPr>
      </p:sp>
      <p:sp>
        <p:nvSpPr>
          <p:cNvPr id="13" name="Shape 10"/>
          <p:cNvSpPr/>
          <p:nvPr/>
        </p:nvSpPr>
        <p:spPr>
          <a:xfrm>
            <a:off x="4663440" y="1417320"/>
            <a:ext cx="3931920" cy="41148"/>
          </a:xfrm>
          <a:prstGeom prst="rect">
            <a:avLst/>
          </a:prstGeom>
          <a:solidFill>
            <a:srgbClr val="FF7611"/>
          </a:solidFill>
          <a:ln w="12700">
            <a:solidFill>
              <a:srgbClr val="FF7611"/>
            </a:solidFill>
            <a:prstDash val="solid"/>
          </a:ln>
        </p:spPr>
      </p:sp>
      <p:sp>
        <p:nvSpPr>
          <p:cNvPr id="14" name="Text 11"/>
          <p:cNvSpPr txBox="1"/>
          <p:nvPr/>
        </p:nvSpPr>
        <p:spPr>
          <a:xfrm>
            <a:off x="4892040" y="1600200"/>
            <a:ext cx="3566160" cy="274320"/>
          </a:xfrm>
          <a:prstGeom prst="rect">
            <a:avLst/>
          </a:prstGeom>
          <a:noFill/>
          <a:ln/>
        </p:spPr>
        <p:txBody>
          <a:bodyPr wrap="square" lIns="0" tIns="0" rIns="0" bIns="0" rtlCol="0" anchor="t"/>
          <a:lstStyle/>
          <a:p>
            <a:pPr algn="l" indent="0" marL="0">
              <a:buNone/>
            </a:pPr>
            <a:r>
              <a:rPr lang="en-US" sz="1200" b="1" dirty="0">
                <a:solidFill>
                  <a:srgbClr val="B65124"/>
                </a:solidFill>
                <a:latin typeface="Meiryo" pitchFamily="34" charset="0"/>
                <a:ea typeface="Meiryo" pitchFamily="34" charset="-122"/>
                <a:cs typeface="Meiryo" pitchFamily="34" charset="-120"/>
              </a:rPr>
              <a:t>Social Act Career（新谷・清水）</a:t>
            </a:r>
            <a:endParaRPr lang="en-US" sz="1200" dirty="0"/>
          </a:p>
        </p:txBody>
      </p:sp>
      <p:sp>
        <p:nvSpPr>
          <p:cNvPr id="15" name="Text 12"/>
          <p:cNvSpPr txBox="1"/>
          <p:nvPr/>
        </p:nvSpPr>
        <p:spPr>
          <a:xfrm>
            <a:off x="4892040" y="2011680"/>
            <a:ext cx="3520440" cy="1554480"/>
          </a:xfrm>
          <a:prstGeom prst="rect">
            <a:avLst/>
          </a:prstGeom>
          <a:noFill/>
          <a:ln/>
        </p:spPr>
        <p:txBody>
          <a:bodyPr wrap="square" lIns="0" tIns="0" rIns="0" bIns="0" rtlCol="0" anchor="t"/>
          <a:lstStyle/>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「リノベル人」3条件に沿った学生の選定と個別の声かけ</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参加前のアトラクト（リノベルの価値観を「暮らし」の言葉で事前共有）</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当日の学生側サポート、参加後の個別インタビューとアンケート</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選考中の学生の迷いのフォロー</a:t>
            </a:r>
            <a:endParaRPr lang="en-US" sz="850" dirty="0"/>
          </a:p>
          <a:p>
            <a:pPr marL="127000" indent="-127000">
              <a:spcAft>
                <a:spcPts val="300"/>
              </a:spcAft>
              <a:buSzPct val="100000"/>
              <a:buChar char="■"/>
            </a:pPr>
            <a:r>
              <a:rPr lang="en-US" sz="850" dirty="0">
                <a:solidFill>
                  <a:srgbClr val="222222"/>
                </a:solidFill>
                <a:latin typeface="Meiryo" pitchFamily="34" charset="0"/>
                <a:ea typeface="Meiryo" pitchFamily="34" charset="-122"/>
                <a:cs typeface="Meiryo" pitchFamily="34" charset="-120"/>
              </a:rPr>
              <a:t>検証レポート、メッセージ案・企画タイトル案、29卒・30卒接点設計のご提出</a:t>
            </a:r>
            <a:endParaRPr lang="en-US" sz="850" dirty="0"/>
          </a:p>
        </p:txBody>
      </p:sp>
      <p:sp>
        <p:nvSpPr>
          <p:cNvPr id="16" name="Shape 13"/>
          <p:cNvSpPr/>
          <p:nvPr/>
        </p:nvSpPr>
        <p:spPr>
          <a:xfrm>
            <a:off x="548640" y="3840480"/>
            <a:ext cx="8046720" cy="548640"/>
          </a:xfrm>
          <a:prstGeom prst="rect">
            <a:avLst/>
          </a:prstGeom>
          <a:solidFill>
            <a:srgbClr val="84300F"/>
          </a:solidFill>
          <a:ln w="12700">
            <a:solidFill>
              <a:srgbClr val="84300F"/>
            </a:solidFill>
            <a:prstDash val="solid"/>
          </a:ln>
        </p:spPr>
      </p:sp>
      <p:sp>
        <p:nvSpPr>
          <p:cNvPr id="17" name="Text 14"/>
          <p:cNvSpPr txBox="1"/>
          <p:nvPr/>
        </p:nvSpPr>
        <p:spPr>
          <a:xfrm>
            <a:off x="731520" y="3840480"/>
            <a:ext cx="7680960" cy="54864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数を集めるのではなく、根っこが同じ学生に少人数で出会う。その一連を、貴社の人事の隣で回します。</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10｜TARGETS</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数字と、数字の理由の両方を持ち帰る</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「それっぽい人が20名いれば1名は入りそう」という肌感を、まず検証します。</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11</a:t>
            </a:r>
            <a:endParaRPr lang="en-US" sz="750" dirty="0"/>
          </a:p>
        </p:txBody>
      </p:sp>
      <p:sp>
        <p:nvSpPr>
          <p:cNvPr id="8" name="Shape 5"/>
          <p:cNvSpPr/>
          <p:nvPr/>
        </p:nvSpPr>
        <p:spPr>
          <a:xfrm>
            <a:off x="548640" y="1417320"/>
            <a:ext cx="2560320" cy="1600200"/>
          </a:xfrm>
          <a:prstGeom prst="rect">
            <a:avLst/>
          </a:prstGeom>
          <a:solidFill>
            <a:srgbClr val="FFFFFF"/>
          </a:solidFill>
          <a:ln w="12700">
            <a:solidFill>
              <a:srgbClr val="FFFFFF"/>
            </a:solidFill>
            <a:prstDash val="solid"/>
          </a:ln>
        </p:spPr>
      </p:sp>
      <p:sp>
        <p:nvSpPr>
          <p:cNvPr id="9" name="Shape 6"/>
          <p:cNvSpPr/>
          <p:nvPr/>
        </p:nvSpPr>
        <p:spPr>
          <a:xfrm>
            <a:off x="548640" y="1417320"/>
            <a:ext cx="2560320" cy="41148"/>
          </a:xfrm>
          <a:prstGeom prst="rect">
            <a:avLst/>
          </a:prstGeom>
          <a:solidFill>
            <a:srgbClr val="FF7611"/>
          </a:solidFill>
          <a:ln w="12700">
            <a:solidFill>
              <a:srgbClr val="FF7611"/>
            </a:solidFill>
            <a:prstDash val="solid"/>
          </a:ln>
        </p:spPr>
      </p:sp>
      <p:sp>
        <p:nvSpPr>
          <p:cNvPr id="10" name="Text 7"/>
          <p:cNvSpPr txBox="1"/>
          <p:nvPr/>
        </p:nvSpPr>
        <p:spPr>
          <a:xfrm>
            <a:off x="731520" y="1554480"/>
            <a:ext cx="2194560" cy="594360"/>
          </a:xfrm>
          <a:prstGeom prst="rect">
            <a:avLst/>
          </a:prstGeom>
          <a:noFill/>
          <a:ln/>
        </p:spPr>
        <p:txBody>
          <a:bodyPr wrap="square" lIns="0" tIns="0" rIns="0" bIns="0" rtlCol="0" anchor="ctr"/>
          <a:lstStyle/>
          <a:p>
            <a:pPr algn="ctr" indent="0" marL="0">
              <a:buNone/>
            </a:pPr>
            <a:r>
              <a:rPr lang="en-US" sz="3000" b="1" dirty="0">
                <a:solidFill>
                  <a:srgbClr val="FF7611"/>
                </a:solidFill>
                <a:latin typeface="Meiryo" pitchFamily="34" charset="0"/>
                <a:ea typeface="Meiryo" pitchFamily="34" charset="-122"/>
                <a:cs typeface="Meiryo" pitchFamily="34" charset="-120"/>
              </a:rPr>
              <a:t>20</a:t>
            </a:r>
            <a:pPr algn="ctr" indent="0" marL="0">
              <a:buNone/>
            </a:pPr>
            <a:r>
              <a:rPr lang="en-US" sz="1000" b="1" dirty="0">
                <a:solidFill>
                  <a:srgbClr val="FF7611"/>
                </a:solidFill>
                <a:latin typeface="Meiryo" pitchFamily="34" charset="0"/>
                <a:ea typeface="Meiryo" pitchFamily="34" charset="-122"/>
                <a:cs typeface="Meiryo" pitchFamily="34" charset="-120"/>
              </a:rPr>
              <a:t>名</a:t>
            </a:r>
            <a:endParaRPr lang="en-US" sz="1000" dirty="0"/>
          </a:p>
        </p:txBody>
      </p:sp>
      <p:sp>
        <p:nvSpPr>
          <p:cNvPr id="11" name="Text 8"/>
          <p:cNvSpPr txBox="1"/>
          <p:nvPr/>
        </p:nvSpPr>
        <p:spPr>
          <a:xfrm>
            <a:off x="731520" y="2194560"/>
            <a:ext cx="2194560" cy="228600"/>
          </a:xfrm>
          <a:prstGeom prst="rect">
            <a:avLst/>
          </a:prstGeom>
          <a:noFill/>
          <a:ln/>
        </p:spPr>
        <p:txBody>
          <a:bodyPr wrap="square" lIns="0" tIns="0" rIns="0" bIns="0" rtlCol="0" anchor="t"/>
          <a:lstStyle/>
          <a:p>
            <a:pPr algn="ctr" indent="0" marL="0">
              <a:buNone/>
            </a:pPr>
            <a:r>
              <a:rPr lang="en-US" sz="950" b="1" dirty="0">
                <a:solidFill>
                  <a:srgbClr val="222222"/>
                </a:solidFill>
                <a:latin typeface="Meiryo" pitchFamily="34" charset="0"/>
                <a:ea typeface="Meiryo" pitchFamily="34" charset="-122"/>
                <a:cs typeface="Meiryo" pitchFamily="34" charset="-120"/>
              </a:rPr>
              <a:t>着席（10名 × 2回）</a:t>
            </a:r>
            <a:endParaRPr lang="en-US" sz="950" dirty="0"/>
          </a:p>
        </p:txBody>
      </p:sp>
      <p:sp>
        <p:nvSpPr>
          <p:cNvPr id="12" name="Text 9"/>
          <p:cNvSpPr txBox="1"/>
          <p:nvPr/>
        </p:nvSpPr>
        <p:spPr>
          <a:xfrm>
            <a:off x="731520" y="2450592"/>
            <a:ext cx="2194560" cy="502920"/>
          </a:xfrm>
          <a:prstGeom prst="rect">
            <a:avLst/>
          </a:prstGeom>
          <a:noFill/>
          <a:ln/>
        </p:spPr>
        <p:txBody>
          <a:bodyPr wrap="square" lIns="0" tIns="0" rIns="0" bIns="0" rtlCol="0" anchor="t"/>
          <a:lstStyle/>
          <a:p>
            <a:pPr algn="ctr" indent="0" marL="0">
              <a:lnSpc>
                <a:spcPct val="130000"/>
              </a:lnSpc>
              <a:buNone/>
            </a:pPr>
            <a:r>
              <a:rPr lang="en-US" sz="750" dirty="0">
                <a:solidFill>
                  <a:srgbClr val="666666"/>
                </a:solidFill>
                <a:latin typeface="Meiryo" pitchFamily="34" charset="0"/>
                <a:ea typeface="Meiryo" pitchFamily="34" charset="-122"/>
                <a:cs typeface="Meiryo" pitchFamily="34" charset="-120"/>
              </a:rPr>
              <a:t>既存イベントの12〜20名規模に合わせた人数です。</a:t>
            </a:r>
            <a:endParaRPr lang="en-US" sz="750" dirty="0"/>
          </a:p>
        </p:txBody>
      </p:sp>
      <p:sp>
        <p:nvSpPr>
          <p:cNvPr id="13" name="Shape 10"/>
          <p:cNvSpPr/>
          <p:nvPr/>
        </p:nvSpPr>
        <p:spPr>
          <a:xfrm>
            <a:off x="3291840" y="1417320"/>
            <a:ext cx="2560320" cy="1600200"/>
          </a:xfrm>
          <a:prstGeom prst="rect">
            <a:avLst/>
          </a:prstGeom>
          <a:solidFill>
            <a:srgbClr val="FFFFFF"/>
          </a:solidFill>
          <a:ln w="12700">
            <a:solidFill>
              <a:srgbClr val="FFFFFF"/>
            </a:solidFill>
            <a:prstDash val="solid"/>
          </a:ln>
        </p:spPr>
      </p:sp>
      <p:sp>
        <p:nvSpPr>
          <p:cNvPr id="14" name="Shape 11"/>
          <p:cNvSpPr/>
          <p:nvPr/>
        </p:nvSpPr>
        <p:spPr>
          <a:xfrm>
            <a:off x="3291840" y="1417320"/>
            <a:ext cx="2560320" cy="41148"/>
          </a:xfrm>
          <a:prstGeom prst="rect">
            <a:avLst/>
          </a:prstGeom>
          <a:solidFill>
            <a:srgbClr val="FF7611"/>
          </a:solidFill>
          <a:ln w="12700">
            <a:solidFill>
              <a:srgbClr val="FF7611"/>
            </a:solidFill>
            <a:prstDash val="solid"/>
          </a:ln>
        </p:spPr>
      </p:sp>
      <p:sp>
        <p:nvSpPr>
          <p:cNvPr id="15" name="Text 12"/>
          <p:cNvSpPr txBox="1"/>
          <p:nvPr/>
        </p:nvSpPr>
        <p:spPr>
          <a:xfrm>
            <a:off x="3474720" y="1554480"/>
            <a:ext cx="2194560" cy="594360"/>
          </a:xfrm>
          <a:prstGeom prst="rect">
            <a:avLst/>
          </a:prstGeom>
          <a:noFill/>
          <a:ln/>
        </p:spPr>
        <p:txBody>
          <a:bodyPr wrap="square" lIns="0" tIns="0" rIns="0" bIns="0" rtlCol="0" anchor="ctr"/>
          <a:lstStyle/>
          <a:p>
            <a:pPr algn="ctr" indent="0" marL="0">
              <a:buNone/>
            </a:pPr>
            <a:r>
              <a:rPr lang="en-US" sz="3000" b="1" dirty="0">
                <a:solidFill>
                  <a:srgbClr val="FF7611"/>
                </a:solidFill>
                <a:latin typeface="Meiryo" pitchFamily="34" charset="0"/>
                <a:ea typeface="Meiryo" pitchFamily="34" charset="-122"/>
                <a:cs typeface="Meiryo" pitchFamily="34" charset="-120"/>
              </a:rPr>
              <a:t>3〜4</a:t>
            </a:r>
            <a:pPr algn="ctr" indent="0" marL="0">
              <a:buNone/>
            </a:pPr>
            <a:r>
              <a:rPr lang="en-US" sz="1000" b="1" dirty="0">
                <a:solidFill>
                  <a:srgbClr val="FF7611"/>
                </a:solidFill>
                <a:latin typeface="Meiryo" pitchFamily="34" charset="0"/>
                <a:ea typeface="Meiryo" pitchFamily="34" charset="-122"/>
                <a:cs typeface="Meiryo" pitchFamily="34" charset="-120"/>
              </a:rPr>
              <a:t>名</a:t>
            </a:r>
            <a:endParaRPr lang="en-US" sz="1000" dirty="0"/>
          </a:p>
        </p:txBody>
      </p:sp>
      <p:sp>
        <p:nvSpPr>
          <p:cNvPr id="16" name="Text 13"/>
          <p:cNvSpPr txBox="1"/>
          <p:nvPr/>
        </p:nvSpPr>
        <p:spPr>
          <a:xfrm>
            <a:off x="3474720" y="2194560"/>
            <a:ext cx="2194560" cy="228600"/>
          </a:xfrm>
          <a:prstGeom prst="rect">
            <a:avLst/>
          </a:prstGeom>
          <a:noFill/>
          <a:ln/>
        </p:spPr>
        <p:txBody>
          <a:bodyPr wrap="square" lIns="0" tIns="0" rIns="0" bIns="0" rtlCol="0" anchor="t"/>
          <a:lstStyle/>
          <a:p>
            <a:pPr algn="ctr" indent="0" marL="0">
              <a:buNone/>
            </a:pPr>
            <a:r>
              <a:rPr lang="en-US" sz="950" b="1" dirty="0">
                <a:solidFill>
                  <a:srgbClr val="222222"/>
                </a:solidFill>
                <a:latin typeface="Meiryo" pitchFamily="34" charset="0"/>
                <a:ea typeface="Meiryo" pitchFamily="34" charset="-122"/>
                <a:cs typeface="Meiryo" pitchFamily="34" charset="-120"/>
              </a:rPr>
              <a:t>本選考への進行</a:t>
            </a:r>
            <a:endParaRPr lang="en-US" sz="950" dirty="0"/>
          </a:p>
        </p:txBody>
      </p:sp>
      <p:sp>
        <p:nvSpPr>
          <p:cNvPr id="17" name="Text 14"/>
          <p:cNvSpPr txBox="1"/>
          <p:nvPr/>
        </p:nvSpPr>
        <p:spPr>
          <a:xfrm>
            <a:off x="3474720" y="2450592"/>
            <a:ext cx="2194560" cy="502920"/>
          </a:xfrm>
          <a:prstGeom prst="rect">
            <a:avLst/>
          </a:prstGeom>
          <a:noFill/>
          <a:ln/>
        </p:spPr>
        <p:txBody>
          <a:bodyPr wrap="square" lIns="0" tIns="0" rIns="0" bIns="0" rtlCol="0" anchor="t"/>
          <a:lstStyle/>
          <a:p>
            <a:pPr algn="ctr" indent="0" marL="0">
              <a:lnSpc>
                <a:spcPct val="130000"/>
              </a:lnSpc>
              <a:buNone/>
            </a:pPr>
            <a:r>
              <a:rPr lang="en-US" sz="750" dirty="0">
                <a:solidFill>
                  <a:srgbClr val="666666"/>
                </a:solidFill>
                <a:latin typeface="Meiryo" pitchFamily="34" charset="0"/>
                <a:ea typeface="Meiryo" pitchFamily="34" charset="-122"/>
                <a:cs typeface="Meiryo" pitchFamily="34" charset="-120"/>
              </a:rPr>
              <a:t>着席した学生の2割程度が二次以降の伴走に乗る想定です。</a:t>
            </a:r>
            <a:endParaRPr lang="en-US" sz="750" dirty="0"/>
          </a:p>
        </p:txBody>
      </p:sp>
      <p:sp>
        <p:nvSpPr>
          <p:cNvPr id="18" name="Shape 15"/>
          <p:cNvSpPr/>
          <p:nvPr/>
        </p:nvSpPr>
        <p:spPr>
          <a:xfrm>
            <a:off x="6035040" y="1417320"/>
            <a:ext cx="2560320" cy="1600200"/>
          </a:xfrm>
          <a:prstGeom prst="rect">
            <a:avLst/>
          </a:prstGeom>
          <a:solidFill>
            <a:srgbClr val="FFFFFF"/>
          </a:solidFill>
          <a:ln w="12700">
            <a:solidFill>
              <a:srgbClr val="FFFFFF"/>
            </a:solidFill>
            <a:prstDash val="solid"/>
          </a:ln>
        </p:spPr>
      </p:sp>
      <p:sp>
        <p:nvSpPr>
          <p:cNvPr id="19" name="Shape 16"/>
          <p:cNvSpPr/>
          <p:nvPr/>
        </p:nvSpPr>
        <p:spPr>
          <a:xfrm>
            <a:off x="6035040" y="1417320"/>
            <a:ext cx="2560320" cy="41148"/>
          </a:xfrm>
          <a:prstGeom prst="rect">
            <a:avLst/>
          </a:prstGeom>
          <a:solidFill>
            <a:srgbClr val="FF7611"/>
          </a:solidFill>
          <a:ln w="12700">
            <a:solidFill>
              <a:srgbClr val="FF7611"/>
            </a:solidFill>
            <a:prstDash val="solid"/>
          </a:ln>
        </p:spPr>
      </p:sp>
      <p:sp>
        <p:nvSpPr>
          <p:cNvPr id="20" name="Text 17"/>
          <p:cNvSpPr txBox="1"/>
          <p:nvPr/>
        </p:nvSpPr>
        <p:spPr>
          <a:xfrm>
            <a:off x="6217920" y="1554480"/>
            <a:ext cx="2194560" cy="594360"/>
          </a:xfrm>
          <a:prstGeom prst="rect">
            <a:avLst/>
          </a:prstGeom>
          <a:noFill/>
          <a:ln/>
        </p:spPr>
        <p:txBody>
          <a:bodyPr wrap="square" lIns="0" tIns="0" rIns="0" bIns="0" rtlCol="0" anchor="ctr"/>
          <a:lstStyle/>
          <a:p>
            <a:pPr algn="ctr" indent="0" marL="0">
              <a:buNone/>
            </a:pPr>
            <a:r>
              <a:rPr lang="en-US" sz="3000" b="1" dirty="0">
                <a:solidFill>
                  <a:srgbClr val="FF7611"/>
                </a:solidFill>
                <a:latin typeface="Meiryo" pitchFamily="34" charset="0"/>
                <a:ea typeface="Meiryo" pitchFamily="34" charset="-122"/>
                <a:cs typeface="Meiryo" pitchFamily="34" charset="-120"/>
              </a:rPr>
              <a:t>1</a:t>
            </a:r>
            <a:pPr algn="ctr" indent="0" marL="0">
              <a:buNone/>
            </a:pPr>
            <a:r>
              <a:rPr lang="en-US" sz="1000" b="1" dirty="0">
                <a:solidFill>
                  <a:srgbClr val="FF7611"/>
                </a:solidFill>
                <a:latin typeface="Meiryo" pitchFamily="34" charset="0"/>
                <a:ea typeface="Meiryo" pitchFamily="34" charset="-122"/>
                <a:cs typeface="Meiryo" pitchFamily="34" charset="-120"/>
              </a:rPr>
              <a:t>名</a:t>
            </a:r>
            <a:endParaRPr lang="en-US" sz="1000" dirty="0"/>
          </a:p>
        </p:txBody>
      </p:sp>
      <p:sp>
        <p:nvSpPr>
          <p:cNvPr id="21" name="Text 18"/>
          <p:cNvSpPr txBox="1"/>
          <p:nvPr/>
        </p:nvSpPr>
        <p:spPr>
          <a:xfrm>
            <a:off x="6217920" y="2194560"/>
            <a:ext cx="2194560" cy="228600"/>
          </a:xfrm>
          <a:prstGeom prst="rect">
            <a:avLst/>
          </a:prstGeom>
          <a:noFill/>
          <a:ln/>
        </p:spPr>
        <p:txBody>
          <a:bodyPr wrap="square" lIns="0" tIns="0" rIns="0" bIns="0" rtlCol="0" anchor="t"/>
          <a:lstStyle/>
          <a:p>
            <a:pPr algn="ctr" indent="0" marL="0">
              <a:buNone/>
            </a:pPr>
            <a:r>
              <a:rPr lang="en-US" sz="950" b="1" dirty="0">
                <a:solidFill>
                  <a:srgbClr val="222222"/>
                </a:solidFill>
                <a:latin typeface="Meiryo" pitchFamily="34" charset="0"/>
                <a:ea typeface="Meiryo" pitchFamily="34" charset="-122"/>
                <a:cs typeface="Meiryo" pitchFamily="34" charset="-120"/>
              </a:rPr>
              <a:t>内定承諾</a:t>
            </a:r>
            <a:endParaRPr lang="en-US" sz="950" dirty="0"/>
          </a:p>
        </p:txBody>
      </p:sp>
      <p:sp>
        <p:nvSpPr>
          <p:cNvPr id="22" name="Text 19"/>
          <p:cNvSpPr txBox="1"/>
          <p:nvPr/>
        </p:nvSpPr>
        <p:spPr>
          <a:xfrm>
            <a:off x="6217920" y="2450592"/>
            <a:ext cx="2194560" cy="502920"/>
          </a:xfrm>
          <a:prstGeom prst="rect">
            <a:avLst/>
          </a:prstGeom>
          <a:noFill/>
          <a:ln/>
        </p:spPr>
        <p:txBody>
          <a:bodyPr wrap="square" lIns="0" tIns="0" rIns="0" bIns="0" rtlCol="0" anchor="t"/>
          <a:lstStyle/>
          <a:p>
            <a:pPr algn="ctr" indent="0" marL="0">
              <a:lnSpc>
                <a:spcPct val="130000"/>
              </a:lnSpc>
              <a:buNone/>
            </a:pPr>
            <a:r>
              <a:rPr lang="en-US" sz="750" dirty="0">
                <a:solidFill>
                  <a:srgbClr val="666666"/>
                </a:solidFill>
                <a:latin typeface="Meiryo" pitchFamily="34" charset="0"/>
                <a:ea typeface="Meiryo" pitchFamily="34" charset="-122"/>
                <a:cs typeface="Meiryo" pitchFamily="34" charset="-120"/>
              </a:rPr>
              <a:t>成果報酬の対象となる、この検証の到達点です。</a:t>
            </a:r>
            <a:endParaRPr lang="en-US" sz="750" dirty="0"/>
          </a:p>
        </p:txBody>
      </p:sp>
      <p:sp>
        <p:nvSpPr>
          <p:cNvPr id="23" name="Text 20"/>
          <p:cNvSpPr txBox="1"/>
          <p:nvPr/>
        </p:nvSpPr>
        <p:spPr>
          <a:xfrm>
            <a:off x="548640" y="3200400"/>
            <a:ext cx="4480560" cy="228600"/>
          </a:xfrm>
          <a:prstGeom prst="rect">
            <a:avLst/>
          </a:prstGeom>
          <a:noFill/>
          <a:ln/>
        </p:spPr>
        <p:txBody>
          <a:bodyPr wrap="square" lIns="0" tIns="0" rIns="0" bIns="0" rtlCol="0" anchor="t"/>
          <a:lstStyle/>
          <a:p>
            <a:pPr algn="l" indent="0" marL="0">
              <a:buNone/>
            </a:pPr>
            <a:r>
              <a:rPr lang="en-US" sz="950" b="1" dirty="0">
                <a:solidFill>
                  <a:srgbClr val="222222"/>
                </a:solidFill>
                <a:latin typeface="Meiryo" pitchFamily="34" charset="0"/>
                <a:ea typeface="Meiryo" pitchFamily="34" charset="-122"/>
                <a:cs typeface="Meiryo" pitchFamily="34" charset="-120"/>
              </a:rPr>
              <a:t>定性で検証する問い</a:t>
            </a:r>
            <a:endParaRPr lang="en-US" sz="950" dirty="0"/>
          </a:p>
        </p:txBody>
      </p:sp>
      <p:sp>
        <p:nvSpPr>
          <p:cNvPr id="24" name="Text 21"/>
          <p:cNvSpPr txBox="1"/>
          <p:nvPr/>
        </p:nvSpPr>
        <p:spPr>
          <a:xfrm>
            <a:off x="548640" y="3474720"/>
            <a:ext cx="4480560" cy="1325880"/>
          </a:xfrm>
          <a:prstGeom prst="rect">
            <a:avLst/>
          </a:prstGeom>
          <a:noFill/>
          <a:ln/>
        </p:spPr>
        <p:txBody>
          <a:bodyPr wrap="square" lIns="0" tIns="0" rIns="0" bIns="0" rtlCol="0" anchor="t"/>
          <a:lstStyle/>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どの関心キーワード（地方創生／まちづくり／暮らし／サステナブル）から来た学生が「自分ごと化」したか</a:t>
            </a:r>
            <a:endParaRPr lang="en-US" sz="800" dirty="0"/>
          </a:p>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toC（暮らしのコンサル）とtoB（都市創造）のどちらに、どんな学生が反応したか</a:t>
            </a:r>
            <a:endParaRPr lang="en-US" sz="800" dirty="0"/>
          </a:p>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「不動産・リノベは私じゃない」の壁は、コンテンツのどの場面で崩れたか</a:t>
            </a:r>
            <a:endParaRPr lang="en-US" sz="800" dirty="0"/>
          </a:p>
          <a:p>
            <a:pPr marL="127000" indent="-127000">
              <a:spcAft>
                <a:spcPts val="300"/>
              </a:spcAft>
              <a:buSzPct val="100000"/>
              <a:buChar char="■"/>
            </a:pPr>
            <a:r>
              <a:rPr lang="en-US" sz="800" dirty="0">
                <a:solidFill>
                  <a:srgbClr val="222222"/>
                </a:solidFill>
                <a:latin typeface="Meiryo" pitchFamily="34" charset="0"/>
                <a:ea typeface="Meiryo" pitchFamily="34" charset="-122"/>
                <a:cs typeface="Meiryo" pitchFamily="34" charset="-120"/>
              </a:rPr>
              <a:t>既存コンテンツのうち、29卒に残すもの・変えるもの</a:t>
            </a:r>
            <a:endParaRPr lang="en-US" sz="800" dirty="0"/>
          </a:p>
        </p:txBody>
      </p:sp>
      <p:sp>
        <p:nvSpPr>
          <p:cNvPr id="25" name="Shape 22"/>
          <p:cNvSpPr/>
          <p:nvPr/>
        </p:nvSpPr>
        <p:spPr>
          <a:xfrm>
            <a:off x="5303520" y="3200400"/>
            <a:ext cx="3291840" cy="1600200"/>
          </a:xfrm>
          <a:prstGeom prst="rect">
            <a:avLst/>
          </a:prstGeom>
          <a:solidFill>
            <a:srgbClr val="2C2C2C"/>
          </a:solidFill>
          <a:ln w="12700">
            <a:solidFill>
              <a:srgbClr val="2C2C2C"/>
            </a:solidFill>
            <a:prstDash val="solid"/>
          </a:ln>
        </p:spPr>
      </p:sp>
      <p:sp>
        <p:nvSpPr>
          <p:cNvPr id="26" name="Text 23"/>
          <p:cNvSpPr txBox="1"/>
          <p:nvPr/>
        </p:nvSpPr>
        <p:spPr>
          <a:xfrm>
            <a:off x="5486400" y="3310128"/>
            <a:ext cx="2926080" cy="228600"/>
          </a:xfrm>
          <a:prstGeom prst="rect">
            <a:avLst/>
          </a:prstGeom>
          <a:noFill/>
          <a:ln/>
        </p:spPr>
        <p:txBody>
          <a:bodyPr wrap="square" lIns="0" tIns="0" rIns="0" bIns="0" rtlCol="0" anchor="t"/>
          <a:lstStyle/>
          <a:p>
            <a:pPr algn="l" indent="0" marL="0">
              <a:buNone/>
            </a:pPr>
            <a:r>
              <a:rPr lang="en-US" sz="950" b="1" dirty="0">
                <a:solidFill>
                  <a:srgbClr val="FF7611"/>
                </a:solidFill>
                <a:latin typeface="Meiryo" pitchFamily="34" charset="0"/>
                <a:ea typeface="Meiryo" pitchFamily="34" charset="-122"/>
                <a:cs typeface="Meiryo" pitchFamily="34" charset="-120"/>
              </a:rPr>
              <a:t>12月にお渡しするもの</a:t>
            </a:r>
            <a:endParaRPr lang="en-US" sz="950" dirty="0"/>
          </a:p>
        </p:txBody>
      </p:sp>
      <p:sp>
        <p:nvSpPr>
          <p:cNvPr id="27" name="Text 24"/>
          <p:cNvSpPr txBox="1"/>
          <p:nvPr/>
        </p:nvSpPr>
        <p:spPr>
          <a:xfrm>
            <a:off x="5486400" y="3611880"/>
            <a:ext cx="2926080" cy="1143000"/>
          </a:xfrm>
          <a:prstGeom prst="rect">
            <a:avLst/>
          </a:prstGeom>
          <a:noFill/>
          <a:ln/>
        </p:spPr>
        <p:txBody>
          <a:bodyPr wrap="square" lIns="0" tIns="0" rIns="0" bIns="0" rtlCol="0" anchor="t"/>
          <a:lstStyle/>
          <a:p>
            <a:pPr marL="127000" indent="-127000">
              <a:spcAft>
                <a:spcPts val="300"/>
              </a:spcAft>
              <a:buSzPct val="100000"/>
              <a:buChar char="■"/>
            </a:pPr>
            <a:r>
              <a:rPr lang="en-US" sz="800" dirty="0">
                <a:solidFill>
                  <a:srgbClr val="FFFFFF"/>
                </a:solidFill>
                <a:latin typeface="Meiryo" pitchFamily="34" charset="0"/>
                <a:ea typeface="Meiryo" pitchFamily="34" charset="-122"/>
                <a:cs typeface="Meiryo" pitchFamily="34" charset="-120"/>
              </a:rPr>
              <a:t>検証レポート（参加学生の属性・反応・選考進捗）</a:t>
            </a:r>
            <a:endParaRPr lang="en-US" sz="800" dirty="0"/>
          </a:p>
          <a:p>
            <a:pPr marL="127000" indent="-127000">
              <a:spcAft>
                <a:spcPts val="300"/>
              </a:spcAft>
              <a:buSzPct val="100000"/>
              <a:buChar char="■"/>
            </a:pPr>
            <a:r>
              <a:rPr lang="en-US" sz="800" dirty="0">
                <a:solidFill>
                  <a:srgbClr val="FFFFFF"/>
                </a:solidFill>
                <a:latin typeface="Meiryo" pitchFamily="34" charset="0"/>
                <a:ea typeface="Meiryo" pitchFamily="34" charset="-122"/>
                <a:cs typeface="Meiryo" pitchFamily="34" charset="-120"/>
              </a:rPr>
              <a:t>文系総合職向けの打ち出しメッセージ案</a:t>
            </a:r>
            <a:endParaRPr lang="en-US" sz="800" dirty="0"/>
          </a:p>
          <a:p>
            <a:pPr marL="127000" indent="-127000">
              <a:spcAft>
                <a:spcPts val="300"/>
              </a:spcAft>
              <a:buSzPct val="100000"/>
              <a:buChar char="■"/>
            </a:pPr>
            <a:r>
              <a:rPr lang="en-US" sz="800" dirty="0">
                <a:solidFill>
                  <a:srgbClr val="FFFFFF"/>
                </a:solidFill>
                <a:latin typeface="Meiryo" pitchFamily="34" charset="0"/>
                <a:ea typeface="Meiryo" pitchFamily="34" charset="-122"/>
                <a:cs typeface="Meiryo" pitchFamily="34" charset="-120"/>
              </a:rPr>
              <a:t>企画タイトル案（3案程度）</a:t>
            </a:r>
            <a:endParaRPr lang="en-US" sz="800" dirty="0"/>
          </a:p>
          <a:p>
            <a:pPr marL="127000" indent="-127000">
              <a:spcAft>
                <a:spcPts val="300"/>
              </a:spcAft>
              <a:buSzPct val="100000"/>
              <a:buChar char="■"/>
            </a:pPr>
            <a:r>
              <a:rPr lang="en-US" sz="800" dirty="0">
                <a:solidFill>
                  <a:srgbClr val="FFFFFF"/>
                </a:solidFill>
                <a:latin typeface="Meiryo" pitchFamily="34" charset="0"/>
                <a:ea typeface="Meiryo" pitchFamily="34" charset="-122"/>
                <a:cs typeface="Meiryo" pitchFamily="34" charset="-120"/>
              </a:rPr>
              <a:t>29卒・30卒 年間の接点設計（ドラフト）</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11｜PRICING</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STEP 1 は成果報酬のみ。着手金はいただきません</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現在ご利用の人材紹介と同水準の単価で、まず「この層に会えるのか」を試していただきます。</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12</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8046720" cy="914400"/>
        </p:xfrm>
        <a:graphic>
          <a:graphicData uri="http://schemas.openxmlformats.org/drawingml/2006/table">
            <a:tbl>
              <a:tblPr/>
              <a:tblGrid>
                <a:gridCol w="1463040"/>
                <a:gridCol w="4206240"/>
                <a:gridCol w="2377440"/>
              </a:tblGrid>
              <a:tr h="0">
                <a:tc>
                  <a:txBody>
                    <a:bodyPr/>
                    <a:lstStyle/>
                    <a:p>
                      <a:pPr indent="0" marL="0">
                        <a:buNone/>
                      </a:pPr>
                      <a:r>
                        <a:rPr lang="en-US" sz="800" b="1" dirty="0">
                          <a:solidFill>
                            <a:srgbClr val="FFFFFF"/>
                          </a:solidFill>
                          <a:latin typeface="Meiryo" pitchFamily="34" charset="0"/>
                          <a:ea typeface="Meiryo" pitchFamily="34" charset="-122"/>
                          <a:cs typeface="Meiryo" pitchFamily="34" charset="-120"/>
                        </a:rPr>
                        <a:t>項目</a:t>
                      </a:r>
                      <a:endParaRPr lang="en-US" sz="800" dirty="0">
                        <a:latin typeface="Meiryo" charset="0"/>
                        <a:ea typeface="Meiryo" charset="0"/>
                        <a:cs typeface="Meiryo" charset="0"/>
                      </a:endParaRPr>
                    </a:p>
                  </a:txBody>
                  <a:tcPr marL="73152" marR="73152" marT="73152" marB="7315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solidFill>
                      <a:srgbClr val="2C2C2C"/>
                    </a:solidFill>
                  </a:tcPr>
                </a:tc>
                <a:tc>
                  <a:txBody>
                    <a:bodyPr/>
                    <a:lstStyle/>
                    <a:p>
                      <a:pPr indent="0" marL="0">
                        <a:buNone/>
                      </a:pPr>
                      <a:r>
                        <a:rPr lang="en-US" sz="800" b="1" dirty="0">
                          <a:solidFill>
                            <a:srgbClr val="FFFFFF"/>
                          </a:solidFill>
                          <a:latin typeface="Meiryo" pitchFamily="34" charset="0"/>
                          <a:ea typeface="Meiryo" pitchFamily="34" charset="-122"/>
                          <a:cs typeface="Meiryo" pitchFamily="34" charset="-120"/>
                        </a:rPr>
                        <a:t>内容</a:t>
                      </a:r>
                      <a:endParaRPr lang="en-US" sz="800" dirty="0">
                        <a:latin typeface="Meiryo" charset="0"/>
                        <a:ea typeface="Meiryo" charset="0"/>
                        <a:cs typeface="Meiryo" charset="0"/>
                      </a:endParaRPr>
                    </a:p>
                  </a:txBody>
                  <a:tcPr marL="73152" marR="73152" marT="73152" marB="7315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solidFill>
                      <a:srgbClr val="2C2C2C"/>
                    </a:solidFill>
                  </a:tcPr>
                </a:tc>
                <a:tc>
                  <a:txBody>
                    <a:bodyPr/>
                    <a:lstStyle/>
                    <a:p>
                      <a:pPr indent="0" marL="0">
                        <a:buNone/>
                      </a:pPr>
                      <a:r>
                        <a:rPr lang="en-US" sz="800" b="1" dirty="0">
                          <a:solidFill>
                            <a:srgbClr val="FFFFFF"/>
                          </a:solidFill>
                          <a:latin typeface="Meiryo" pitchFamily="34" charset="0"/>
                          <a:ea typeface="Meiryo" pitchFamily="34" charset="-122"/>
                          <a:cs typeface="Meiryo" pitchFamily="34" charset="-120"/>
                        </a:rPr>
                        <a:t>費用</a:t>
                      </a:r>
                      <a:endParaRPr lang="en-US" sz="800" dirty="0">
                        <a:latin typeface="Meiryo" charset="0"/>
                        <a:ea typeface="Meiryo" charset="0"/>
                        <a:cs typeface="Meiryo" charset="0"/>
                      </a:endParaRPr>
                    </a:p>
                  </a:txBody>
                  <a:tcPr marL="73152" marR="73152" marT="73152" marB="7315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solidFill>
                      <a:srgbClr val="2C2C2C"/>
                    </a:solidFill>
                  </a:tcPr>
                </a:tc>
              </a:tr>
              <a:tr h="0">
                <a:tc>
                  <a:txBody>
                    <a:bodyPr/>
                    <a:lstStyle/>
                    <a:p>
                      <a:pPr indent="0" marL="0">
                        <a:buNone/>
                      </a:pPr>
                      <a:r>
                        <a:rPr lang="en-US" sz="850" b="1" dirty="0">
                          <a:solidFill>
                            <a:srgbClr val="84300F"/>
                          </a:solidFill>
                          <a:latin typeface="Meiryo" pitchFamily="34" charset="0"/>
                          <a:ea typeface="Meiryo" pitchFamily="34" charset="-122"/>
                          <a:cs typeface="Meiryo" pitchFamily="34" charset="-120"/>
                        </a:rPr>
                        <a:t>成果報酬</a:t>
                      </a:r>
                      <a:endParaRPr lang="en-US" sz="850" dirty="0">
                        <a:latin typeface="Meiryo" charset="0"/>
                        <a:ea typeface="Meiryo" charset="0"/>
                        <a:cs typeface="Meiryo" charset="0"/>
                      </a:endParaRPr>
                    </a:p>
                  </a:txBody>
                  <a:tcPr marL="73152" marR="73152" marT="73152" marB="7315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solidFill>
                      <a:srgbClr val="FDF1E6"/>
                    </a:solidFill>
                  </a:tcPr>
                </a:tc>
                <a:tc>
                  <a:txBody>
                    <a:bodyPr/>
                    <a:lstStyle/>
                    <a:p>
                      <a:pPr indent="0" marL="0">
                        <a:buNone/>
                      </a:pPr>
                      <a:r>
                        <a:rPr lang="en-US" sz="850" dirty="0">
                          <a:solidFill>
                            <a:srgbClr val="222222"/>
                          </a:solidFill>
                          <a:latin typeface="Meiryo" pitchFamily="34" charset="0"/>
                          <a:ea typeface="Meiryo" pitchFamily="34" charset="-122"/>
                          <a:cs typeface="Meiryo" pitchFamily="34" charset="-120"/>
                        </a:rPr>
                        <a:t>Social Act Careerが送客した学生の内定承諾1名につき</a:t>
                      </a:r>
                      <a:endParaRPr lang="en-US" sz="850" dirty="0">
                        <a:latin typeface="Meiryo" charset="0"/>
                        <a:ea typeface="Meiryo" charset="0"/>
                        <a:cs typeface="Meiryo" charset="0"/>
                      </a:endParaRPr>
                    </a:p>
                  </a:txBody>
                  <a:tcPr marL="73152" marR="73152" marT="73152" marB="7315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solidFill>
                      <a:srgbClr val="FDF1E6"/>
                    </a:solidFill>
                  </a:tcPr>
                </a:tc>
                <a:tc>
                  <a:txBody>
                    <a:bodyPr/>
                    <a:lstStyle/>
                    <a:p>
                      <a:pPr indent="0" marL="0">
                        <a:buNone/>
                      </a:pPr>
                      <a:r>
                        <a:rPr lang="en-US" sz="850" b="1" dirty="0">
                          <a:solidFill>
                            <a:srgbClr val="B65124"/>
                          </a:solidFill>
                          <a:latin typeface="Meiryo" pitchFamily="34" charset="0"/>
                          <a:ea typeface="Meiryo" pitchFamily="34" charset="-122"/>
                          <a:cs typeface="Meiryo" pitchFamily="34" charset="-120"/>
                        </a:rPr>
                        <a:t>80〜90万円／名（目安）</a:t>
                      </a:r>
                      <a:endParaRPr lang="en-US" sz="850" dirty="0">
                        <a:latin typeface="Meiryo" charset="0"/>
                        <a:ea typeface="Meiryo" charset="0"/>
                        <a:cs typeface="Meiryo" charset="0"/>
                      </a:endParaRPr>
                    </a:p>
                  </a:txBody>
                  <a:tcPr marL="73152" marR="73152" marT="73152" marB="7315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solidFill>
                      <a:srgbClr val="FDF1E6"/>
                    </a:solidFill>
                  </a:tcPr>
                </a:tc>
              </a:tr>
              <a:tr h="0">
                <a:tc>
                  <a:txBody>
                    <a:bodyPr/>
                    <a:lstStyle/>
                    <a:p>
                      <a:pPr indent="0" marL="0">
                        <a:buNone/>
                      </a:pPr>
                      <a:r>
                        <a:rPr lang="en-US" sz="850" b="1" dirty="0">
                          <a:solidFill>
                            <a:srgbClr val="84300F"/>
                          </a:solidFill>
                          <a:latin typeface="Meiryo" pitchFamily="34" charset="0"/>
                          <a:ea typeface="Meiryo" pitchFamily="34" charset="-122"/>
                          <a:cs typeface="Meiryo" pitchFamily="34" charset="-120"/>
                        </a:rPr>
                        <a:t>検証プログラム</a:t>
                      </a:r>
                      <a:endParaRPr lang="en-US" sz="850" dirty="0">
                        <a:latin typeface="Meiryo" charset="0"/>
                        <a:ea typeface="Meiryo" charset="0"/>
                        <a:cs typeface="Meiryo" charset="0"/>
                      </a:endParaRPr>
                    </a:p>
                  </a:txBody>
                  <a:tcPr marL="73152" marR="73152" marT="73152" marB="7315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850" dirty="0">
                          <a:solidFill>
                            <a:srgbClr val="222222"/>
                          </a:solidFill>
                          <a:latin typeface="Meiryo" pitchFamily="34" charset="0"/>
                          <a:ea typeface="Meiryo" pitchFamily="34" charset="-122"/>
                          <a:cs typeface="Meiryo" pitchFamily="34" charset="-120"/>
                        </a:rPr>
                        <a:t>学生選定・声かけ、参加後インタビュー、検証レポート、29卒・30卒向け企画提案</a:t>
                      </a:r>
                      <a:endParaRPr lang="en-US" sz="850" dirty="0">
                        <a:latin typeface="Meiryo" charset="0"/>
                        <a:ea typeface="Meiryo" charset="0"/>
                        <a:cs typeface="Meiryo" charset="0"/>
                      </a:endParaRPr>
                    </a:p>
                  </a:txBody>
                  <a:tcPr marL="73152" marR="73152" marT="73152" marB="7315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850" dirty="0">
                          <a:solidFill>
                            <a:srgbClr val="222222"/>
                          </a:solidFill>
                          <a:latin typeface="Meiryo" pitchFamily="34" charset="0"/>
                          <a:ea typeface="Meiryo" pitchFamily="34" charset="-122"/>
                          <a:cs typeface="Meiryo" pitchFamily="34" charset="-120"/>
                        </a:rPr>
                        <a:t>STEP 1 は成果報酬に内包（初期費用なし）</a:t>
                      </a:r>
                      <a:endParaRPr lang="en-US" sz="850" dirty="0">
                        <a:latin typeface="Meiryo" charset="0"/>
                        <a:ea typeface="Meiryo" charset="0"/>
                        <a:cs typeface="Meiryo" charset="0"/>
                      </a:endParaRPr>
                    </a:p>
                  </a:txBody>
                  <a:tcPr marL="73152" marR="73152" marT="73152" marB="7315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850" b="1" dirty="0">
                          <a:solidFill>
                            <a:srgbClr val="84300F"/>
                          </a:solidFill>
                          <a:latin typeface="Meiryo" pitchFamily="34" charset="0"/>
                          <a:ea typeface="Meiryo" pitchFamily="34" charset="-122"/>
                          <a:cs typeface="Meiryo" pitchFamily="34" charset="-120"/>
                        </a:rPr>
                        <a:t>STEP 2</a:t>
                      </a:r>
                      <a:endParaRPr lang="en-US" sz="850" dirty="0">
                        <a:latin typeface="Meiryo" charset="0"/>
                        <a:ea typeface="Meiryo" charset="0"/>
                        <a:cs typeface="Meiryo" charset="0"/>
                      </a:endParaRPr>
                    </a:p>
                  </a:txBody>
                  <a:tcPr marL="73152" marR="73152" marT="73152" marB="7315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850" dirty="0">
                          <a:solidFill>
                            <a:srgbClr val="222222"/>
                          </a:solidFill>
                          <a:latin typeface="Meiryo" pitchFamily="34" charset="0"/>
                          <a:ea typeface="Meiryo" pitchFamily="34" charset="-122"/>
                          <a:cs typeface="Meiryo" pitchFamily="34" charset="-120"/>
                        </a:rPr>
                        <a:t>1・2年生向け選抜型プログラム、報告会、発信コンテンツなど</a:t>
                      </a:r>
                      <a:endParaRPr lang="en-US" sz="850" dirty="0">
                        <a:latin typeface="Meiryo" charset="0"/>
                        <a:ea typeface="Meiryo" charset="0"/>
                        <a:cs typeface="Meiryo" charset="0"/>
                      </a:endParaRPr>
                    </a:p>
                  </a:txBody>
                  <a:tcPr marL="73152" marR="73152" marT="73152" marB="7315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850" dirty="0">
                          <a:solidFill>
                            <a:srgbClr val="222222"/>
                          </a:solidFill>
                          <a:latin typeface="Meiryo" pitchFamily="34" charset="0"/>
                          <a:ea typeface="Meiryo" pitchFamily="34" charset="-122"/>
                          <a:cs typeface="Meiryo" pitchFamily="34" charset="-120"/>
                        </a:rPr>
                        <a:t>検証結果をもとに別途お見積り</a:t>
                      </a:r>
                      <a:endParaRPr lang="en-US" sz="850" dirty="0">
                        <a:latin typeface="Meiryo" charset="0"/>
                        <a:ea typeface="Meiryo" charset="0"/>
                        <a:cs typeface="Meiryo" charset="0"/>
                      </a:endParaRPr>
                    </a:p>
                  </a:txBody>
                  <a:tcPr marL="73152" marR="73152" marT="73152" marB="73152"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bl>
          </a:graphicData>
        </a:graphic>
      </p:graphicFrame>
      <p:sp>
        <p:nvSpPr>
          <p:cNvPr id="9" name="Shape 5"/>
          <p:cNvSpPr/>
          <p:nvPr/>
        </p:nvSpPr>
        <p:spPr>
          <a:xfrm>
            <a:off x="548640" y="3063240"/>
            <a:ext cx="3931920" cy="1051560"/>
          </a:xfrm>
          <a:prstGeom prst="rect">
            <a:avLst/>
          </a:prstGeom>
          <a:solidFill>
            <a:srgbClr val="FFFFFF"/>
          </a:solidFill>
          <a:ln w="12700">
            <a:solidFill>
              <a:srgbClr val="FFFFFF"/>
            </a:solidFill>
            <a:prstDash val="solid"/>
          </a:ln>
        </p:spPr>
      </p:sp>
      <p:sp>
        <p:nvSpPr>
          <p:cNvPr id="10" name="Shape 6"/>
          <p:cNvSpPr/>
          <p:nvPr/>
        </p:nvSpPr>
        <p:spPr>
          <a:xfrm>
            <a:off x="548640" y="3063240"/>
            <a:ext cx="3931920" cy="41148"/>
          </a:xfrm>
          <a:prstGeom prst="rect">
            <a:avLst/>
          </a:prstGeom>
          <a:solidFill>
            <a:srgbClr val="FF7611"/>
          </a:solidFill>
          <a:ln w="12700">
            <a:solidFill>
              <a:srgbClr val="FF7611"/>
            </a:solidFill>
            <a:prstDash val="solid"/>
          </a:ln>
        </p:spPr>
      </p:sp>
      <p:sp>
        <p:nvSpPr>
          <p:cNvPr id="11" name="Text 7"/>
          <p:cNvSpPr txBox="1"/>
          <p:nvPr/>
        </p:nvSpPr>
        <p:spPr>
          <a:xfrm>
            <a:off x="731520" y="3200400"/>
            <a:ext cx="3566160" cy="228600"/>
          </a:xfrm>
          <a:prstGeom prst="rect">
            <a:avLst/>
          </a:prstGeom>
          <a:noFill/>
          <a:ln/>
        </p:spPr>
        <p:txBody>
          <a:bodyPr wrap="square" lIns="0" tIns="0" rIns="0" bIns="0" rtlCol="0" anchor="t"/>
          <a:lstStyle/>
          <a:p>
            <a:pPr algn="l" indent="0" marL="0">
              <a:buNone/>
            </a:pPr>
            <a:r>
              <a:rPr lang="en-US" sz="900" b="1" dirty="0">
                <a:solidFill>
                  <a:srgbClr val="222222"/>
                </a:solidFill>
                <a:latin typeface="Meiryo" pitchFamily="34" charset="0"/>
                <a:ea typeface="Meiryo" pitchFamily="34" charset="-122"/>
                <a:cs typeface="Meiryo" pitchFamily="34" charset="-120"/>
              </a:rPr>
              <a:t>この形にした理由</a:t>
            </a:r>
            <a:endParaRPr lang="en-US" sz="900" dirty="0"/>
          </a:p>
        </p:txBody>
      </p:sp>
      <p:sp>
        <p:nvSpPr>
          <p:cNvPr id="12" name="Text 8"/>
          <p:cNvSpPr txBox="1"/>
          <p:nvPr/>
        </p:nvSpPr>
        <p:spPr>
          <a:xfrm>
            <a:off x="731520" y="3447288"/>
            <a:ext cx="3566160" cy="640080"/>
          </a:xfrm>
          <a:prstGeom prst="rect">
            <a:avLst/>
          </a:prstGeom>
          <a:noFill/>
          <a:ln/>
        </p:spPr>
        <p:txBody>
          <a:bodyPr wrap="square" lIns="0" tIns="0" rIns="0" bIns="0" rtlCol="0" anchor="t"/>
          <a:lstStyle/>
          <a:p>
            <a:pPr algn="l" indent="0" marL="0">
              <a:lnSpc>
                <a:spcPct val="135000"/>
              </a:lnSpc>
              <a:buNone/>
            </a:pPr>
            <a:r>
              <a:rPr lang="en-US" sz="750" dirty="0">
                <a:solidFill>
                  <a:srgbClr val="666666"/>
                </a:solidFill>
                <a:latin typeface="Meiryo" pitchFamily="34" charset="0"/>
                <a:ea typeface="Meiryo" pitchFamily="34" charset="-122"/>
                <a:cs typeface="Meiryo" pitchFamily="34" charset="-120"/>
              </a:rPr>
              <a:t>現在ご利用の人材紹介と同水準の単価にそろえ、成果が出なければ費用が発生しない形にすることで、まず「この層に会えるのか」をリスクなく試していただきたいと考えています。</a:t>
            </a:r>
            <a:endParaRPr lang="en-US" sz="750" dirty="0"/>
          </a:p>
        </p:txBody>
      </p:sp>
      <p:sp>
        <p:nvSpPr>
          <p:cNvPr id="13" name="Shape 9"/>
          <p:cNvSpPr/>
          <p:nvPr/>
        </p:nvSpPr>
        <p:spPr>
          <a:xfrm>
            <a:off x="4663440" y="3063240"/>
            <a:ext cx="3931920" cy="1051560"/>
          </a:xfrm>
          <a:prstGeom prst="rect">
            <a:avLst/>
          </a:prstGeom>
          <a:solidFill>
            <a:srgbClr val="FFFFFF"/>
          </a:solidFill>
          <a:ln w="12700">
            <a:solidFill>
              <a:srgbClr val="FFFFFF"/>
            </a:solidFill>
            <a:prstDash val="solid"/>
          </a:ln>
        </p:spPr>
      </p:sp>
      <p:sp>
        <p:nvSpPr>
          <p:cNvPr id="14" name="Shape 10"/>
          <p:cNvSpPr/>
          <p:nvPr/>
        </p:nvSpPr>
        <p:spPr>
          <a:xfrm>
            <a:off x="4663440" y="3063240"/>
            <a:ext cx="3931920" cy="41148"/>
          </a:xfrm>
          <a:prstGeom prst="rect">
            <a:avLst/>
          </a:prstGeom>
          <a:solidFill>
            <a:srgbClr val="DDDCD4"/>
          </a:solidFill>
          <a:ln w="12700">
            <a:solidFill>
              <a:srgbClr val="DDDCD4"/>
            </a:solidFill>
            <a:prstDash val="solid"/>
          </a:ln>
        </p:spPr>
      </p:sp>
      <p:sp>
        <p:nvSpPr>
          <p:cNvPr id="15" name="Text 11"/>
          <p:cNvSpPr txBox="1"/>
          <p:nvPr/>
        </p:nvSpPr>
        <p:spPr>
          <a:xfrm>
            <a:off x="4846320" y="3200400"/>
            <a:ext cx="3566160" cy="228600"/>
          </a:xfrm>
          <a:prstGeom prst="rect">
            <a:avLst/>
          </a:prstGeom>
          <a:noFill/>
          <a:ln/>
        </p:spPr>
        <p:txBody>
          <a:bodyPr wrap="square" lIns="0" tIns="0" rIns="0" bIns="0" rtlCol="0" anchor="t"/>
          <a:lstStyle/>
          <a:p>
            <a:pPr algn="l" indent="0" marL="0">
              <a:buNone/>
            </a:pPr>
            <a:r>
              <a:rPr lang="en-US" sz="900" b="1" dirty="0">
                <a:solidFill>
                  <a:srgbClr val="222222"/>
                </a:solidFill>
                <a:latin typeface="Meiryo" pitchFamily="34" charset="0"/>
                <a:ea typeface="Meiryo" pitchFamily="34" charset="-122"/>
                <a:cs typeface="Meiryo" pitchFamily="34" charset="-120"/>
              </a:rPr>
              <a:t>次回すり合わせたい点</a:t>
            </a:r>
            <a:endParaRPr lang="en-US" sz="900" dirty="0"/>
          </a:p>
        </p:txBody>
      </p:sp>
      <p:sp>
        <p:nvSpPr>
          <p:cNvPr id="16" name="Text 12"/>
          <p:cNvSpPr txBox="1"/>
          <p:nvPr/>
        </p:nvSpPr>
        <p:spPr>
          <a:xfrm>
            <a:off x="4846320" y="3447288"/>
            <a:ext cx="3566160" cy="640080"/>
          </a:xfrm>
          <a:prstGeom prst="rect">
            <a:avLst/>
          </a:prstGeom>
          <a:noFill/>
          <a:ln/>
        </p:spPr>
        <p:txBody>
          <a:bodyPr wrap="square" lIns="0" tIns="0" rIns="0" bIns="0" rtlCol="0" anchor="t"/>
          <a:lstStyle/>
          <a:p>
            <a:pPr algn="l" indent="0" marL="0">
              <a:lnSpc>
                <a:spcPct val="135000"/>
              </a:lnSpc>
              <a:buNone/>
            </a:pPr>
            <a:r>
              <a:rPr lang="en-US" sz="750" dirty="0">
                <a:solidFill>
                  <a:srgbClr val="666666"/>
                </a:solidFill>
                <a:latin typeface="Meiryo" pitchFamily="34" charset="0"/>
                <a:ea typeface="Meiryo" pitchFamily="34" charset="-122"/>
                <a:cs typeface="Meiryo" pitchFamily="34" charset="-120"/>
              </a:rPr>
              <a:t>単価の確定、成果の定義（内定承諾の時点）、送客した学生が他経路で応募した場合の扱い。いずれも次回のお打ち合わせで確認させてください。</a:t>
            </a:r>
            <a:endParaRPr lang="en-US" sz="750" dirty="0"/>
          </a:p>
        </p:txBody>
      </p:sp>
      <p:sp>
        <p:nvSpPr>
          <p:cNvPr id="17" name="Shape 13"/>
          <p:cNvSpPr/>
          <p:nvPr/>
        </p:nvSpPr>
        <p:spPr>
          <a:xfrm>
            <a:off x="548640" y="4297680"/>
            <a:ext cx="8046720" cy="457200"/>
          </a:xfrm>
          <a:prstGeom prst="rect">
            <a:avLst/>
          </a:prstGeom>
          <a:solidFill>
            <a:srgbClr val="FFFFFF"/>
          </a:solidFill>
          <a:ln w="15875">
            <a:solidFill>
              <a:srgbClr val="FF7611"/>
            </a:solidFill>
            <a:prstDash val="solid"/>
          </a:ln>
        </p:spPr>
      </p:sp>
      <p:sp>
        <p:nvSpPr>
          <p:cNvPr id="18" name="Text 14"/>
          <p:cNvSpPr txBox="1"/>
          <p:nvPr/>
        </p:nvSpPr>
        <p:spPr>
          <a:xfrm>
            <a:off x="731520" y="4297680"/>
            <a:ext cx="7680960" cy="457200"/>
          </a:xfrm>
          <a:prstGeom prst="rect">
            <a:avLst/>
          </a:prstGeom>
          <a:noFill/>
          <a:ln/>
        </p:spPr>
        <p:txBody>
          <a:bodyPr wrap="square" lIns="0" tIns="0" rIns="0" bIns="0" rtlCol="0" anchor="ctr"/>
          <a:lstStyle/>
          <a:p>
            <a:pPr algn="ctr" indent="0" marL="0">
              <a:buNone/>
            </a:pPr>
            <a:r>
              <a:rPr lang="en-US" sz="1150" b="1" dirty="0">
                <a:solidFill>
                  <a:srgbClr val="B65124"/>
                </a:solidFill>
                <a:latin typeface="Meiryo" pitchFamily="34" charset="0"/>
                <a:ea typeface="Meiryo" pitchFamily="34" charset="-122"/>
                <a:cs typeface="Meiryo" pitchFamily="34" charset="-120"/>
              </a:rPr>
              <a:t>成果が出なければ費用は発生しません。検証の材料は、結果に関わらず貴社の手元に残ります。</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12｜NEXT YEAR</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29卒・30卒：出会う時期を1・2年生に前倒しする</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STEP 1 の検証結果をもとに、来年度の設計としてご提案する内容のイメージです。</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13</a:t>
            </a:r>
            <a:endParaRPr lang="en-US" sz="750" dirty="0"/>
          </a:p>
        </p:txBody>
      </p:sp>
      <p:sp>
        <p:nvSpPr>
          <p:cNvPr id="8" name="Shape 5"/>
          <p:cNvSpPr/>
          <p:nvPr/>
        </p:nvSpPr>
        <p:spPr>
          <a:xfrm>
            <a:off x="548640" y="1417320"/>
            <a:ext cx="4480560" cy="822960"/>
          </a:xfrm>
          <a:prstGeom prst="rect">
            <a:avLst/>
          </a:prstGeom>
          <a:solidFill>
            <a:srgbClr val="FFFFFF"/>
          </a:solidFill>
          <a:ln w="12700">
            <a:solidFill>
              <a:srgbClr val="FFFFFF"/>
            </a:solidFill>
            <a:prstDash val="solid"/>
          </a:ln>
        </p:spPr>
      </p:sp>
      <p:sp>
        <p:nvSpPr>
          <p:cNvPr id="9" name="Shape 6"/>
          <p:cNvSpPr/>
          <p:nvPr/>
        </p:nvSpPr>
        <p:spPr>
          <a:xfrm>
            <a:off x="713232" y="1545336"/>
            <a:ext cx="256032" cy="256032"/>
          </a:xfrm>
          <a:prstGeom prst="ellipse">
            <a:avLst/>
          </a:prstGeom>
          <a:solidFill>
            <a:srgbClr val="FF7611"/>
          </a:solidFill>
          <a:ln w="12700">
            <a:solidFill>
              <a:srgbClr val="FF7611"/>
            </a:solidFill>
            <a:prstDash val="solid"/>
          </a:ln>
        </p:spPr>
      </p:sp>
      <p:sp>
        <p:nvSpPr>
          <p:cNvPr id="10" name="Text 7"/>
          <p:cNvSpPr txBox="1"/>
          <p:nvPr/>
        </p:nvSpPr>
        <p:spPr>
          <a:xfrm>
            <a:off x="713232" y="15453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eiryo" pitchFamily="34" charset="0"/>
                <a:ea typeface="Meiryo" pitchFamily="34" charset="-122"/>
                <a:cs typeface="Meiryo" pitchFamily="34" charset="-120"/>
              </a:rPr>
              <a:t>1</a:t>
            </a:r>
            <a:endParaRPr lang="en-US" sz="900" dirty="0"/>
          </a:p>
        </p:txBody>
      </p:sp>
      <p:sp>
        <p:nvSpPr>
          <p:cNvPr id="11" name="Text 8"/>
          <p:cNvSpPr txBox="1"/>
          <p:nvPr/>
        </p:nvSpPr>
        <p:spPr>
          <a:xfrm>
            <a:off x="1097280" y="1527048"/>
            <a:ext cx="3749040" cy="228600"/>
          </a:xfrm>
          <a:prstGeom prst="rect">
            <a:avLst/>
          </a:prstGeom>
          <a:noFill/>
          <a:ln/>
        </p:spPr>
        <p:txBody>
          <a:bodyPr wrap="square" lIns="0" tIns="0" rIns="0" bIns="0" rtlCol="0" anchor="t"/>
          <a:lstStyle/>
          <a:p>
            <a:pPr algn="l" indent="0" marL="0">
              <a:buNone/>
            </a:pPr>
            <a:r>
              <a:rPr lang="en-US" sz="900" b="1" dirty="0">
                <a:solidFill>
                  <a:srgbClr val="84300F"/>
                </a:solidFill>
                <a:latin typeface="Meiryo" pitchFamily="34" charset="0"/>
                <a:ea typeface="Meiryo" pitchFamily="34" charset="-122"/>
                <a:cs typeface="Meiryo" pitchFamily="34" charset="-120"/>
              </a:rPr>
              <a:t>選抜型プログラムと報告会</a:t>
            </a:r>
            <a:endParaRPr lang="en-US" sz="900" dirty="0"/>
          </a:p>
        </p:txBody>
      </p:sp>
      <p:sp>
        <p:nvSpPr>
          <p:cNvPr id="12" name="Text 9"/>
          <p:cNvSpPr txBox="1"/>
          <p:nvPr/>
        </p:nvSpPr>
        <p:spPr>
          <a:xfrm>
            <a:off x="1097280" y="1755648"/>
            <a:ext cx="3749040" cy="457200"/>
          </a:xfrm>
          <a:prstGeom prst="rect">
            <a:avLst/>
          </a:prstGeom>
          <a:noFill/>
          <a:ln/>
        </p:spPr>
        <p:txBody>
          <a:bodyPr wrap="square" lIns="0" tIns="0" rIns="0" bIns="0" rtlCol="0" anchor="t"/>
          <a:lstStyle/>
          <a:p>
            <a:pPr algn="l" indent="0" marL="0">
              <a:lnSpc>
                <a:spcPct val="130000"/>
              </a:lnSpc>
              <a:buNone/>
            </a:pPr>
            <a:r>
              <a:rPr lang="en-US" sz="700" dirty="0">
                <a:solidFill>
                  <a:srgbClr val="666666"/>
                </a:solidFill>
                <a:latin typeface="Meiryo" pitchFamily="34" charset="0"/>
                <a:ea typeface="Meiryo" pitchFamily="34" charset="-122"/>
                <a:cs typeface="Meiryo" pitchFamily="34" charset="-120"/>
              </a:rPr>
              <a:t>例：遊休不動産や土地利用をテーマにした海外フィールドリサーチ（1週間程度）。選抜して実施し、その報告会で次の母集団を集める。採用と同時に「優秀な学生を増やす」活動にもなります。</a:t>
            </a:r>
            <a:endParaRPr lang="en-US" sz="700" dirty="0"/>
          </a:p>
        </p:txBody>
      </p:sp>
      <p:sp>
        <p:nvSpPr>
          <p:cNvPr id="13" name="Shape 10"/>
          <p:cNvSpPr/>
          <p:nvPr/>
        </p:nvSpPr>
        <p:spPr>
          <a:xfrm>
            <a:off x="548640" y="2331720"/>
            <a:ext cx="4480560" cy="822960"/>
          </a:xfrm>
          <a:prstGeom prst="rect">
            <a:avLst/>
          </a:prstGeom>
          <a:solidFill>
            <a:srgbClr val="FFFFFF"/>
          </a:solidFill>
          <a:ln w="12700">
            <a:solidFill>
              <a:srgbClr val="FFFFFF"/>
            </a:solidFill>
            <a:prstDash val="solid"/>
          </a:ln>
        </p:spPr>
      </p:sp>
      <p:sp>
        <p:nvSpPr>
          <p:cNvPr id="14" name="Shape 11"/>
          <p:cNvSpPr/>
          <p:nvPr/>
        </p:nvSpPr>
        <p:spPr>
          <a:xfrm>
            <a:off x="713232" y="2459736"/>
            <a:ext cx="256032" cy="256032"/>
          </a:xfrm>
          <a:prstGeom prst="ellipse">
            <a:avLst/>
          </a:prstGeom>
          <a:solidFill>
            <a:srgbClr val="FF7611"/>
          </a:solidFill>
          <a:ln w="12700">
            <a:solidFill>
              <a:srgbClr val="FF7611"/>
            </a:solidFill>
            <a:prstDash val="solid"/>
          </a:ln>
        </p:spPr>
      </p:sp>
      <p:sp>
        <p:nvSpPr>
          <p:cNvPr id="15" name="Text 12"/>
          <p:cNvSpPr txBox="1"/>
          <p:nvPr/>
        </p:nvSpPr>
        <p:spPr>
          <a:xfrm>
            <a:off x="713232" y="24597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eiryo" pitchFamily="34" charset="0"/>
                <a:ea typeface="Meiryo" pitchFamily="34" charset="-122"/>
                <a:cs typeface="Meiryo" pitchFamily="34" charset="-120"/>
              </a:rPr>
              <a:t>2</a:t>
            </a:r>
            <a:endParaRPr lang="en-US" sz="900" dirty="0"/>
          </a:p>
        </p:txBody>
      </p:sp>
      <p:sp>
        <p:nvSpPr>
          <p:cNvPr id="16" name="Text 13"/>
          <p:cNvSpPr txBox="1"/>
          <p:nvPr/>
        </p:nvSpPr>
        <p:spPr>
          <a:xfrm>
            <a:off x="1097280" y="2441448"/>
            <a:ext cx="3749040" cy="228600"/>
          </a:xfrm>
          <a:prstGeom prst="rect">
            <a:avLst/>
          </a:prstGeom>
          <a:noFill/>
          <a:ln/>
        </p:spPr>
        <p:txBody>
          <a:bodyPr wrap="square" lIns="0" tIns="0" rIns="0" bIns="0" rtlCol="0" anchor="t"/>
          <a:lstStyle/>
          <a:p>
            <a:pPr algn="l" indent="0" marL="0">
              <a:buNone/>
            </a:pPr>
            <a:r>
              <a:rPr lang="en-US" sz="900" b="1" dirty="0">
                <a:solidFill>
                  <a:srgbClr val="84300F"/>
                </a:solidFill>
                <a:latin typeface="Meiryo" pitchFamily="34" charset="0"/>
                <a:ea typeface="Meiryo" pitchFamily="34" charset="-122"/>
                <a:cs typeface="Meiryo" pitchFamily="34" charset="-120"/>
              </a:rPr>
              <a:t>入口の言葉を変える</a:t>
            </a:r>
            <a:endParaRPr lang="en-US" sz="900" dirty="0"/>
          </a:p>
        </p:txBody>
      </p:sp>
      <p:sp>
        <p:nvSpPr>
          <p:cNvPr id="17" name="Text 14"/>
          <p:cNvSpPr txBox="1"/>
          <p:nvPr/>
        </p:nvSpPr>
        <p:spPr>
          <a:xfrm>
            <a:off x="1097280" y="2670048"/>
            <a:ext cx="3749040" cy="457200"/>
          </a:xfrm>
          <a:prstGeom prst="rect">
            <a:avLst/>
          </a:prstGeom>
          <a:noFill/>
          <a:ln/>
        </p:spPr>
        <p:txBody>
          <a:bodyPr wrap="square" lIns="0" tIns="0" rIns="0" bIns="0" rtlCol="0" anchor="t"/>
          <a:lstStyle/>
          <a:p>
            <a:pPr algn="l" indent="0" marL="0">
              <a:lnSpc>
                <a:spcPct val="130000"/>
              </a:lnSpc>
              <a:buNone/>
            </a:pPr>
            <a:r>
              <a:rPr lang="en-US" sz="700" dirty="0">
                <a:solidFill>
                  <a:srgbClr val="666666"/>
                </a:solidFill>
                <a:latin typeface="Meiryo" pitchFamily="34" charset="0"/>
                <a:ea typeface="Meiryo" pitchFamily="34" charset="-122"/>
                <a:cs typeface="Meiryo" pitchFamily="34" charset="-120"/>
              </a:rPr>
              <a:t>「暮らし」「まち」「人生に伴走する」から入り、不動産・リノベーションという言葉は後から。業界イメージで線を引く前に、価値観で出会ってもらう企画タイトルを設計します。</a:t>
            </a:r>
            <a:endParaRPr lang="en-US" sz="700" dirty="0"/>
          </a:p>
        </p:txBody>
      </p:sp>
      <p:sp>
        <p:nvSpPr>
          <p:cNvPr id="18" name="Shape 15"/>
          <p:cNvSpPr/>
          <p:nvPr/>
        </p:nvSpPr>
        <p:spPr>
          <a:xfrm>
            <a:off x="548640" y="3246120"/>
            <a:ext cx="4480560" cy="822960"/>
          </a:xfrm>
          <a:prstGeom prst="rect">
            <a:avLst/>
          </a:prstGeom>
          <a:solidFill>
            <a:srgbClr val="FFFFFF"/>
          </a:solidFill>
          <a:ln w="12700">
            <a:solidFill>
              <a:srgbClr val="FFFFFF"/>
            </a:solidFill>
            <a:prstDash val="solid"/>
          </a:ln>
        </p:spPr>
      </p:sp>
      <p:sp>
        <p:nvSpPr>
          <p:cNvPr id="19" name="Shape 16"/>
          <p:cNvSpPr/>
          <p:nvPr/>
        </p:nvSpPr>
        <p:spPr>
          <a:xfrm>
            <a:off x="713232" y="3374136"/>
            <a:ext cx="256032" cy="256032"/>
          </a:xfrm>
          <a:prstGeom prst="ellipse">
            <a:avLst/>
          </a:prstGeom>
          <a:solidFill>
            <a:srgbClr val="FF7611"/>
          </a:solidFill>
          <a:ln w="12700">
            <a:solidFill>
              <a:srgbClr val="FF7611"/>
            </a:solidFill>
            <a:prstDash val="solid"/>
          </a:ln>
        </p:spPr>
      </p:sp>
      <p:sp>
        <p:nvSpPr>
          <p:cNvPr id="20" name="Text 17"/>
          <p:cNvSpPr txBox="1"/>
          <p:nvPr/>
        </p:nvSpPr>
        <p:spPr>
          <a:xfrm>
            <a:off x="713232" y="33741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eiryo" pitchFamily="34" charset="0"/>
                <a:ea typeface="Meiryo" pitchFamily="34" charset="-122"/>
                <a:cs typeface="Meiryo" pitchFamily="34" charset="-120"/>
              </a:rPr>
              <a:t>3</a:t>
            </a:r>
            <a:endParaRPr lang="en-US" sz="900" dirty="0"/>
          </a:p>
        </p:txBody>
      </p:sp>
      <p:sp>
        <p:nvSpPr>
          <p:cNvPr id="21" name="Text 18"/>
          <p:cNvSpPr txBox="1"/>
          <p:nvPr/>
        </p:nvSpPr>
        <p:spPr>
          <a:xfrm>
            <a:off x="1097280" y="3355848"/>
            <a:ext cx="3749040" cy="228600"/>
          </a:xfrm>
          <a:prstGeom prst="rect">
            <a:avLst/>
          </a:prstGeom>
          <a:noFill/>
          <a:ln/>
        </p:spPr>
        <p:txBody>
          <a:bodyPr wrap="square" lIns="0" tIns="0" rIns="0" bIns="0" rtlCol="0" anchor="t"/>
          <a:lstStyle/>
          <a:p>
            <a:pPr algn="l" indent="0" marL="0">
              <a:buNone/>
            </a:pPr>
            <a:r>
              <a:rPr lang="en-US" sz="900" b="1" dirty="0">
                <a:solidFill>
                  <a:srgbClr val="84300F"/>
                </a:solidFill>
                <a:latin typeface="Meiryo" pitchFamily="34" charset="0"/>
                <a:ea typeface="Meiryo" pitchFamily="34" charset="-122"/>
                <a:cs typeface="Meiryo" pitchFamily="34" charset="-120"/>
              </a:rPr>
              <a:t>ビジョンと現場の一貫性を見せる</a:t>
            </a:r>
            <a:endParaRPr lang="en-US" sz="900" dirty="0"/>
          </a:p>
        </p:txBody>
      </p:sp>
      <p:sp>
        <p:nvSpPr>
          <p:cNvPr id="22" name="Text 19"/>
          <p:cNvSpPr txBox="1"/>
          <p:nvPr/>
        </p:nvSpPr>
        <p:spPr>
          <a:xfrm>
            <a:off x="1097280" y="3584448"/>
            <a:ext cx="3749040" cy="457200"/>
          </a:xfrm>
          <a:prstGeom prst="rect">
            <a:avLst/>
          </a:prstGeom>
          <a:noFill/>
          <a:ln/>
        </p:spPr>
        <p:txBody>
          <a:bodyPr wrap="square" lIns="0" tIns="0" rIns="0" bIns="0" rtlCol="0" anchor="t"/>
          <a:lstStyle/>
          <a:p>
            <a:pPr algn="l" indent="0" marL="0">
              <a:lnSpc>
                <a:spcPct val="130000"/>
              </a:lnSpc>
              <a:buNone/>
            </a:pPr>
            <a:r>
              <a:rPr lang="en-US" sz="700" dirty="0">
                <a:solidFill>
                  <a:srgbClr val="666666"/>
                </a:solidFill>
                <a:latin typeface="Meiryo" pitchFamily="34" charset="0"/>
                <a:ea typeface="Meiryo" pitchFamily="34" charset="-122"/>
                <a:cs typeface="Meiryo" pitchFamily="34" charset="-120"/>
              </a:rPr>
              <a:t>学生は表の情報と内情が一致しているかを見ています。社員・OBOGが自分の言葉でミッションを語る記事（note等）を増やし、早期接点が疑念に変わらないようにします。</a:t>
            </a:r>
            <a:endParaRPr lang="en-US" sz="700" dirty="0"/>
          </a:p>
        </p:txBody>
      </p:sp>
      <p:sp>
        <p:nvSpPr>
          <p:cNvPr id="23" name="Shape 20"/>
          <p:cNvSpPr/>
          <p:nvPr/>
        </p:nvSpPr>
        <p:spPr>
          <a:xfrm>
            <a:off x="5303520" y="1417320"/>
            <a:ext cx="3291840" cy="1188720"/>
          </a:xfrm>
          <a:prstGeom prst="rect">
            <a:avLst/>
          </a:prstGeom>
          <a:solidFill>
            <a:srgbClr val="FFFFFF"/>
          </a:solidFill>
          <a:ln w="12700">
            <a:solidFill>
              <a:srgbClr val="FF7611"/>
            </a:solidFill>
            <a:prstDash val="solid"/>
          </a:ln>
        </p:spPr>
      </p:sp>
      <p:sp>
        <p:nvSpPr>
          <p:cNvPr id="24" name="Text 21"/>
          <p:cNvSpPr txBox="1"/>
          <p:nvPr/>
        </p:nvSpPr>
        <p:spPr>
          <a:xfrm>
            <a:off x="5440680" y="1508760"/>
            <a:ext cx="3017520" cy="822960"/>
          </a:xfrm>
          <a:prstGeom prst="rect">
            <a:avLst/>
          </a:prstGeom>
          <a:noFill/>
          <a:ln/>
        </p:spPr>
        <p:txBody>
          <a:bodyPr wrap="square" lIns="0" tIns="0" rIns="0" bIns="0" rtlCol="0" anchor="t"/>
          <a:lstStyle/>
          <a:p>
            <a:pPr algn="l" indent="0" marL="0">
              <a:lnSpc>
                <a:spcPct val="135000"/>
              </a:lnSpc>
              <a:buNone/>
            </a:pPr>
            <a:r>
              <a:rPr lang="en-US" sz="750" dirty="0">
                <a:solidFill>
                  <a:srgbClr val="222222"/>
                </a:solidFill>
                <a:latin typeface="Meiryo" pitchFamily="34" charset="0"/>
                <a:ea typeface="Meiryo" pitchFamily="34" charset="-122"/>
                <a:cs typeface="Meiryo" pitchFamily="34" charset="-120"/>
              </a:rPr>
              <a:t>「なんで決めたのか。働くイメージが湧くかどうか。この会社で働きたいと思ったか。同期のメンバーとの仲の良さ、組織の雰囲気。最終はそこで決めている学生が多い。」</a:t>
            </a:r>
            <a:endParaRPr lang="en-US" sz="750" dirty="0"/>
          </a:p>
        </p:txBody>
      </p:sp>
      <p:sp>
        <p:nvSpPr>
          <p:cNvPr id="25" name="Text 22"/>
          <p:cNvSpPr txBox="1"/>
          <p:nvPr/>
        </p:nvSpPr>
        <p:spPr>
          <a:xfrm>
            <a:off x="5440680" y="2359152"/>
            <a:ext cx="3017520" cy="182880"/>
          </a:xfrm>
          <a:prstGeom prst="rect">
            <a:avLst/>
          </a:prstGeom>
          <a:noFill/>
          <a:ln/>
        </p:spPr>
        <p:txBody>
          <a:bodyPr wrap="square" lIns="0" tIns="0" rIns="0" bIns="0" rtlCol="0" anchor="t"/>
          <a:lstStyle/>
          <a:p>
            <a:pPr algn="l" indent="0" marL="0">
              <a:buNone/>
            </a:pPr>
            <a:r>
              <a:rPr lang="en-US" sz="650" dirty="0">
                <a:solidFill>
                  <a:srgbClr val="8C8C8C"/>
                </a:solidFill>
                <a:latin typeface="Meiryo" pitchFamily="34" charset="0"/>
                <a:ea typeface="Meiryo" pitchFamily="34" charset="-122"/>
                <a:cs typeface="Meiryo" pitchFamily="34" charset="-120"/>
              </a:rPr>
              <a:t>― Social Act Careerが最近ヒアリングした学生の傾向</a:t>
            </a:r>
            <a:endParaRPr lang="en-US" sz="650" dirty="0"/>
          </a:p>
        </p:txBody>
      </p:sp>
      <p:sp>
        <p:nvSpPr>
          <p:cNvPr id="26" name="Shape 23"/>
          <p:cNvSpPr/>
          <p:nvPr/>
        </p:nvSpPr>
        <p:spPr>
          <a:xfrm>
            <a:off x="5303520" y="2697480"/>
            <a:ext cx="3291840" cy="1371600"/>
          </a:xfrm>
          <a:prstGeom prst="rect">
            <a:avLst/>
          </a:prstGeom>
          <a:solidFill>
            <a:srgbClr val="2C2C2C"/>
          </a:solidFill>
          <a:ln w="12700">
            <a:solidFill>
              <a:srgbClr val="2C2C2C"/>
            </a:solidFill>
            <a:prstDash val="solid"/>
          </a:ln>
        </p:spPr>
      </p:sp>
      <p:sp>
        <p:nvSpPr>
          <p:cNvPr id="27" name="Text 24"/>
          <p:cNvSpPr txBox="1"/>
          <p:nvPr/>
        </p:nvSpPr>
        <p:spPr>
          <a:xfrm>
            <a:off x="5486400" y="2807208"/>
            <a:ext cx="2926080" cy="228600"/>
          </a:xfrm>
          <a:prstGeom prst="rect">
            <a:avLst/>
          </a:prstGeom>
          <a:noFill/>
          <a:ln/>
        </p:spPr>
        <p:txBody>
          <a:bodyPr wrap="square" lIns="0" tIns="0" rIns="0" bIns="0" rtlCol="0" anchor="t"/>
          <a:lstStyle/>
          <a:p>
            <a:pPr algn="l" indent="0" marL="0">
              <a:buNone/>
            </a:pPr>
            <a:r>
              <a:rPr lang="en-US" sz="950" b="1" dirty="0">
                <a:solidFill>
                  <a:srgbClr val="FF7611"/>
                </a:solidFill>
                <a:latin typeface="Meiryo" pitchFamily="34" charset="0"/>
                <a:ea typeface="Meiryo" pitchFamily="34" charset="-122"/>
                <a:cs typeface="Meiryo" pitchFamily="34" charset="-120"/>
              </a:rPr>
              <a:t>リノベルの選考は、すでに強い</a:t>
            </a:r>
            <a:endParaRPr lang="en-US" sz="950" dirty="0"/>
          </a:p>
        </p:txBody>
      </p:sp>
      <p:sp>
        <p:nvSpPr>
          <p:cNvPr id="28" name="Text 25"/>
          <p:cNvSpPr txBox="1"/>
          <p:nvPr/>
        </p:nvSpPr>
        <p:spPr>
          <a:xfrm>
            <a:off x="5486400" y="3063240"/>
            <a:ext cx="2926080" cy="960120"/>
          </a:xfrm>
          <a:prstGeom prst="rect">
            <a:avLst/>
          </a:prstGeom>
          <a:noFill/>
          <a:ln/>
        </p:spPr>
        <p:txBody>
          <a:bodyPr wrap="square" lIns="0" tIns="0" rIns="0" bIns="0" rtlCol="0" anchor="t"/>
          <a:lstStyle/>
          <a:p>
            <a:pPr algn="l" indent="0" marL="0">
              <a:lnSpc>
                <a:spcPct val="135000"/>
              </a:lnSpc>
              <a:buNone/>
            </a:pPr>
            <a:r>
              <a:rPr lang="en-US" sz="750" dirty="0">
                <a:solidFill>
                  <a:srgbClr val="FFFFFF"/>
                </a:solidFill>
                <a:latin typeface="Meiryo" pitchFamily="34" charset="0"/>
                <a:ea typeface="Meiryo" pitchFamily="34" charset="-122"/>
                <a:cs typeface="Meiryo" pitchFamily="34" charset="-120"/>
              </a:rPr>
              <a:t>二次以降の人事メンターの伴走、社員面談、カウンセリング型の役員面接。学生が最終的に1社を決める理由に、そのまま応えている設計です。これを1・2年生の段階に前倒しすることが、STEP 2 の核になります。</a:t>
            </a:r>
            <a:endParaRPr lang="en-US" sz="750" dirty="0"/>
          </a:p>
        </p:txBody>
      </p:sp>
      <p:sp>
        <p:nvSpPr>
          <p:cNvPr id="29" name="Shape 26"/>
          <p:cNvSpPr/>
          <p:nvPr/>
        </p:nvSpPr>
        <p:spPr>
          <a:xfrm>
            <a:off x="548640" y="4206240"/>
            <a:ext cx="8046720" cy="457200"/>
          </a:xfrm>
          <a:prstGeom prst="rect">
            <a:avLst/>
          </a:prstGeom>
          <a:solidFill>
            <a:srgbClr val="84300F"/>
          </a:solidFill>
          <a:ln w="12700">
            <a:solidFill>
              <a:srgbClr val="84300F"/>
            </a:solidFill>
            <a:prstDash val="solid"/>
          </a:ln>
        </p:spPr>
      </p:sp>
      <p:sp>
        <p:nvSpPr>
          <p:cNvPr id="30" name="Text 27"/>
          <p:cNvSpPr txBox="1"/>
          <p:nvPr/>
        </p:nvSpPr>
        <p:spPr>
          <a:xfrm>
            <a:off x="731520" y="4206240"/>
            <a:ext cx="76809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「ピーク時に次年度を仕込む」構造を、通年の接点に置き換え、毎年ゼロからの採用を終わらせる。</a:t>
            </a:r>
            <a:endParaRPr lang="en-US" sz="1100" dirty="0"/>
          </a:p>
        </p:txBody>
      </p:sp>
      <p:sp>
        <p:nvSpPr>
          <p:cNvPr id="31" name="Text 28"/>
          <p:cNvSpPr txBox="1"/>
          <p:nvPr/>
        </p:nvSpPr>
        <p:spPr>
          <a:xfrm>
            <a:off x="548640" y="4709160"/>
            <a:ext cx="8046720" cy="182880"/>
          </a:xfrm>
          <a:prstGeom prst="rect">
            <a:avLst/>
          </a:prstGeom>
          <a:noFill/>
          <a:ln/>
        </p:spPr>
        <p:txBody>
          <a:bodyPr wrap="square" lIns="0" tIns="0" rIns="0" bIns="0" rtlCol="0" anchor="t"/>
          <a:lstStyle/>
          <a:p>
            <a:pPr algn="l" indent="0" marL="0">
              <a:buNone/>
            </a:pPr>
            <a:r>
              <a:rPr lang="en-US" sz="650" dirty="0">
                <a:solidFill>
                  <a:srgbClr val="8C8C8C"/>
                </a:solidFill>
                <a:latin typeface="Meiryo" pitchFamily="34" charset="0"/>
                <a:ea typeface="Meiryo" pitchFamily="34" charset="-122"/>
                <a:cs typeface="Meiryo" pitchFamily="34" charset="-120"/>
              </a:rPr>
              <a:t>参考：1・2年生の時点で就職活動を意識して動き始める学生は約4割（ナビ媒体の調査。次回、出典を添えてお持ちします）。ソーシャル領域で活動する学生は、さらに早い傾向があります。</a:t>
            </a:r>
            <a:endParaRPr lang="en-US" sz="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13｜NEXT MEETING</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6つ決まれば、9月中に学生への声かけを始められます</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次回のお打ち合わせで決めたいこと。</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14</a:t>
            </a:r>
            <a:endParaRPr lang="en-US" sz="750" dirty="0"/>
          </a:p>
        </p:txBody>
      </p:sp>
      <p:sp>
        <p:nvSpPr>
          <p:cNvPr id="8" name="Shape 5"/>
          <p:cNvSpPr/>
          <p:nvPr/>
        </p:nvSpPr>
        <p:spPr>
          <a:xfrm>
            <a:off x="548640" y="1417320"/>
            <a:ext cx="3931920" cy="777240"/>
          </a:xfrm>
          <a:prstGeom prst="rect">
            <a:avLst/>
          </a:prstGeom>
          <a:solidFill>
            <a:srgbClr val="FFFFFF"/>
          </a:solidFill>
          <a:ln w="12700">
            <a:solidFill>
              <a:srgbClr val="FFFFFF"/>
            </a:solidFill>
            <a:prstDash val="solid"/>
          </a:ln>
        </p:spPr>
      </p:sp>
      <p:sp>
        <p:nvSpPr>
          <p:cNvPr id="9" name="Shape 6"/>
          <p:cNvSpPr/>
          <p:nvPr/>
        </p:nvSpPr>
        <p:spPr>
          <a:xfrm>
            <a:off x="685800" y="1554480"/>
            <a:ext cx="365760" cy="365760"/>
          </a:xfrm>
          <a:prstGeom prst="rect">
            <a:avLst/>
          </a:prstGeom>
          <a:solidFill>
            <a:srgbClr val="FF7611"/>
          </a:solidFill>
          <a:ln w="12700">
            <a:solidFill>
              <a:srgbClr val="FF7611"/>
            </a:solidFill>
            <a:prstDash val="solid"/>
          </a:ln>
        </p:spPr>
      </p:sp>
      <p:sp>
        <p:nvSpPr>
          <p:cNvPr id="10" name="Text 7"/>
          <p:cNvSpPr txBox="1"/>
          <p:nvPr/>
        </p:nvSpPr>
        <p:spPr>
          <a:xfrm>
            <a:off x="685800" y="15544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a:t>
            </a:r>
            <a:endParaRPr lang="en-US" sz="1100" dirty="0"/>
          </a:p>
        </p:txBody>
      </p:sp>
      <p:sp>
        <p:nvSpPr>
          <p:cNvPr id="11" name="Text 8"/>
          <p:cNvSpPr txBox="1"/>
          <p:nvPr/>
        </p:nvSpPr>
        <p:spPr>
          <a:xfrm>
            <a:off x="1188720" y="1508760"/>
            <a:ext cx="3154680" cy="228600"/>
          </a:xfrm>
          <a:prstGeom prst="rect">
            <a:avLst/>
          </a:prstGeom>
          <a:noFill/>
          <a:ln/>
        </p:spPr>
        <p:txBody>
          <a:bodyPr wrap="square" lIns="0" tIns="0" rIns="0" bIns="0" rtlCol="0" anchor="t"/>
          <a:lstStyle/>
          <a:p>
            <a:pPr algn="l" indent="0" marL="0">
              <a:buNone/>
            </a:pPr>
            <a:r>
              <a:rPr lang="en-US" sz="900" b="1" dirty="0">
                <a:solidFill>
                  <a:srgbClr val="222222"/>
                </a:solidFill>
                <a:latin typeface="Meiryo" pitchFamily="34" charset="0"/>
                <a:ea typeface="Meiryo" pitchFamily="34" charset="-122"/>
                <a:cs typeface="Meiryo" pitchFamily="34" charset="-120"/>
              </a:rPr>
              <a:t>再演するコンテンツと追加枠</a:t>
            </a:r>
            <a:endParaRPr lang="en-US" sz="900" dirty="0"/>
          </a:p>
        </p:txBody>
      </p:sp>
      <p:sp>
        <p:nvSpPr>
          <p:cNvPr id="12" name="Text 9"/>
          <p:cNvSpPr txBox="1"/>
          <p:nvPr/>
        </p:nvSpPr>
        <p:spPr>
          <a:xfrm>
            <a:off x="1188720" y="1746504"/>
            <a:ext cx="3154680" cy="438912"/>
          </a:xfrm>
          <a:prstGeom prst="rect">
            <a:avLst/>
          </a:prstGeom>
          <a:noFill/>
          <a:ln/>
        </p:spPr>
        <p:txBody>
          <a:bodyPr wrap="square" lIns="0" tIns="0" rIns="0" bIns="0" rtlCol="0" anchor="t"/>
          <a:lstStyle/>
          <a:p>
            <a:pPr algn="l" indent="0" marL="0">
              <a:lnSpc>
                <a:spcPct val="130000"/>
              </a:lnSpc>
              <a:buNone/>
            </a:pPr>
            <a:r>
              <a:rPr lang="en-US" sz="700" dirty="0">
                <a:solidFill>
                  <a:srgbClr val="666666"/>
                </a:solidFill>
                <a:latin typeface="Meiryo" pitchFamily="34" charset="0"/>
                <a:ea typeface="Meiryo" pitchFamily="34" charset="-122"/>
                <a:cs typeface="Meiryo" pitchFamily="34" charset="-120"/>
              </a:rPr>
              <a:t>10/1 都市創造ワークへの枠追加（〜10名）と、11月の半日ワーク再演で良いか。9/17 選抜1dayへの数名参加の可否。</a:t>
            </a:r>
            <a:endParaRPr lang="en-US" sz="700" dirty="0"/>
          </a:p>
        </p:txBody>
      </p:sp>
      <p:sp>
        <p:nvSpPr>
          <p:cNvPr id="13" name="Shape 10"/>
          <p:cNvSpPr/>
          <p:nvPr/>
        </p:nvSpPr>
        <p:spPr>
          <a:xfrm>
            <a:off x="4663440" y="1417320"/>
            <a:ext cx="3931920" cy="777240"/>
          </a:xfrm>
          <a:prstGeom prst="rect">
            <a:avLst/>
          </a:prstGeom>
          <a:solidFill>
            <a:srgbClr val="FFFFFF"/>
          </a:solidFill>
          <a:ln w="12700">
            <a:solidFill>
              <a:srgbClr val="FFFFFF"/>
            </a:solidFill>
            <a:prstDash val="solid"/>
          </a:ln>
        </p:spPr>
      </p:sp>
      <p:sp>
        <p:nvSpPr>
          <p:cNvPr id="14" name="Shape 11"/>
          <p:cNvSpPr/>
          <p:nvPr/>
        </p:nvSpPr>
        <p:spPr>
          <a:xfrm>
            <a:off x="4800600" y="1554480"/>
            <a:ext cx="365760" cy="365760"/>
          </a:xfrm>
          <a:prstGeom prst="rect">
            <a:avLst/>
          </a:prstGeom>
          <a:solidFill>
            <a:srgbClr val="FF7611"/>
          </a:solidFill>
          <a:ln w="12700">
            <a:solidFill>
              <a:srgbClr val="FF7611"/>
            </a:solidFill>
            <a:prstDash val="solid"/>
          </a:ln>
        </p:spPr>
      </p:sp>
      <p:sp>
        <p:nvSpPr>
          <p:cNvPr id="15" name="Text 12"/>
          <p:cNvSpPr txBox="1"/>
          <p:nvPr/>
        </p:nvSpPr>
        <p:spPr>
          <a:xfrm>
            <a:off x="4800600" y="15544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a:t>
            </a:r>
            <a:endParaRPr lang="en-US" sz="1100" dirty="0"/>
          </a:p>
        </p:txBody>
      </p:sp>
      <p:sp>
        <p:nvSpPr>
          <p:cNvPr id="16" name="Text 13"/>
          <p:cNvSpPr txBox="1"/>
          <p:nvPr/>
        </p:nvSpPr>
        <p:spPr>
          <a:xfrm>
            <a:off x="5303520" y="1508760"/>
            <a:ext cx="3154680" cy="228600"/>
          </a:xfrm>
          <a:prstGeom prst="rect">
            <a:avLst/>
          </a:prstGeom>
          <a:noFill/>
          <a:ln/>
        </p:spPr>
        <p:txBody>
          <a:bodyPr wrap="square" lIns="0" tIns="0" rIns="0" bIns="0" rtlCol="0" anchor="t"/>
          <a:lstStyle/>
          <a:p>
            <a:pPr algn="l" indent="0" marL="0">
              <a:buNone/>
            </a:pPr>
            <a:r>
              <a:rPr lang="en-US" sz="900" b="1" dirty="0">
                <a:solidFill>
                  <a:srgbClr val="222222"/>
                </a:solidFill>
                <a:latin typeface="Meiryo" pitchFamily="34" charset="0"/>
                <a:ea typeface="Meiryo" pitchFamily="34" charset="-122"/>
                <a:cs typeface="Meiryo" pitchFamily="34" charset="-120"/>
              </a:rPr>
              <a:t>学生への案内文・企画タイトル</a:t>
            </a:r>
            <a:endParaRPr lang="en-US" sz="900" dirty="0"/>
          </a:p>
        </p:txBody>
      </p:sp>
      <p:sp>
        <p:nvSpPr>
          <p:cNvPr id="17" name="Text 14"/>
          <p:cNvSpPr txBox="1"/>
          <p:nvPr/>
        </p:nvSpPr>
        <p:spPr>
          <a:xfrm>
            <a:off x="5303520" y="1746504"/>
            <a:ext cx="3154680" cy="438912"/>
          </a:xfrm>
          <a:prstGeom prst="rect">
            <a:avLst/>
          </a:prstGeom>
          <a:noFill/>
          <a:ln/>
        </p:spPr>
        <p:txBody>
          <a:bodyPr wrap="square" lIns="0" tIns="0" rIns="0" bIns="0" rtlCol="0" anchor="t"/>
          <a:lstStyle/>
          <a:p>
            <a:pPr algn="l" indent="0" marL="0">
              <a:lnSpc>
                <a:spcPct val="130000"/>
              </a:lnSpc>
              <a:buNone/>
            </a:pPr>
            <a:r>
              <a:rPr lang="en-US" sz="700" dirty="0">
                <a:solidFill>
                  <a:srgbClr val="666666"/>
                </a:solidFill>
                <a:latin typeface="Meiryo" pitchFamily="34" charset="0"/>
                <a:ea typeface="Meiryo" pitchFamily="34" charset="-122"/>
                <a:cs typeface="Meiryo" pitchFamily="34" charset="-120"/>
              </a:rPr>
              <a:t>Social Act Careerがドラフトをお持ちします。「暮らし」「まち」から入る言葉にするか、既存の告知文のままにするか。</a:t>
            </a:r>
            <a:endParaRPr lang="en-US" sz="700" dirty="0"/>
          </a:p>
        </p:txBody>
      </p:sp>
      <p:sp>
        <p:nvSpPr>
          <p:cNvPr id="18" name="Shape 15"/>
          <p:cNvSpPr/>
          <p:nvPr/>
        </p:nvSpPr>
        <p:spPr>
          <a:xfrm>
            <a:off x="548640" y="2286000"/>
            <a:ext cx="3931920" cy="777240"/>
          </a:xfrm>
          <a:prstGeom prst="rect">
            <a:avLst/>
          </a:prstGeom>
          <a:solidFill>
            <a:srgbClr val="FFFFFF"/>
          </a:solidFill>
          <a:ln w="12700">
            <a:solidFill>
              <a:srgbClr val="FFFFFF"/>
            </a:solidFill>
            <a:prstDash val="solid"/>
          </a:ln>
        </p:spPr>
      </p:sp>
      <p:sp>
        <p:nvSpPr>
          <p:cNvPr id="19" name="Shape 16"/>
          <p:cNvSpPr/>
          <p:nvPr/>
        </p:nvSpPr>
        <p:spPr>
          <a:xfrm>
            <a:off x="685800" y="2423160"/>
            <a:ext cx="365760" cy="365760"/>
          </a:xfrm>
          <a:prstGeom prst="rect">
            <a:avLst/>
          </a:prstGeom>
          <a:solidFill>
            <a:srgbClr val="FF7611"/>
          </a:solidFill>
          <a:ln w="12700">
            <a:solidFill>
              <a:srgbClr val="FF7611"/>
            </a:solidFill>
            <a:prstDash val="solid"/>
          </a:ln>
        </p:spPr>
      </p:sp>
      <p:sp>
        <p:nvSpPr>
          <p:cNvPr id="20" name="Text 17"/>
          <p:cNvSpPr txBox="1"/>
          <p:nvPr/>
        </p:nvSpPr>
        <p:spPr>
          <a:xfrm>
            <a:off x="685800" y="242316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3</a:t>
            </a:r>
            <a:endParaRPr lang="en-US" sz="1100" dirty="0"/>
          </a:p>
        </p:txBody>
      </p:sp>
      <p:sp>
        <p:nvSpPr>
          <p:cNvPr id="21" name="Text 18"/>
          <p:cNvSpPr txBox="1"/>
          <p:nvPr/>
        </p:nvSpPr>
        <p:spPr>
          <a:xfrm>
            <a:off x="1188720" y="2377440"/>
            <a:ext cx="3154680" cy="228600"/>
          </a:xfrm>
          <a:prstGeom prst="rect">
            <a:avLst/>
          </a:prstGeom>
          <a:noFill/>
          <a:ln/>
        </p:spPr>
        <p:txBody>
          <a:bodyPr wrap="square" lIns="0" tIns="0" rIns="0" bIns="0" rtlCol="0" anchor="t"/>
          <a:lstStyle/>
          <a:p>
            <a:pPr algn="l" indent="0" marL="0">
              <a:buNone/>
            </a:pPr>
            <a:r>
              <a:rPr lang="en-US" sz="900" b="1" dirty="0">
                <a:solidFill>
                  <a:srgbClr val="222222"/>
                </a:solidFill>
                <a:latin typeface="Meiryo" pitchFamily="34" charset="0"/>
                <a:ea typeface="Meiryo" pitchFamily="34" charset="-122"/>
                <a:cs typeface="Meiryo" pitchFamily="34" charset="-120"/>
              </a:rPr>
              <a:t>参加後インタビューの設計</a:t>
            </a:r>
            <a:endParaRPr lang="en-US" sz="900" dirty="0"/>
          </a:p>
        </p:txBody>
      </p:sp>
      <p:sp>
        <p:nvSpPr>
          <p:cNvPr id="22" name="Text 19"/>
          <p:cNvSpPr txBox="1"/>
          <p:nvPr/>
        </p:nvSpPr>
        <p:spPr>
          <a:xfrm>
            <a:off x="1188720" y="2615184"/>
            <a:ext cx="3154680" cy="438912"/>
          </a:xfrm>
          <a:prstGeom prst="rect">
            <a:avLst/>
          </a:prstGeom>
          <a:noFill/>
          <a:ln/>
        </p:spPr>
        <p:txBody>
          <a:bodyPr wrap="square" lIns="0" tIns="0" rIns="0" bIns="0" rtlCol="0" anchor="t"/>
          <a:lstStyle/>
          <a:p>
            <a:pPr algn="l" indent="0" marL="0">
              <a:lnSpc>
                <a:spcPct val="130000"/>
              </a:lnSpc>
              <a:buNone/>
            </a:pPr>
            <a:r>
              <a:rPr lang="en-US" sz="700" dirty="0">
                <a:solidFill>
                  <a:srgbClr val="666666"/>
                </a:solidFill>
                <a:latin typeface="Meiryo" pitchFamily="34" charset="0"/>
                <a:ea typeface="Meiryo" pitchFamily="34" charset="-122"/>
                <a:cs typeface="Meiryo" pitchFamily="34" charset="-120"/>
              </a:rPr>
              <a:t>リノベル様として知りたいこと、聞いてほしくないことの確認。</a:t>
            </a:r>
            <a:endParaRPr lang="en-US" sz="700" dirty="0"/>
          </a:p>
        </p:txBody>
      </p:sp>
      <p:sp>
        <p:nvSpPr>
          <p:cNvPr id="23" name="Shape 20"/>
          <p:cNvSpPr/>
          <p:nvPr/>
        </p:nvSpPr>
        <p:spPr>
          <a:xfrm>
            <a:off x="4663440" y="2286000"/>
            <a:ext cx="3931920" cy="777240"/>
          </a:xfrm>
          <a:prstGeom prst="rect">
            <a:avLst/>
          </a:prstGeom>
          <a:solidFill>
            <a:srgbClr val="FFFFFF"/>
          </a:solidFill>
          <a:ln w="12700">
            <a:solidFill>
              <a:srgbClr val="FFFFFF"/>
            </a:solidFill>
            <a:prstDash val="solid"/>
          </a:ln>
        </p:spPr>
      </p:sp>
      <p:sp>
        <p:nvSpPr>
          <p:cNvPr id="24" name="Shape 21"/>
          <p:cNvSpPr/>
          <p:nvPr/>
        </p:nvSpPr>
        <p:spPr>
          <a:xfrm>
            <a:off x="4800600" y="2423160"/>
            <a:ext cx="365760" cy="365760"/>
          </a:xfrm>
          <a:prstGeom prst="rect">
            <a:avLst/>
          </a:prstGeom>
          <a:solidFill>
            <a:srgbClr val="FF7611"/>
          </a:solidFill>
          <a:ln w="12700">
            <a:solidFill>
              <a:srgbClr val="FF7611"/>
            </a:solidFill>
            <a:prstDash val="solid"/>
          </a:ln>
        </p:spPr>
      </p:sp>
      <p:sp>
        <p:nvSpPr>
          <p:cNvPr id="25" name="Text 22"/>
          <p:cNvSpPr txBox="1"/>
          <p:nvPr/>
        </p:nvSpPr>
        <p:spPr>
          <a:xfrm>
            <a:off x="4800600" y="242316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4</a:t>
            </a:r>
            <a:endParaRPr lang="en-US" sz="1100" dirty="0"/>
          </a:p>
        </p:txBody>
      </p:sp>
      <p:sp>
        <p:nvSpPr>
          <p:cNvPr id="26" name="Text 23"/>
          <p:cNvSpPr txBox="1"/>
          <p:nvPr/>
        </p:nvSpPr>
        <p:spPr>
          <a:xfrm>
            <a:off x="5303520" y="2377440"/>
            <a:ext cx="3154680" cy="228600"/>
          </a:xfrm>
          <a:prstGeom prst="rect">
            <a:avLst/>
          </a:prstGeom>
          <a:noFill/>
          <a:ln/>
        </p:spPr>
        <p:txBody>
          <a:bodyPr wrap="square" lIns="0" tIns="0" rIns="0" bIns="0" rtlCol="0" anchor="t"/>
          <a:lstStyle/>
          <a:p>
            <a:pPr algn="l" indent="0" marL="0">
              <a:buNone/>
            </a:pPr>
            <a:r>
              <a:rPr lang="en-US" sz="900" b="1" dirty="0">
                <a:solidFill>
                  <a:srgbClr val="222222"/>
                </a:solidFill>
                <a:latin typeface="Meiryo" pitchFamily="34" charset="0"/>
                <a:ea typeface="Meiryo" pitchFamily="34" charset="-122"/>
                <a:cs typeface="Meiryo" pitchFamily="34" charset="-120"/>
              </a:rPr>
              <a:t>費用形態</a:t>
            </a:r>
            <a:endParaRPr lang="en-US" sz="900" dirty="0"/>
          </a:p>
        </p:txBody>
      </p:sp>
      <p:sp>
        <p:nvSpPr>
          <p:cNvPr id="27" name="Text 24"/>
          <p:cNvSpPr txBox="1"/>
          <p:nvPr/>
        </p:nvSpPr>
        <p:spPr>
          <a:xfrm>
            <a:off x="5303520" y="2615184"/>
            <a:ext cx="3154680" cy="438912"/>
          </a:xfrm>
          <a:prstGeom prst="rect">
            <a:avLst/>
          </a:prstGeom>
          <a:noFill/>
          <a:ln/>
        </p:spPr>
        <p:txBody>
          <a:bodyPr wrap="square" lIns="0" tIns="0" rIns="0" bIns="0" rtlCol="0" anchor="t"/>
          <a:lstStyle/>
          <a:p>
            <a:pPr algn="l" indent="0" marL="0">
              <a:lnSpc>
                <a:spcPct val="130000"/>
              </a:lnSpc>
              <a:buNone/>
            </a:pPr>
            <a:r>
              <a:rPr lang="en-US" sz="700" dirty="0">
                <a:solidFill>
                  <a:srgbClr val="666666"/>
                </a:solidFill>
                <a:latin typeface="Meiryo" pitchFamily="34" charset="0"/>
                <a:ea typeface="Meiryo" pitchFamily="34" charset="-122"/>
                <a:cs typeface="Meiryo" pitchFamily="34" charset="-120"/>
              </a:rPr>
              <a:t>成果報酬の単価、成果の定義、他経路応募の扱い。</a:t>
            </a:r>
            <a:endParaRPr lang="en-US" sz="700" dirty="0"/>
          </a:p>
        </p:txBody>
      </p:sp>
      <p:sp>
        <p:nvSpPr>
          <p:cNvPr id="28" name="Shape 25"/>
          <p:cNvSpPr/>
          <p:nvPr/>
        </p:nvSpPr>
        <p:spPr>
          <a:xfrm>
            <a:off x="548640" y="3154680"/>
            <a:ext cx="3931920" cy="777240"/>
          </a:xfrm>
          <a:prstGeom prst="rect">
            <a:avLst/>
          </a:prstGeom>
          <a:solidFill>
            <a:srgbClr val="FFFFFF"/>
          </a:solidFill>
          <a:ln w="12700">
            <a:solidFill>
              <a:srgbClr val="FFFFFF"/>
            </a:solidFill>
            <a:prstDash val="solid"/>
          </a:ln>
        </p:spPr>
      </p:sp>
      <p:sp>
        <p:nvSpPr>
          <p:cNvPr id="29" name="Shape 26"/>
          <p:cNvSpPr/>
          <p:nvPr/>
        </p:nvSpPr>
        <p:spPr>
          <a:xfrm>
            <a:off x="685800" y="3291840"/>
            <a:ext cx="365760" cy="365760"/>
          </a:xfrm>
          <a:prstGeom prst="rect">
            <a:avLst/>
          </a:prstGeom>
          <a:solidFill>
            <a:srgbClr val="FF7611"/>
          </a:solidFill>
          <a:ln w="12700">
            <a:solidFill>
              <a:srgbClr val="FF7611"/>
            </a:solidFill>
            <a:prstDash val="solid"/>
          </a:ln>
        </p:spPr>
      </p:sp>
      <p:sp>
        <p:nvSpPr>
          <p:cNvPr id="30" name="Text 27"/>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5</a:t>
            </a:r>
            <a:endParaRPr lang="en-US" sz="1100" dirty="0"/>
          </a:p>
        </p:txBody>
      </p:sp>
      <p:sp>
        <p:nvSpPr>
          <p:cNvPr id="31" name="Text 28"/>
          <p:cNvSpPr txBox="1"/>
          <p:nvPr/>
        </p:nvSpPr>
        <p:spPr>
          <a:xfrm>
            <a:off x="1188720" y="3246120"/>
            <a:ext cx="3154680" cy="228600"/>
          </a:xfrm>
          <a:prstGeom prst="rect">
            <a:avLst/>
          </a:prstGeom>
          <a:noFill/>
          <a:ln/>
        </p:spPr>
        <p:txBody>
          <a:bodyPr wrap="square" lIns="0" tIns="0" rIns="0" bIns="0" rtlCol="0" anchor="t"/>
          <a:lstStyle/>
          <a:p>
            <a:pPr algn="l" indent="0" marL="0">
              <a:buNone/>
            </a:pPr>
            <a:r>
              <a:rPr lang="en-US" sz="900" b="1" dirty="0">
                <a:solidFill>
                  <a:srgbClr val="222222"/>
                </a:solidFill>
                <a:latin typeface="Meiryo" pitchFamily="34" charset="0"/>
                <a:ea typeface="Meiryo" pitchFamily="34" charset="-122"/>
                <a:cs typeface="Meiryo" pitchFamily="34" charset="-120"/>
              </a:rPr>
              <a:t>本選考への接続方法</a:t>
            </a:r>
            <a:endParaRPr lang="en-US" sz="900" dirty="0"/>
          </a:p>
        </p:txBody>
      </p:sp>
      <p:sp>
        <p:nvSpPr>
          <p:cNvPr id="32" name="Text 29"/>
          <p:cNvSpPr txBox="1"/>
          <p:nvPr/>
        </p:nvSpPr>
        <p:spPr>
          <a:xfrm>
            <a:off x="1188720" y="3483864"/>
            <a:ext cx="3154680" cy="438912"/>
          </a:xfrm>
          <a:prstGeom prst="rect">
            <a:avLst/>
          </a:prstGeom>
          <a:noFill/>
          <a:ln/>
        </p:spPr>
        <p:txBody>
          <a:bodyPr wrap="square" lIns="0" tIns="0" rIns="0" bIns="0" rtlCol="0" anchor="t"/>
          <a:lstStyle/>
          <a:p>
            <a:pPr algn="l" indent="0" marL="0">
              <a:lnSpc>
                <a:spcPct val="130000"/>
              </a:lnSpc>
              <a:buNone/>
            </a:pPr>
            <a:r>
              <a:rPr lang="en-US" sz="700" dirty="0">
                <a:solidFill>
                  <a:srgbClr val="666666"/>
                </a:solidFill>
                <a:latin typeface="Meiryo" pitchFamily="34" charset="0"/>
                <a:ea typeface="Meiryo" pitchFamily="34" charset="-122"/>
                <a:cs typeface="Meiryo" pitchFamily="34" charset="-120"/>
              </a:rPr>
              <a:t>エントリー導線、二次以降の伴走への乗せ方、Social Act Career側のフォロー範囲。</a:t>
            </a:r>
            <a:endParaRPr lang="en-US" sz="700" dirty="0"/>
          </a:p>
        </p:txBody>
      </p:sp>
      <p:sp>
        <p:nvSpPr>
          <p:cNvPr id="33" name="Shape 30"/>
          <p:cNvSpPr/>
          <p:nvPr/>
        </p:nvSpPr>
        <p:spPr>
          <a:xfrm>
            <a:off x="4663440" y="3154680"/>
            <a:ext cx="3931920" cy="777240"/>
          </a:xfrm>
          <a:prstGeom prst="rect">
            <a:avLst/>
          </a:prstGeom>
          <a:solidFill>
            <a:srgbClr val="FFFFFF"/>
          </a:solidFill>
          <a:ln w="12700">
            <a:solidFill>
              <a:srgbClr val="FFFFFF"/>
            </a:solidFill>
            <a:prstDash val="solid"/>
          </a:ln>
        </p:spPr>
      </p:sp>
      <p:sp>
        <p:nvSpPr>
          <p:cNvPr id="34" name="Shape 31"/>
          <p:cNvSpPr/>
          <p:nvPr/>
        </p:nvSpPr>
        <p:spPr>
          <a:xfrm>
            <a:off x="4800600" y="3291840"/>
            <a:ext cx="365760" cy="365760"/>
          </a:xfrm>
          <a:prstGeom prst="rect">
            <a:avLst/>
          </a:prstGeom>
          <a:solidFill>
            <a:srgbClr val="FF7611"/>
          </a:solidFill>
          <a:ln w="12700">
            <a:solidFill>
              <a:srgbClr val="FF7611"/>
            </a:solidFill>
            <a:prstDash val="solid"/>
          </a:ln>
        </p:spPr>
      </p:sp>
      <p:sp>
        <p:nvSpPr>
          <p:cNvPr id="35" name="Text 32"/>
          <p:cNvSpPr txBox="1"/>
          <p:nvPr/>
        </p:nvSpPr>
        <p:spPr>
          <a:xfrm>
            <a:off x="4800600" y="329184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6</a:t>
            </a:r>
            <a:endParaRPr lang="en-US" sz="1100" dirty="0"/>
          </a:p>
        </p:txBody>
      </p:sp>
      <p:sp>
        <p:nvSpPr>
          <p:cNvPr id="36" name="Text 33"/>
          <p:cNvSpPr txBox="1"/>
          <p:nvPr/>
        </p:nvSpPr>
        <p:spPr>
          <a:xfrm>
            <a:off x="5303520" y="3246120"/>
            <a:ext cx="3154680" cy="228600"/>
          </a:xfrm>
          <a:prstGeom prst="rect">
            <a:avLst/>
          </a:prstGeom>
          <a:noFill/>
          <a:ln/>
        </p:spPr>
        <p:txBody>
          <a:bodyPr wrap="square" lIns="0" tIns="0" rIns="0" bIns="0" rtlCol="0" anchor="t"/>
          <a:lstStyle/>
          <a:p>
            <a:pPr algn="l" indent="0" marL="0">
              <a:buNone/>
            </a:pPr>
            <a:r>
              <a:rPr lang="en-US" sz="900" b="1" dirty="0">
                <a:solidFill>
                  <a:srgbClr val="222222"/>
                </a:solidFill>
                <a:latin typeface="Meiryo" pitchFamily="34" charset="0"/>
                <a:ea typeface="Meiryo" pitchFamily="34" charset="-122"/>
                <a:cs typeface="Meiryo" pitchFamily="34" charset="-120"/>
              </a:rPr>
              <a:t>お打ち合わせの頻度</a:t>
            </a:r>
            <a:endParaRPr lang="en-US" sz="900" dirty="0"/>
          </a:p>
        </p:txBody>
      </p:sp>
      <p:sp>
        <p:nvSpPr>
          <p:cNvPr id="37" name="Text 34"/>
          <p:cNvSpPr txBox="1"/>
          <p:nvPr/>
        </p:nvSpPr>
        <p:spPr>
          <a:xfrm>
            <a:off x="5303520" y="3483864"/>
            <a:ext cx="3154680" cy="438912"/>
          </a:xfrm>
          <a:prstGeom prst="rect">
            <a:avLst/>
          </a:prstGeom>
          <a:noFill/>
          <a:ln/>
        </p:spPr>
        <p:txBody>
          <a:bodyPr wrap="square" lIns="0" tIns="0" rIns="0" bIns="0" rtlCol="0" anchor="t"/>
          <a:lstStyle/>
          <a:p>
            <a:pPr algn="l" indent="0" marL="0">
              <a:lnSpc>
                <a:spcPct val="130000"/>
              </a:lnSpc>
              <a:buNone/>
            </a:pPr>
            <a:r>
              <a:rPr lang="en-US" sz="700" dirty="0">
                <a:solidFill>
                  <a:srgbClr val="666666"/>
                </a:solidFill>
                <a:latin typeface="Meiryo" pitchFamily="34" charset="0"/>
                <a:ea typeface="Meiryo" pitchFamily="34" charset="-122"/>
                <a:cs typeface="Meiryo" pitchFamily="34" charset="-120"/>
              </a:rPr>
              <a:t>月1回・30分の進捗共有と、12月の報告会（60分）を想定。</a:t>
            </a:r>
            <a:endParaRPr lang="en-US" sz="700" dirty="0"/>
          </a:p>
        </p:txBody>
      </p:sp>
      <p:sp>
        <p:nvSpPr>
          <p:cNvPr id="38" name="Shape 35"/>
          <p:cNvSpPr/>
          <p:nvPr/>
        </p:nvSpPr>
        <p:spPr>
          <a:xfrm>
            <a:off x="548640" y="4114800"/>
            <a:ext cx="8046720" cy="548640"/>
          </a:xfrm>
          <a:prstGeom prst="rect">
            <a:avLst/>
          </a:prstGeom>
          <a:solidFill>
            <a:srgbClr val="2C2C2C"/>
          </a:solidFill>
          <a:ln w="12700">
            <a:solidFill>
              <a:srgbClr val="2C2C2C"/>
            </a:solidFill>
            <a:prstDash val="solid"/>
          </a:ln>
        </p:spPr>
      </p:sp>
      <p:sp>
        <p:nvSpPr>
          <p:cNvPr id="39" name="Text 36"/>
          <p:cNvSpPr txBox="1"/>
          <p:nvPr/>
        </p:nvSpPr>
        <p:spPr>
          <a:xfrm>
            <a:off x="777240" y="4114800"/>
            <a:ext cx="1554480" cy="548640"/>
          </a:xfrm>
          <a:prstGeom prst="rect">
            <a:avLst/>
          </a:prstGeom>
          <a:noFill/>
          <a:ln/>
        </p:spPr>
        <p:txBody>
          <a:bodyPr wrap="square" lIns="0" tIns="0" rIns="0" bIns="0" rtlCol="0" anchor="ctr"/>
          <a:lstStyle/>
          <a:p>
            <a:pPr algn="l" indent="0" marL="0">
              <a:buNone/>
            </a:pPr>
            <a:r>
              <a:rPr lang="en-US" sz="900" b="1" dirty="0">
                <a:solidFill>
                  <a:srgbClr val="FF7611"/>
                </a:solidFill>
                <a:latin typeface="Meiryo" pitchFamily="34" charset="0"/>
                <a:ea typeface="Meiryo" pitchFamily="34" charset="-122"/>
                <a:cs typeface="Meiryo" pitchFamily="34" charset="-120"/>
              </a:rPr>
              <a:t>次回のお時間</a:t>
            </a:r>
            <a:endParaRPr lang="en-US" sz="900" dirty="0"/>
          </a:p>
        </p:txBody>
      </p:sp>
      <p:sp>
        <p:nvSpPr>
          <p:cNvPr id="40" name="Text 37"/>
          <p:cNvSpPr txBox="1"/>
          <p:nvPr/>
        </p:nvSpPr>
        <p:spPr>
          <a:xfrm>
            <a:off x="2377440" y="4114800"/>
            <a:ext cx="6035040" cy="548640"/>
          </a:xfrm>
          <a:prstGeom prst="rect">
            <a:avLst/>
          </a:prstGeom>
          <a:noFill/>
          <a:ln/>
        </p:spPr>
        <p:txBody>
          <a:bodyPr wrap="square" lIns="0" tIns="0" rIns="0" bIns="0" rtlCol="0" anchor="ctr"/>
          <a:lstStyle/>
          <a:p>
            <a:pPr algn="l" indent="0" marL="0">
              <a:buNone/>
            </a:pPr>
            <a:r>
              <a:rPr lang="en-US" sz="950" dirty="0">
                <a:solidFill>
                  <a:srgbClr val="FFFFFF"/>
                </a:solidFill>
                <a:latin typeface="Meiryo" pitchFamily="34" charset="0"/>
                <a:ea typeface="Meiryo" pitchFamily="34" charset="-122"/>
                <a:cs typeface="Meiryo" pitchFamily="34" charset="-120"/>
              </a:rPr>
              <a:t>60分いただけるとすり合わせまで進められます。共有のみであれば30分でも可能です。候補日は鈴木様よりメールでご連絡いただく予定です。</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7611"/>
          </a:solidFill>
          <a:ln w="12700">
            <a:solidFill>
              <a:srgbClr val="FF7611"/>
            </a:solidFill>
            <a:prstDash val="solid"/>
          </a:ln>
        </p:spPr>
      </p:sp>
      <p:pic>
        <p:nvPicPr>
          <p:cNvPr id="3" name="Image 0" descr="preencoded.png">    </p:cNvPr>
          <p:cNvPicPr>
            <a:picLocks noChangeAspect="1"/>
          </p:cNvPicPr>
          <p:nvPr/>
        </p:nvPicPr>
        <p:blipFill>
          <a:blip r:embed="rId1"/>
          <a:stretch>
            <a:fillRect/>
          </a:stretch>
        </p:blipFill>
        <p:spPr>
          <a:xfrm>
            <a:off x="7589520" y="274320"/>
            <a:ext cx="1188720" cy="195682"/>
          </a:xfrm>
          <a:prstGeom prst="rect">
            <a:avLst/>
          </a:prstGeom>
        </p:spPr>
      </p:pic>
      <p:sp>
        <p:nvSpPr>
          <p:cNvPr id="4" name="Text 1"/>
          <p:cNvSpPr txBox="1"/>
          <p:nvPr/>
        </p:nvSpPr>
        <p:spPr>
          <a:xfrm>
            <a:off x="548640" y="457200"/>
            <a:ext cx="5486400" cy="201168"/>
          </a:xfrm>
          <a:prstGeom prst="rect">
            <a:avLst/>
          </a:prstGeom>
          <a:noFill/>
          <a:ln/>
        </p:spPr>
        <p:txBody>
          <a:bodyPr wrap="square" lIns="0" tIns="0" rIns="0" bIns="0" rtlCol="0" anchor="t"/>
          <a:lstStyle/>
          <a:p>
            <a:pPr algn="l" indent="0" marL="0">
              <a:buNone/>
            </a:pPr>
            <a:r>
              <a:rPr lang="en-US" sz="800" b="1" spc="100" kern="0" dirty="0">
                <a:solidFill>
                  <a:srgbClr val="FF7611"/>
                </a:solidFill>
                <a:latin typeface="Meiryo" pitchFamily="34" charset="0"/>
                <a:ea typeface="Meiryo" pitchFamily="34" charset="-122"/>
                <a:cs typeface="Meiryo" pitchFamily="34" charset="-120"/>
              </a:rPr>
              <a:t>14｜APPENDIX</a:t>
            </a:r>
            <a:endParaRPr lang="en-US" sz="800" dirty="0"/>
          </a:p>
        </p:txBody>
      </p:sp>
      <p:sp>
        <p:nvSpPr>
          <p:cNvPr id="5" name="Text 2"/>
          <p:cNvSpPr txBox="1"/>
          <p:nvPr/>
        </p:nvSpPr>
        <p:spPr>
          <a:xfrm>
            <a:off x="548640" y="676656"/>
            <a:ext cx="8046720" cy="411480"/>
          </a:xfrm>
          <a:prstGeom prst="rect">
            <a:avLst/>
          </a:prstGeom>
          <a:noFill/>
          <a:ln/>
        </p:spPr>
        <p:txBody>
          <a:bodyPr wrap="square" lIns="0" tIns="0" rIns="0" bIns="0" rtlCol="0" anchor="t"/>
          <a:lstStyle/>
          <a:p>
            <a:pPr algn="l" indent="0" marL="0">
              <a:buNone/>
            </a:pPr>
            <a:r>
              <a:rPr lang="en-US" sz="1900" b="1" dirty="0">
                <a:solidFill>
                  <a:srgbClr val="222222"/>
                </a:solidFill>
                <a:latin typeface="Meiryo" pitchFamily="34" charset="0"/>
                <a:ea typeface="Meiryo" pitchFamily="34" charset="-122"/>
                <a:cs typeface="Meiryo" pitchFamily="34" charset="-120"/>
              </a:rPr>
              <a:t>参加後インタビュー項目案（学生向け）</a:t>
            </a:r>
            <a:endParaRPr lang="en-US" sz="1900" dirty="0"/>
          </a:p>
        </p:txBody>
      </p:sp>
      <p:sp>
        <p:nvSpPr>
          <p:cNvPr id="6" name="Text 3"/>
          <p:cNvSpPr txBox="1"/>
          <p:nvPr/>
        </p:nvSpPr>
        <p:spPr>
          <a:xfrm>
            <a:off x="548640" y="1069848"/>
            <a:ext cx="8046720" cy="228600"/>
          </a:xfrm>
          <a:prstGeom prst="rect">
            <a:avLst/>
          </a:prstGeom>
          <a:noFill/>
          <a:ln/>
        </p:spPr>
        <p:txBody>
          <a:bodyPr wrap="square" lIns="0" tIns="0" rIns="0" bIns="0" rtlCol="0" anchor="t"/>
          <a:lstStyle/>
          <a:p>
            <a:pPr algn="l" indent="0" marL="0">
              <a:buNone/>
            </a:pPr>
            <a:r>
              <a:rPr lang="en-US" sz="950" dirty="0">
                <a:solidFill>
                  <a:srgbClr val="666666"/>
                </a:solidFill>
                <a:latin typeface="Meiryo" pitchFamily="34" charset="0"/>
                <a:ea typeface="Meiryo" pitchFamily="34" charset="-122"/>
                <a:cs typeface="Meiryo" pitchFamily="34" charset="-120"/>
              </a:rPr>
              <a:t>貴社として知りたい項目を追加・修正のうえ、実施します。</a:t>
            </a:r>
            <a:endParaRPr lang="en-US" sz="950" dirty="0"/>
          </a:p>
        </p:txBody>
      </p:sp>
      <p:sp>
        <p:nvSpPr>
          <p:cNvPr id="7" name="Text 4"/>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666666"/>
                </a:solidFill>
                <a:latin typeface="Meiryo" pitchFamily="34" charset="0"/>
                <a:ea typeface="Meiryo" pitchFamily="34" charset="-122"/>
                <a:cs typeface="Meiryo" pitchFamily="34" charset="-120"/>
              </a:rPr>
              <a:t>15</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4572000" cy="914400"/>
        </p:xfrm>
        <a:graphic>
          <a:graphicData uri="http://schemas.openxmlformats.org/drawingml/2006/table">
            <a:tbl>
              <a:tblPr/>
              <a:tblGrid>
                <a:gridCol w="1234440"/>
                <a:gridCol w="3337560"/>
              </a:tblGrid>
              <a:tr h="0">
                <a:tc>
                  <a:txBody>
                    <a:bodyPr/>
                    <a:lstStyle/>
                    <a:p>
                      <a:pPr indent="0" marL="0">
                        <a:buNone/>
                      </a:pPr>
                      <a:r>
                        <a:rPr lang="en-US" sz="750" b="1" dirty="0">
                          <a:solidFill>
                            <a:srgbClr val="84300F"/>
                          </a:solidFill>
                          <a:latin typeface="Meiryo" pitchFamily="34" charset="0"/>
                          <a:ea typeface="Meiryo" pitchFamily="34" charset="-122"/>
                          <a:cs typeface="Meiryo" pitchFamily="34" charset="-120"/>
                        </a:rPr>
                        <a:t>参加前のイメージ</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50" dirty="0">
                          <a:solidFill>
                            <a:srgbClr val="222222"/>
                          </a:solidFill>
                          <a:latin typeface="Meiryo" pitchFamily="34" charset="0"/>
                          <a:ea typeface="Meiryo" pitchFamily="34" charset="-122"/>
                          <a:cs typeface="Meiryo" pitchFamily="34" charset="-120"/>
                        </a:rPr>
                        <a:t>リノベル、不動産・リノベーション業界に対して参加前に持っていたイメージは何か</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750" b="1" dirty="0">
                          <a:solidFill>
                            <a:srgbClr val="84300F"/>
                          </a:solidFill>
                          <a:latin typeface="Meiryo" pitchFamily="34" charset="0"/>
                          <a:ea typeface="Meiryo" pitchFamily="34" charset="-122"/>
                          <a:cs typeface="Meiryo" pitchFamily="34" charset="-120"/>
                        </a:rPr>
                        <a:t>参加の決め手</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50" dirty="0">
                          <a:solidFill>
                            <a:srgbClr val="222222"/>
                          </a:solidFill>
                          <a:latin typeface="Meiryo" pitchFamily="34" charset="0"/>
                          <a:ea typeface="Meiryo" pitchFamily="34" charset="-122"/>
                          <a:cs typeface="Meiryo" pitchFamily="34" charset="-120"/>
                        </a:rPr>
                        <a:t>案内文のどの言葉で参加を決めたか。迷った点は何か</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750" b="1" dirty="0">
                          <a:solidFill>
                            <a:srgbClr val="84300F"/>
                          </a:solidFill>
                          <a:latin typeface="Meiryo" pitchFamily="34" charset="0"/>
                          <a:ea typeface="Meiryo" pitchFamily="34" charset="-122"/>
                          <a:cs typeface="Meiryo" pitchFamily="34" charset="-120"/>
                        </a:rPr>
                        <a:t>toC／toB</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50" dirty="0">
                          <a:solidFill>
                            <a:srgbClr val="222222"/>
                          </a:solidFill>
                          <a:latin typeface="Meiryo" pitchFamily="34" charset="0"/>
                          <a:ea typeface="Meiryo" pitchFamily="34" charset="-122"/>
                          <a:cs typeface="Meiryo" pitchFamily="34" charset="-120"/>
                        </a:rPr>
                        <a:t>暮らしのコンサルと都市創造、どちらに惹かれたか。その理由</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750" b="1" dirty="0">
                          <a:solidFill>
                            <a:srgbClr val="84300F"/>
                          </a:solidFill>
                          <a:latin typeface="Meiryo" pitchFamily="34" charset="0"/>
                          <a:ea typeface="Meiryo" pitchFamily="34" charset="-122"/>
                          <a:cs typeface="Meiryo" pitchFamily="34" charset="-120"/>
                        </a:rPr>
                        <a:t>自分ごと化</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50" dirty="0">
                          <a:solidFill>
                            <a:srgbClr val="222222"/>
                          </a:solidFill>
                          <a:latin typeface="Meiryo" pitchFamily="34" charset="0"/>
                          <a:ea typeface="Meiryo" pitchFamily="34" charset="-122"/>
                          <a:cs typeface="Meiryo" pitchFamily="34" charset="-120"/>
                        </a:rPr>
                        <a:t>「自分がやる仕事だ」と感じた瞬間はあったか。なければ何が足りなかったか</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750" b="1" dirty="0">
                          <a:solidFill>
                            <a:srgbClr val="84300F"/>
                          </a:solidFill>
                          <a:latin typeface="Meiryo" pitchFamily="34" charset="0"/>
                          <a:ea typeface="Meiryo" pitchFamily="34" charset="-122"/>
                          <a:cs typeface="Meiryo" pitchFamily="34" charset="-120"/>
                        </a:rPr>
                        <a:t>イメージの変化</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50" dirty="0">
                          <a:solidFill>
                            <a:srgbClr val="222222"/>
                          </a:solidFill>
                          <a:latin typeface="Meiryo" pitchFamily="34" charset="0"/>
                          <a:ea typeface="Meiryo" pitchFamily="34" charset="-122"/>
                          <a:cs typeface="Meiryo" pitchFamily="34" charset="-120"/>
                        </a:rPr>
                        <a:t>参加後、業界・会社のイメージはどこで変わったか</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750" b="1" dirty="0">
                          <a:solidFill>
                            <a:srgbClr val="84300F"/>
                          </a:solidFill>
                          <a:latin typeface="Meiryo" pitchFamily="34" charset="0"/>
                          <a:ea typeface="Meiryo" pitchFamily="34" charset="-122"/>
                          <a:cs typeface="Meiryo" pitchFamily="34" charset="-120"/>
                        </a:rPr>
                        <a:t>なりたい姿との重なり</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50" dirty="0">
                          <a:solidFill>
                            <a:srgbClr val="222222"/>
                          </a:solidFill>
                          <a:latin typeface="Meiryo" pitchFamily="34" charset="0"/>
                          <a:ea typeface="Meiryo" pitchFamily="34" charset="-122"/>
                          <a:cs typeface="Meiryo" pitchFamily="34" charset="-120"/>
                        </a:rPr>
                        <a:t>自分のなりたい姿とリノベルのミッションが重なる点、ずれる点</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r h="0">
                <a:tc>
                  <a:txBody>
                    <a:bodyPr/>
                    <a:lstStyle/>
                    <a:p>
                      <a:pPr indent="0" marL="0">
                        <a:buNone/>
                      </a:pPr>
                      <a:r>
                        <a:rPr lang="en-US" sz="750" b="1" dirty="0">
                          <a:solidFill>
                            <a:srgbClr val="84300F"/>
                          </a:solidFill>
                          <a:latin typeface="Meiryo" pitchFamily="34" charset="0"/>
                          <a:ea typeface="Meiryo" pitchFamily="34" charset="-122"/>
                          <a:cs typeface="Meiryo" pitchFamily="34" charset="-120"/>
                        </a:rPr>
                        <a:t>次のアクション</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c>
                  <a:txBody>
                    <a:bodyPr/>
                    <a:lstStyle/>
                    <a:p>
                      <a:pPr indent="0" marL="0">
                        <a:buNone/>
                      </a:pPr>
                      <a:r>
                        <a:rPr lang="en-US" sz="750" dirty="0">
                          <a:solidFill>
                            <a:srgbClr val="222222"/>
                          </a:solidFill>
                          <a:latin typeface="Meiryo" pitchFamily="34" charset="0"/>
                          <a:ea typeface="Meiryo" pitchFamily="34" charset="-122"/>
                          <a:cs typeface="Meiryo" pitchFamily="34" charset="-120"/>
                        </a:rPr>
                        <a:t>選考に進みたいか。迷いがあるとしたら何か。誰に何を聞ければ決められるか</a:t>
                      </a:r>
                      <a:endParaRPr lang="en-US" sz="750" dirty="0">
                        <a:latin typeface="Meiryo" charset="0"/>
                        <a:ea typeface="Meiryo" charset="0"/>
                        <a:cs typeface="Meiryo" charset="0"/>
                      </a:endParaRPr>
                    </a:p>
                  </a:txBody>
                  <a:tcPr marL="54864" marR="54864" marT="54864" marB="54864" anchor="t">
                    <a:lnL w="0" cap="flat" cmpd="sng" algn="ctr">
                      <a:noFill/>
                    </a:lnL>
                    <a:lnR w="0" cap="flat" cmpd="sng" algn="ctr">
                      <a:noFill/>
                    </a:lnR>
                    <a:lnT w="0" cap="flat" cmpd="sng" algn="ctr">
                      <a:noFill/>
                    </a:lnT>
                    <a:lnB w="6350" cap="flat" cmpd="sng" algn="ctr">
                      <a:solidFill>
                        <a:srgbClr val="DDDCD4"/>
                      </a:solidFill>
                      <a:prstDash val="solid"/>
                      <a:round/>
                      <a:headEnd type="none" w="med" len="med"/>
                      <a:tailEnd type="none" w="med" len="med"/>
                    </a:lnB>
                  </a:tcPr>
                </a:tc>
              </a:tr>
            </a:tbl>
          </a:graphicData>
        </a:graphic>
      </p:graphicFrame>
      <p:sp>
        <p:nvSpPr>
          <p:cNvPr id="9" name="Shape 5"/>
          <p:cNvSpPr/>
          <p:nvPr/>
        </p:nvSpPr>
        <p:spPr>
          <a:xfrm>
            <a:off x="5394960" y="1417320"/>
            <a:ext cx="3200400" cy="1783080"/>
          </a:xfrm>
          <a:prstGeom prst="rect">
            <a:avLst/>
          </a:prstGeom>
          <a:solidFill>
            <a:srgbClr val="FFFFFF"/>
          </a:solidFill>
          <a:ln w="12700">
            <a:solidFill>
              <a:srgbClr val="FFFFFF"/>
            </a:solidFill>
            <a:prstDash val="solid"/>
          </a:ln>
        </p:spPr>
      </p:sp>
      <p:sp>
        <p:nvSpPr>
          <p:cNvPr id="10" name="Shape 6"/>
          <p:cNvSpPr/>
          <p:nvPr/>
        </p:nvSpPr>
        <p:spPr>
          <a:xfrm>
            <a:off x="5394960" y="1417320"/>
            <a:ext cx="3200400" cy="41148"/>
          </a:xfrm>
          <a:prstGeom prst="rect">
            <a:avLst/>
          </a:prstGeom>
          <a:solidFill>
            <a:srgbClr val="FF7611"/>
          </a:solidFill>
          <a:ln w="12700">
            <a:solidFill>
              <a:srgbClr val="FF7611"/>
            </a:solidFill>
            <a:prstDash val="solid"/>
          </a:ln>
        </p:spPr>
      </p:sp>
      <p:sp>
        <p:nvSpPr>
          <p:cNvPr id="11" name="Text 7"/>
          <p:cNvSpPr txBox="1"/>
          <p:nvPr/>
        </p:nvSpPr>
        <p:spPr>
          <a:xfrm>
            <a:off x="5577840" y="1554480"/>
            <a:ext cx="2834640" cy="228600"/>
          </a:xfrm>
          <a:prstGeom prst="rect">
            <a:avLst/>
          </a:prstGeom>
          <a:noFill/>
          <a:ln/>
        </p:spPr>
        <p:txBody>
          <a:bodyPr wrap="square" lIns="0" tIns="0" rIns="0" bIns="0" rtlCol="0" anchor="t"/>
          <a:lstStyle/>
          <a:p>
            <a:pPr algn="l" indent="0" marL="0">
              <a:buNone/>
            </a:pPr>
            <a:r>
              <a:rPr lang="en-US" sz="850" b="1" dirty="0">
                <a:solidFill>
                  <a:srgbClr val="222222"/>
                </a:solidFill>
                <a:latin typeface="Meiryo" pitchFamily="34" charset="0"/>
                <a:ea typeface="Meiryo" pitchFamily="34" charset="-122"/>
                <a:cs typeface="Meiryo" pitchFamily="34" charset="-120"/>
              </a:rPr>
              <a:t>お打ち合わせで伺った既存の28卒コンテンツ</a:t>
            </a:r>
            <a:endParaRPr lang="en-US" sz="850" dirty="0"/>
          </a:p>
        </p:txBody>
      </p:sp>
      <p:sp>
        <p:nvSpPr>
          <p:cNvPr id="12" name="Text 8"/>
          <p:cNvSpPr txBox="1"/>
          <p:nvPr/>
        </p:nvSpPr>
        <p:spPr>
          <a:xfrm>
            <a:off x="5577840" y="1828800"/>
            <a:ext cx="2834640" cy="1325880"/>
          </a:xfrm>
          <a:prstGeom prst="rect">
            <a:avLst/>
          </a:prstGeom>
          <a:noFill/>
          <a:ln/>
        </p:spPr>
        <p:txBody>
          <a:bodyPr wrap="square" lIns="0" tIns="0" rIns="0" bIns="0" rtlCol="0" anchor="t"/>
          <a:lstStyle/>
          <a:p>
            <a:pPr marL="127000" indent="-127000">
              <a:spcAft>
                <a:spcPts val="300"/>
              </a:spcAft>
              <a:buSzPct val="100000"/>
              <a:buChar char="■"/>
            </a:pPr>
            <a:r>
              <a:rPr lang="en-US" sz="700" dirty="0">
                <a:solidFill>
                  <a:srgbClr val="666666"/>
                </a:solidFill>
                <a:latin typeface="Meiryo" pitchFamily="34" charset="0"/>
                <a:ea typeface="Meiryo" pitchFamily="34" charset="-122"/>
                <a:cs typeface="Meiryo" pitchFamily="34" charset="-120"/>
              </a:rPr>
              <a:t>選抜型 1day（9/17、9:30〜19:30、12名程度、面接あり）：建築学生も参加。文系は少なめ</a:t>
            </a:r>
            <a:endParaRPr lang="en-US" sz="700" dirty="0"/>
          </a:p>
          <a:p>
            <a:pPr marL="127000" indent="-127000">
              <a:spcAft>
                <a:spcPts val="300"/>
              </a:spcAft>
              <a:buSzPct val="100000"/>
              <a:buChar char="■"/>
            </a:pPr>
            <a:r>
              <a:rPr lang="en-US" sz="700" dirty="0">
                <a:solidFill>
                  <a:srgbClr val="666666"/>
                </a:solidFill>
                <a:latin typeface="Meiryo" pitchFamily="34" charset="0"/>
                <a:ea typeface="Meiryo" pitchFamily="34" charset="-122"/>
                <a:cs typeface="Meiryo" pitchFamily="34" charset="-120"/>
              </a:rPr>
              <a:t>建築学生向け 選抜型（実施済み）：母集団形成に課題なし</a:t>
            </a:r>
            <a:endParaRPr lang="en-US" sz="700" dirty="0"/>
          </a:p>
          <a:p>
            <a:pPr marL="127000" indent="-127000">
              <a:spcAft>
                <a:spcPts val="300"/>
              </a:spcAft>
              <a:buSzPct val="100000"/>
              <a:buChar char="■"/>
            </a:pPr>
            <a:r>
              <a:rPr lang="en-US" sz="700" dirty="0">
                <a:solidFill>
                  <a:srgbClr val="666666"/>
                </a:solidFill>
                <a:latin typeface="Meiryo" pitchFamily="34" charset="0"/>
                <a:ea typeface="Meiryo" pitchFamily="34" charset="-122"/>
                <a:cs typeface="Meiryo" pitchFamily="34" charset="-120"/>
              </a:rPr>
              <a:t>都市創造ワーク（10/1、半日、20名程度）：まちづくり志向の学生が集まる想定</a:t>
            </a:r>
            <a:endParaRPr lang="en-US" sz="700" dirty="0"/>
          </a:p>
          <a:p>
            <a:pPr marL="127000" indent="-127000">
              <a:spcAft>
                <a:spcPts val="300"/>
              </a:spcAft>
              <a:buSzPct val="100000"/>
              <a:buChar char="■"/>
            </a:pPr>
            <a:r>
              <a:rPr lang="en-US" sz="700" dirty="0">
                <a:solidFill>
                  <a:srgbClr val="666666"/>
                </a:solidFill>
                <a:latin typeface="Meiryo" pitchFamily="34" charset="0"/>
                <a:ea typeface="Meiryo" pitchFamily="34" charset="-122"/>
                <a:cs typeface="Meiryo" pitchFamily="34" charset="-120"/>
              </a:rPr>
              <a:t>オープン型（実施済み、12名程度）：迷っている学生は集まったが、暮らしに辿り着いていない</a:t>
            </a:r>
            <a:endParaRPr lang="en-US" sz="700" dirty="0"/>
          </a:p>
        </p:txBody>
      </p:sp>
      <p:sp>
        <p:nvSpPr>
          <p:cNvPr id="13" name="Shape 9"/>
          <p:cNvSpPr/>
          <p:nvPr/>
        </p:nvSpPr>
        <p:spPr>
          <a:xfrm>
            <a:off x="5394960" y="3337560"/>
            <a:ext cx="3200400" cy="1371600"/>
          </a:xfrm>
          <a:prstGeom prst="rect">
            <a:avLst/>
          </a:prstGeom>
          <a:solidFill>
            <a:srgbClr val="FFFFFF"/>
          </a:solidFill>
          <a:ln w="12700">
            <a:solidFill>
              <a:srgbClr val="FFFFFF"/>
            </a:solidFill>
            <a:prstDash val="solid"/>
          </a:ln>
        </p:spPr>
      </p:sp>
      <p:sp>
        <p:nvSpPr>
          <p:cNvPr id="14" name="Shape 10"/>
          <p:cNvSpPr/>
          <p:nvPr/>
        </p:nvSpPr>
        <p:spPr>
          <a:xfrm>
            <a:off x="5394960" y="3337560"/>
            <a:ext cx="3200400" cy="41148"/>
          </a:xfrm>
          <a:prstGeom prst="rect">
            <a:avLst/>
          </a:prstGeom>
          <a:solidFill>
            <a:srgbClr val="DDDCD4"/>
          </a:solidFill>
          <a:ln w="12700">
            <a:solidFill>
              <a:srgbClr val="DDDCD4"/>
            </a:solidFill>
            <a:prstDash val="solid"/>
          </a:ln>
        </p:spPr>
      </p:sp>
      <p:sp>
        <p:nvSpPr>
          <p:cNvPr id="15" name="Text 11"/>
          <p:cNvSpPr txBox="1"/>
          <p:nvPr/>
        </p:nvSpPr>
        <p:spPr>
          <a:xfrm>
            <a:off x="5577840" y="3456432"/>
            <a:ext cx="2834640" cy="228600"/>
          </a:xfrm>
          <a:prstGeom prst="rect">
            <a:avLst/>
          </a:prstGeom>
          <a:noFill/>
          <a:ln/>
        </p:spPr>
        <p:txBody>
          <a:bodyPr wrap="square" lIns="0" tIns="0" rIns="0" bIns="0" rtlCol="0" anchor="t"/>
          <a:lstStyle/>
          <a:p>
            <a:pPr algn="l" indent="0" marL="0">
              <a:buNone/>
            </a:pPr>
            <a:r>
              <a:rPr lang="en-US" sz="850" b="1" dirty="0">
                <a:solidFill>
                  <a:srgbClr val="222222"/>
                </a:solidFill>
                <a:latin typeface="Meiryo" pitchFamily="34" charset="0"/>
                <a:ea typeface="Meiryo" pitchFamily="34" charset="-122"/>
                <a:cs typeface="Meiryo" pitchFamily="34" charset="-120"/>
              </a:rPr>
              <a:t>Social Act Career について</a:t>
            </a:r>
            <a:endParaRPr lang="en-US" sz="850" dirty="0"/>
          </a:p>
        </p:txBody>
      </p:sp>
      <p:sp>
        <p:nvSpPr>
          <p:cNvPr id="16" name="Text 12"/>
          <p:cNvSpPr txBox="1"/>
          <p:nvPr/>
        </p:nvSpPr>
        <p:spPr>
          <a:xfrm>
            <a:off x="5577840" y="3703320"/>
            <a:ext cx="2834640" cy="960120"/>
          </a:xfrm>
          <a:prstGeom prst="rect">
            <a:avLst/>
          </a:prstGeom>
          <a:noFill/>
          <a:ln/>
        </p:spPr>
        <p:txBody>
          <a:bodyPr wrap="square" lIns="0" tIns="0" rIns="0" bIns="0" rtlCol="0" anchor="t"/>
          <a:lstStyle/>
          <a:p>
            <a:pPr algn="l" indent="0" marL="0">
              <a:lnSpc>
                <a:spcPct val="130000"/>
              </a:lnSpc>
              <a:buNone/>
            </a:pPr>
            <a:r>
              <a:rPr lang="en-US" sz="700" dirty="0">
                <a:solidFill>
                  <a:srgbClr val="666666"/>
                </a:solidFill>
                <a:latin typeface="Meiryo" pitchFamily="34" charset="0"/>
                <a:ea typeface="Meiryo" pitchFamily="34" charset="-122"/>
                <a:cs typeface="Meiryo" pitchFamily="34" charset="-120"/>
              </a:rPr>
              <a:t>学生団体で活動する学生、社会課題・ソーシャルに関心のある学生を対象にしたキャリア支援。採用だけでなく、選考の過程で学生が成長する構図と、学生のチャレンジの機会を増やすことを目指しています。</a:t>
            </a:r>
            <a:endParaRPr lang="en-US" sz="700" dirty="0"/>
          </a:p>
          <a:p>
            <a:pPr algn="l" indent="0" marL="0">
              <a:lnSpc>
                <a:spcPct val="130000"/>
              </a:lnSpc>
              <a:buNone/>
            </a:pPr>
            <a:r>
              <a:rPr lang="en-US" sz="700" dirty="0">
                <a:solidFill>
                  <a:srgbClr val="666666"/>
                </a:solidFill>
                <a:latin typeface="Meiryo" pitchFamily="34" charset="0"/>
                <a:ea typeface="Meiryo" pitchFamily="34" charset="-122"/>
                <a:cs typeface="Meiryo" pitchFamily="34" charset="-120"/>
              </a:rPr>
              <a:t>担当：新谷いづみ（株式会社The Peace Front 代表）／清水（2026年5月より参画）</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C2C2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611880" y="1234440"/>
            <a:ext cx="1920240" cy="1920240"/>
          </a:xfrm>
          <a:prstGeom prst="rect">
            <a:avLst/>
          </a:prstGeom>
        </p:spPr>
      </p:pic>
      <p:sp>
        <p:nvSpPr>
          <p:cNvPr id="3" name="Text 0"/>
          <p:cNvSpPr txBox="1"/>
          <p:nvPr/>
        </p:nvSpPr>
        <p:spPr>
          <a:xfrm>
            <a:off x="914400" y="3337560"/>
            <a:ext cx="731520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Meiryo" pitchFamily="34" charset="0"/>
                <a:ea typeface="Meiryo" pitchFamily="34" charset="-122"/>
                <a:cs typeface="Meiryo" pitchFamily="34" charset="-120"/>
              </a:rPr>
              <a:t>リノベル様の「会うまで」を、ご一緒させてください。</a:t>
            </a:r>
            <a:endParaRPr lang="en-US" sz="1400" dirty="0"/>
          </a:p>
        </p:txBody>
      </p:sp>
      <p:sp>
        <p:nvSpPr>
          <p:cNvPr id="4" name="Text 1"/>
          <p:cNvSpPr txBox="1"/>
          <p:nvPr/>
        </p:nvSpPr>
        <p:spPr>
          <a:xfrm>
            <a:off x="914400" y="3794760"/>
            <a:ext cx="7315200" cy="274320"/>
          </a:xfrm>
          <a:prstGeom prst="rect">
            <a:avLst/>
          </a:prstGeom>
          <a:noFill/>
          <a:ln/>
        </p:spPr>
        <p:txBody>
          <a:bodyPr wrap="square" lIns="0" tIns="0" rIns="0" bIns="0" rtlCol="0" anchor="t"/>
          <a:lstStyle/>
          <a:p>
            <a:pPr algn="ctr" indent="0" marL="0">
              <a:buNone/>
            </a:pPr>
            <a:r>
              <a:rPr lang="en-US" sz="850" dirty="0">
                <a:solidFill>
                  <a:srgbClr val="BBBBBB"/>
                </a:solidFill>
                <a:latin typeface="Meiryo" pitchFamily="34" charset="0"/>
                <a:ea typeface="Meiryo" pitchFamily="34" charset="-122"/>
                <a:cs typeface="Meiryo" pitchFamily="34" charset="-120"/>
              </a:rPr>
              <a:t>Social Act Career／株式会社The Peace Front　代表 新谷いづみ｜2026年9月</a:t>
            </a:r>
            <a:endParaRPr lang="en-US" sz="850" dirty="0"/>
          </a:p>
        </p:txBody>
      </p:sp>
      <p:sp>
        <p:nvSpPr>
          <p:cNvPr id="5" name="Text 2"/>
          <p:cNvSpPr txBox="1"/>
          <p:nvPr/>
        </p:nvSpPr>
        <p:spPr>
          <a:xfrm>
            <a:off x="8503920" y="4846320"/>
            <a:ext cx="365760" cy="182880"/>
          </a:xfrm>
          <a:prstGeom prst="rect">
            <a:avLst/>
          </a:prstGeom>
          <a:noFill/>
          <a:ln/>
        </p:spPr>
        <p:txBody>
          <a:bodyPr wrap="square" lIns="0" tIns="0" rIns="0" bIns="0" rtlCol="0" anchor="t"/>
          <a:lstStyle/>
          <a:p>
            <a:pPr algn="r" indent="0" marL="0">
              <a:buNone/>
            </a:pPr>
            <a:r>
              <a:rPr lang="en-US" sz="750" dirty="0">
                <a:solidFill>
                  <a:srgbClr val="FFFFFF"/>
                </a:solidFill>
                <a:latin typeface="Meiryo" pitchFamily="34" charset="0"/>
                <a:ea typeface="Meiryo" pitchFamily="34" charset="-122"/>
                <a:cs typeface="Meiryo" pitchFamily="34" charset="-120"/>
              </a:rPr>
              <a:t>16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2026-09-10T09:25:55Z</dcterms:created>
  <dcterms:modified xsi:type="dcterms:W3CDTF">2026-09-10T09:25:55Z</dcterms:modified>
</cp:coreProperties>
</file>